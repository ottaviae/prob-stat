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5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4" r:id="rId1"/>
    <p:sldMasterId id="2147483916" r:id="rId2"/>
    <p:sldMasterId id="2147483929" r:id="rId3"/>
    <p:sldMasterId id="2147486179" r:id="rId4"/>
    <p:sldMasterId id="2147486229" r:id="rId5"/>
    <p:sldMasterId id="2147487638" r:id="rId6"/>
  </p:sldMasterIdLst>
  <p:notesMasterIdLst>
    <p:notesMasterId r:id="rId43"/>
  </p:notesMasterIdLst>
  <p:sldIdLst>
    <p:sldId id="652" r:id="rId7"/>
    <p:sldId id="704" r:id="rId8"/>
    <p:sldId id="729" r:id="rId9"/>
    <p:sldId id="763" r:id="rId10"/>
    <p:sldId id="764" r:id="rId11"/>
    <p:sldId id="730" r:id="rId12"/>
    <p:sldId id="731" r:id="rId13"/>
    <p:sldId id="705" r:id="rId14"/>
    <p:sldId id="707" r:id="rId15"/>
    <p:sldId id="708" r:id="rId16"/>
    <p:sldId id="695" r:id="rId17"/>
    <p:sldId id="712" r:id="rId18"/>
    <p:sldId id="765" r:id="rId19"/>
    <p:sldId id="743" r:id="rId20"/>
    <p:sldId id="744" r:id="rId21"/>
    <p:sldId id="749" r:id="rId22"/>
    <p:sldId id="496" r:id="rId23"/>
    <p:sldId id="766" r:id="rId24"/>
    <p:sldId id="767" r:id="rId25"/>
    <p:sldId id="762" r:id="rId26"/>
    <p:sldId id="759" r:id="rId27"/>
    <p:sldId id="688" r:id="rId28"/>
    <p:sldId id="753" r:id="rId29"/>
    <p:sldId id="687" r:id="rId30"/>
    <p:sldId id="755" r:id="rId31"/>
    <p:sldId id="756" r:id="rId32"/>
    <p:sldId id="660" r:id="rId33"/>
    <p:sldId id="760" r:id="rId34"/>
    <p:sldId id="768" r:id="rId35"/>
    <p:sldId id="761" r:id="rId36"/>
    <p:sldId id="669" r:id="rId37"/>
    <p:sldId id="769" r:id="rId38"/>
    <p:sldId id="670" r:id="rId39"/>
    <p:sldId id="770" r:id="rId40"/>
    <p:sldId id="771" r:id="rId41"/>
    <p:sldId id="631" r:id="rId42"/>
  </p:sldIdLst>
  <p:sldSz cx="9144000" cy="6858000" type="screen4x3"/>
  <p:notesSz cx="7099300" cy="10234613"/>
  <p:defaultTextStyle>
    <a:defPPr>
      <a:defRPr lang="it-IT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DDE1F7"/>
    <a:srgbClr val="EEFD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napVertSplitter="1" vertBarState="minimized" horzBarState="maximized">
    <p:restoredLeft sz="15620"/>
    <p:restoredTop sz="94660"/>
  </p:normalViewPr>
  <p:slideViewPr>
    <p:cSldViewPr>
      <p:cViewPr varScale="1">
        <p:scale>
          <a:sx n="86" d="100"/>
          <a:sy n="86" d="100"/>
        </p:scale>
        <p:origin x="1819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44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tableStyles" Target="tableStyles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theme" Target="theme/theme1.xml"/><Relationship Id="rId20" Type="http://schemas.openxmlformats.org/officeDocument/2006/relationships/slide" Target="slides/slide14.xml"/><Relationship Id="rId41" Type="http://schemas.openxmlformats.org/officeDocument/2006/relationships/slide" Target="slides/slide3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Relationship Id="rId5" Type="http://schemas.openxmlformats.org/officeDocument/2006/relationships/image" Target="../media/image37.wmf"/><Relationship Id="rId4" Type="http://schemas.openxmlformats.org/officeDocument/2006/relationships/image" Target="../media/image36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259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noProof="0"/>
              <a:t>Fare clic per modificare gli stili del testo dello schema</a:t>
            </a:r>
          </a:p>
          <a:p>
            <a:pPr lvl="1"/>
            <a:r>
              <a:rPr lang="it-IT" noProof="0"/>
              <a:t>Secondo livello</a:t>
            </a:r>
          </a:p>
          <a:p>
            <a:pPr lvl="2"/>
            <a:r>
              <a:rPr lang="it-IT" noProof="0"/>
              <a:t>Terzo livello</a:t>
            </a:r>
          </a:p>
          <a:p>
            <a:pPr lvl="3"/>
            <a:r>
              <a:rPr lang="it-IT" noProof="0"/>
              <a:t>Quarto livello</a:t>
            </a:r>
          </a:p>
          <a:p>
            <a:pPr lvl="4"/>
            <a:r>
              <a:rPr lang="it-IT" noProof="0"/>
              <a:t>Quinto livello</a:t>
            </a:r>
          </a:p>
        </p:txBody>
      </p:sp>
      <p:sp>
        <p:nvSpPr>
          <p:cNvPr id="399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99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pPr>
              <a:defRPr/>
            </a:pPr>
            <a:fld id="{D3F232C2-4805-4C63-BE6F-C5592EC81951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7"/>
          <p:cNvSpPr txBox="1">
            <a:spLocks noGrp="1" noChangeArrowheads="1"/>
          </p:cNvSpPr>
          <p:nvPr/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84" tIns="47442" rIns="94884" bIns="47442" anchor="b"/>
          <a:lstStyle/>
          <a:p>
            <a:pPr algn="r" defTabSz="946150" eaLnBrk="1" hangingPunct="1"/>
            <a:fld id="{9775EDF2-8C50-4B91-87A8-2A75B2FF2A51}" type="slidenum">
              <a:rPr lang="it-IT" altLang="it-IT" sz="1300">
                <a:solidFill>
                  <a:srgbClr val="000000"/>
                </a:solidFill>
                <a:latin typeface="Times New Roman" pitchFamily="18" charset="0"/>
              </a:rPr>
              <a:pPr algn="r" defTabSz="946150" eaLnBrk="1" hangingPunct="1"/>
              <a:t>24</a:t>
            </a:fld>
            <a:endParaRPr lang="it-IT" altLang="it-IT" sz="13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62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2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08050"/>
            <a:fld id="{63EB78AF-73F2-4999-A5FC-FF32419D27D7}" type="slidenum">
              <a:rPr lang="it-IT" altLang="it-IT" sz="1200" smtClean="0">
                <a:solidFill>
                  <a:srgbClr val="000000"/>
                </a:solidFill>
                <a:latin typeface="Times New Roman" pitchFamily="18" charset="0"/>
                <a:cs typeface="Arial" charset="0"/>
              </a:rPr>
              <a:pPr defTabSz="908050"/>
              <a:t>27</a:t>
            </a:fld>
            <a:endParaRPr lang="it-IT" altLang="it-IT" sz="1200">
              <a:solidFill>
                <a:srgbClr val="000000"/>
              </a:solidFill>
              <a:latin typeface="Times New Roman" pitchFamily="18" charset="0"/>
              <a:cs typeface="Arial" charset="0"/>
            </a:endParaRPr>
          </a:p>
        </p:txBody>
      </p:sp>
      <p:sp>
        <p:nvSpPr>
          <p:cNvPr id="263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41363"/>
            <a:ext cx="4933950" cy="3700462"/>
          </a:xfrm>
          <a:ln/>
        </p:spPr>
      </p:sp>
      <p:sp>
        <p:nvSpPr>
          <p:cNvPr id="263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it-IT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08050"/>
            <a:fld id="{63EB78AF-73F2-4999-A5FC-FF32419D27D7}" type="slidenum">
              <a:rPr lang="it-IT" altLang="it-IT" sz="1200" smtClean="0">
                <a:solidFill>
                  <a:srgbClr val="000000"/>
                </a:solidFill>
                <a:latin typeface="Times New Roman" pitchFamily="18" charset="0"/>
                <a:cs typeface="Arial" charset="0"/>
              </a:rPr>
              <a:pPr defTabSz="908050"/>
              <a:t>28</a:t>
            </a:fld>
            <a:endParaRPr lang="it-IT" altLang="it-IT" sz="1200">
              <a:solidFill>
                <a:srgbClr val="000000"/>
              </a:solidFill>
              <a:latin typeface="Times New Roman" pitchFamily="18" charset="0"/>
              <a:cs typeface="Arial" charset="0"/>
            </a:endParaRPr>
          </a:p>
        </p:txBody>
      </p:sp>
      <p:sp>
        <p:nvSpPr>
          <p:cNvPr id="263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41363"/>
            <a:ext cx="4933950" cy="3700462"/>
          </a:xfrm>
          <a:ln/>
        </p:spPr>
      </p:sp>
      <p:sp>
        <p:nvSpPr>
          <p:cNvPr id="263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41866762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08050"/>
            <a:fld id="{63EB78AF-73F2-4999-A5FC-FF32419D27D7}" type="slidenum">
              <a:rPr lang="it-IT" altLang="it-IT" sz="1200" smtClean="0">
                <a:solidFill>
                  <a:srgbClr val="000000"/>
                </a:solidFill>
                <a:latin typeface="Times New Roman" pitchFamily="18" charset="0"/>
                <a:cs typeface="Arial" charset="0"/>
              </a:rPr>
              <a:pPr defTabSz="908050"/>
              <a:t>29</a:t>
            </a:fld>
            <a:endParaRPr lang="it-IT" altLang="it-IT" sz="1200">
              <a:solidFill>
                <a:srgbClr val="000000"/>
              </a:solidFill>
              <a:latin typeface="Times New Roman" pitchFamily="18" charset="0"/>
              <a:cs typeface="Arial" charset="0"/>
            </a:endParaRPr>
          </a:p>
        </p:txBody>
      </p:sp>
      <p:sp>
        <p:nvSpPr>
          <p:cNvPr id="263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41363"/>
            <a:ext cx="4933950" cy="3700462"/>
          </a:xfrm>
          <a:ln/>
        </p:spPr>
      </p:sp>
      <p:sp>
        <p:nvSpPr>
          <p:cNvPr id="263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41367008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08050"/>
            <a:fld id="{63EB78AF-73F2-4999-A5FC-FF32419D27D7}" type="slidenum">
              <a:rPr lang="it-IT" altLang="it-IT" sz="1200" smtClean="0">
                <a:solidFill>
                  <a:srgbClr val="000000"/>
                </a:solidFill>
                <a:latin typeface="Times New Roman" pitchFamily="18" charset="0"/>
                <a:cs typeface="Arial" charset="0"/>
              </a:rPr>
              <a:pPr defTabSz="908050"/>
              <a:t>30</a:t>
            </a:fld>
            <a:endParaRPr lang="it-IT" altLang="it-IT" sz="1200">
              <a:solidFill>
                <a:srgbClr val="000000"/>
              </a:solidFill>
              <a:latin typeface="Times New Roman" pitchFamily="18" charset="0"/>
              <a:cs typeface="Arial" charset="0"/>
            </a:endParaRPr>
          </a:p>
        </p:txBody>
      </p:sp>
      <p:sp>
        <p:nvSpPr>
          <p:cNvPr id="263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41363"/>
            <a:ext cx="4933950" cy="3700462"/>
          </a:xfrm>
          <a:ln/>
        </p:spPr>
      </p:sp>
      <p:sp>
        <p:nvSpPr>
          <p:cNvPr id="263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5142174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82F8AA-CAE8-4889-BD2F-5488B0CFDA5E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DAAFD4-3AFA-44A8-927F-B14AAD5069E0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0B1B62-583E-4526-B83D-7B5F8C0ACC7B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7145CC-C400-40BB-9C47-3444AB7A00A5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95BA2E-336A-41DA-B00C-0BCF325CFE27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35BB3A-CAB1-4FBE-A351-B5097702D6DA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0B4361-A5EF-475F-8062-2A37C035BF28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0C2D93-860C-436A-AD57-D7C29AFB6CD3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564C0D-6F81-457F-8FA9-AB7BC52D1504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079EA4-4B61-45A8-A1ED-1144A62F5F41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B90319-1159-4CDE-BC22-E503E59EF3D7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92334177-A0E2-4BD5-A0B1-E51C6408BF24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70D4DC44-5CE1-476C-88E1-19A1716BE640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FDC4930E-149C-44F9-9422-4C3C29F4EEF7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DCC93009-B117-47E4-9CC9-526E380E154B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3583EF93-FC59-4DCD-97FB-ED2129732CC5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F4EC596D-141E-41C5-99E7-D988DB3BD1E7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11949E86-A956-4CA7-B009-CD2D1748340A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8AC5303E-FCB2-4C48-A86A-ABDE37956811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3FCF374B-1526-42F0-9D91-39789BF5B410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C085A6DA-C952-489B-92D3-7D502AF4BC16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2183BACB-4560-47D7-BB85-77FDFE7171D8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543CE68B-1626-40DD-9419-FB0DEFB2AFE9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6E687BD7-B643-4C16-AF4A-28C7858CE5AB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5C0CF2CE-3719-4822-939C-A8DDEE8FAB7E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A5E0A877-E0DC-4D27-8086-1236EB2F21BC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3A0E1660-0860-465F-92CD-A90C0C79CF54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94E8F6CF-8CE7-4D01-9C68-703184F26C33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5629D129-A2AA-42CE-B15C-13952AB4A2DC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FFC8BB2C-413E-418B-8281-F281BA573C84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6A908FFA-B919-4658-B8BA-B818A5B95C1E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39C18CEE-0F1D-46B8-8C8C-E30F59F93E1C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C68D6B2F-CF29-45E8-A780-3A7EB189C210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E2416085-98C5-41B2-997B-16B107CC9D10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7C6432-6944-4695-BB54-C5ED695A47AB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701687-1408-4478-B46A-8EC90FE33BFA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2EE528-2A72-472A-B729-D7995FE396C6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3CE7B0-3536-455B-A2F1-1099BA664817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93BD78-B299-4B0A-9F49-E21BFE2BEC37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93C002-594F-4240-B8BF-1515BAD33295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5CD8D4-8143-4F47-A9A9-B083268C628F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97B916-835E-4356-ABAE-A5D7ADD77654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6D1C3B-2F36-4E61-9669-1AC5B76D57AB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673D6D-6627-4A47-A351-59B3D79D594B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89C3CE-3063-475D-AF8C-7D4D7555075F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>
                <a:cs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>
                <a:cs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26D7D7DD-5D8E-4DFE-AE4A-C55191220095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>
                <a:cs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>
                <a:cs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7B647956-0755-4BC7-83F8-C3CB9BBB5BD3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>
                <a:cs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>
                <a:cs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4B9AEFA4-2CFD-4DFF-B808-08720E28B90A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>
                <a:cs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>
                <a:cs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DAE899B5-CEF3-4A8F-A109-3EADC3D25CBD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>
                <a:cs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>
                <a:cs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722F36EC-42C8-4A3A-B4C8-69DE0DF01181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>
                <a:cs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>
                <a:cs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D417C31C-AB0F-4C6A-9372-FF3E5C0543A2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>
                <a:cs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>
                <a:cs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AD40633E-02A6-4425-9614-EC9657C4B352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>
                <a:cs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>
                <a:cs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1D43688A-6DC4-4DC8-8176-F21D84880322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>
                <a:cs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>
                <a:cs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24EB5038-6CB2-436F-8955-22F6065926A1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>
                <a:cs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>
                <a:cs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5039440A-864A-4B1B-AB04-EB63F3244B64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>
                <a:cs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>
                <a:cs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FAA09E67-B807-45B4-8991-DF36EBEA7955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it-IT"/>
              <a:t>Analisi dei Dati e Statistica                         Prof. Giuseppe Espa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B3BAA9EB-6BD5-446B-A53A-F15C42D16626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it-IT"/>
              <a:t>Analisi dei Dati e Statistica                         Prof. Giuseppe Espa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6703A890-4E91-4AF2-ABA1-7DCC6D8536DB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it-IT"/>
              <a:t>Analisi dei Dati e Statistica                         Prof. Giuseppe Espa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0437A0C6-4809-4EB6-B3C3-5FEDF084CE31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it-IT"/>
              <a:t>Analisi dei Dati e Statistica                         Prof. Giuseppe Espa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3A38016E-6D6D-449A-9767-F9EFB524643C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it-IT"/>
              <a:t>Analisi dei Dati e Statistica                         Prof. Giuseppe Espa</a:t>
            </a:r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3D71DC69-B3F9-43DA-A77E-199C79A1E428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it-IT"/>
              <a:t>Analisi dei Dati e Statistica                         Prof. Giuseppe Espa</a:t>
            </a:r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A4884FC8-C5D3-424C-BB50-421DBD941F48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it-IT"/>
              <a:t>Analisi dei Dati e Statistica                         Prof. Giuseppe Espa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289CCBE9-FA23-435C-8FFD-4A8636D49631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it-IT"/>
              <a:t>Analisi dei Dati e Statistica                         Prof. Giuseppe Espa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87CDC4C6-3EA5-4ACD-BA00-FB57E78C2E83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it-IT"/>
              <a:t>Analisi dei Dati e Statistica                         Prof. Giuseppe Espa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CCBCEE70-9DF0-435A-9F27-02A574F53711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it-IT"/>
              <a:t>Analisi dei Dati e Statistica                         Prof. Giuseppe Espa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82E525F5-817D-4F00-8C7B-F6E8424AFECA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it-IT"/>
              <a:t>Analisi dei Dati e Statistica                         Prof. Giuseppe Espa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43AB40BE-FD93-4E60-85FA-26B54823B0BF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it-IT"/>
              <a:t>Analisi dei Dati e Statistica                         Prof. Giuseppe Espa</a:t>
            </a:r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05A8CD38-D37D-4D74-848B-6005F6AA3701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Titolo, diagramma o organigram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SmartArt 2"/>
          <p:cNvSpPr>
            <a:spLocks noGrp="1"/>
          </p:cNvSpPr>
          <p:nvPr>
            <p:ph type="dgm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it-IT" noProof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it-IT"/>
              <a:t>Analisi dei Dati e Statistica                         Prof. Giuseppe Espa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0FE5CE4E-54F0-4589-A69E-822007216D45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9.xml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8.xml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Relationship Id="rId14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2">
                <a:lumMod val="20000"/>
                <a:lumOff val="8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lo stile del titolo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gli stili del testo dello schema</a:t>
            </a:r>
          </a:p>
          <a:p>
            <a:pPr lvl="1"/>
            <a:r>
              <a:rPr lang="it-IT" altLang="it-IT"/>
              <a:t>Secondo livello</a:t>
            </a:r>
          </a:p>
          <a:p>
            <a:pPr lvl="2"/>
            <a:r>
              <a:rPr lang="it-IT" altLang="it-IT"/>
              <a:t>Terzo livello</a:t>
            </a:r>
          </a:p>
          <a:p>
            <a:pPr lvl="3"/>
            <a:r>
              <a:rPr lang="it-IT" altLang="it-IT"/>
              <a:t>Quarto livello</a:t>
            </a:r>
          </a:p>
          <a:p>
            <a:pPr lvl="4"/>
            <a:r>
              <a:rPr lang="it-IT" altLang="it-IT"/>
              <a:t>Quinto livello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 b="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70EF0459-D20B-4F13-AAA3-A87083540952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1865" r:id="rId1"/>
    <p:sldLayoutId id="2147491866" r:id="rId2"/>
    <p:sldLayoutId id="2147491867" r:id="rId3"/>
    <p:sldLayoutId id="2147491868" r:id="rId4"/>
    <p:sldLayoutId id="2147491869" r:id="rId5"/>
    <p:sldLayoutId id="2147491870" r:id="rId6"/>
    <p:sldLayoutId id="2147491871" r:id="rId7"/>
    <p:sldLayoutId id="2147491872" r:id="rId8"/>
    <p:sldLayoutId id="2147491873" r:id="rId9"/>
    <p:sldLayoutId id="2147491874" r:id="rId10"/>
    <p:sldLayoutId id="214749187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2">
                <a:lumMod val="20000"/>
                <a:lumOff val="8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lo stile del titolo dello schema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gli stili del testo dello schema</a:t>
            </a:r>
          </a:p>
          <a:p>
            <a:pPr lvl="1"/>
            <a:r>
              <a:rPr lang="it-IT" altLang="it-IT"/>
              <a:t>Secondo livello</a:t>
            </a:r>
          </a:p>
          <a:p>
            <a:pPr lvl="2"/>
            <a:r>
              <a:rPr lang="it-IT" altLang="it-IT"/>
              <a:t>Terzo livello</a:t>
            </a:r>
          </a:p>
          <a:p>
            <a:pPr lvl="3"/>
            <a:r>
              <a:rPr lang="it-IT" altLang="it-IT"/>
              <a:t>Quarto livello</a:t>
            </a:r>
          </a:p>
          <a:p>
            <a:pPr lvl="4"/>
            <a:r>
              <a:rPr lang="it-IT" altLang="it-IT"/>
              <a:t>Quinto livello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 b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1C297A5B-E464-4B73-B1AF-2328B2C5DD14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1953" r:id="rId1"/>
    <p:sldLayoutId id="2147491954" r:id="rId2"/>
    <p:sldLayoutId id="2147491955" r:id="rId3"/>
    <p:sldLayoutId id="2147491956" r:id="rId4"/>
    <p:sldLayoutId id="2147491957" r:id="rId5"/>
    <p:sldLayoutId id="2147491958" r:id="rId6"/>
    <p:sldLayoutId id="2147491959" r:id="rId7"/>
    <p:sldLayoutId id="2147491960" r:id="rId8"/>
    <p:sldLayoutId id="2147491961" r:id="rId9"/>
    <p:sldLayoutId id="2147491962" r:id="rId10"/>
    <p:sldLayoutId id="2147491963" r:id="rId11"/>
    <p:sldLayoutId id="2147491964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2">
                <a:lumMod val="20000"/>
                <a:lumOff val="8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lo stile del titolo dello schema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gli stili del testo dello schema</a:t>
            </a:r>
          </a:p>
          <a:p>
            <a:pPr lvl="1"/>
            <a:r>
              <a:rPr lang="it-IT" altLang="it-IT"/>
              <a:t>Secondo livello</a:t>
            </a:r>
          </a:p>
          <a:p>
            <a:pPr lvl="2"/>
            <a:r>
              <a:rPr lang="it-IT" altLang="it-IT"/>
              <a:t>Terzo livello</a:t>
            </a:r>
          </a:p>
          <a:p>
            <a:pPr lvl="3"/>
            <a:r>
              <a:rPr lang="it-IT" altLang="it-IT"/>
              <a:t>Quarto livello</a:t>
            </a:r>
          </a:p>
          <a:p>
            <a:pPr lvl="4"/>
            <a:r>
              <a:rPr lang="it-IT" altLang="it-IT"/>
              <a:t>Quinto livello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 b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EAC4C8F6-D92E-4661-81FE-10ACDF8CF899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1965" r:id="rId1"/>
    <p:sldLayoutId id="2147491966" r:id="rId2"/>
    <p:sldLayoutId id="2147491967" r:id="rId3"/>
    <p:sldLayoutId id="2147491968" r:id="rId4"/>
    <p:sldLayoutId id="2147491969" r:id="rId5"/>
    <p:sldLayoutId id="2147491970" r:id="rId6"/>
    <p:sldLayoutId id="2147491971" r:id="rId7"/>
    <p:sldLayoutId id="2147491972" r:id="rId8"/>
    <p:sldLayoutId id="2147491973" r:id="rId9"/>
    <p:sldLayoutId id="2147491974" r:id="rId10"/>
    <p:sldLayoutId id="214749197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2">
                <a:lumMod val="20000"/>
                <a:lumOff val="8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lo stile del titolo dello schema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gli stili del testo dello schema</a:t>
            </a:r>
          </a:p>
          <a:p>
            <a:pPr lvl="1"/>
            <a:r>
              <a:rPr lang="it-IT" altLang="it-IT"/>
              <a:t>Secondo livello</a:t>
            </a:r>
          </a:p>
          <a:p>
            <a:pPr lvl="2"/>
            <a:r>
              <a:rPr lang="it-IT" altLang="it-IT"/>
              <a:t>Terzo livello</a:t>
            </a:r>
          </a:p>
          <a:p>
            <a:pPr lvl="3"/>
            <a:r>
              <a:rPr lang="it-IT" altLang="it-IT"/>
              <a:t>Quarto livello</a:t>
            </a:r>
          </a:p>
          <a:p>
            <a:pPr lvl="4"/>
            <a:r>
              <a:rPr lang="it-IT" altLang="it-IT"/>
              <a:t>Quinto livello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 b="0"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0BD80F89-8E0C-4209-A04D-BC441EE4428D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1920" r:id="rId1"/>
    <p:sldLayoutId id="2147491921" r:id="rId2"/>
    <p:sldLayoutId id="2147491922" r:id="rId3"/>
    <p:sldLayoutId id="2147491923" r:id="rId4"/>
    <p:sldLayoutId id="2147491924" r:id="rId5"/>
    <p:sldLayoutId id="2147491925" r:id="rId6"/>
    <p:sldLayoutId id="2147491926" r:id="rId7"/>
    <p:sldLayoutId id="2147491927" r:id="rId8"/>
    <p:sldLayoutId id="2147491928" r:id="rId9"/>
    <p:sldLayoutId id="2147491929" r:id="rId10"/>
    <p:sldLayoutId id="214749193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2">
                <a:lumMod val="20000"/>
                <a:lumOff val="8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lo stile del titolo dello schema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gli stili del testo dello schema</a:t>
            </a:r>
          </a:p>
          <a:p>
            <a:pPr lvl="1"/>
            <a:r>
              <a:rPr lang="it-IT" altLang="it-IT"/>
              <a:t>Secondo livello</a:t>
            </a:r>
          </a:p>
          <a:p>
            <a:pPr lvl="2"/>
            <a:r>
              <a:rPr lang="it-IT" altLang="it-IT"/>
              <a:t>Terzo livello</a:t>
            </a:r>
          </a:p>
          <a:p>
            <a:pPr lvl="3"/>
            <a:r>
              <a:rPr lang="it-IT" altLang="it-IT"/>
              <a:t>Quarto livello</a:t>
            </a:r>
          </a:p>
          <a:p>
            <a:pPr lvl="4"/>
            <a:r>
              <a:rPr lang="it-IT" altLang="it-IT"/>
              <a:t>Quinto livello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 b="0">
                <a:solidFill>
                  <a:srgbClr val="000000"/>
                </a:solidFill>
                <a:latin typeface="+mn-lt"/>
                <a:cs typeface="Arial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solidFill>
                  <a:srgbClr val="000000"/>
                </a:solidFill>
                <a:latin typeface="+mn-lt"/>
                <a:cs typeface="Arial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BE1BEDD8-1EFE-4DBF-93A2-85A5C503BBDD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2047" r:id="rId1"/>
    <p:sldLayoutId id="2147492048" r:id="rId2"/>
    <p:sldLayoutId id="2147492049" r:id="rId3"/>
    <p:sldLayoutId id="2147492050" r:id="rId4"/>
    <p:sldLayoutId id="2147492051" r:id="rId5"/>
    <p:sldLayoutId id="2147492052" r:id="rId6"/>
    <p:sldLayoutId id="2147492053" r:id="rId7"/>
    <p:sldLayoutId id="2147492054" r:id="rId8"/>
    <p:sldLayoutId id="2147492055" r:id="rId9"/>
    <p:sldLayoutId id="2147492056" r:id="rId10"/>
    <p:sldLayoutId id="2147492057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2">
                <a:lumMod val="20000"/>
                <a:lumOff val="8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lo stile del titolo dello schema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gli stili del testo dello schema</a:t>
            </a:r>
          </a:p>
          <a:p>
            <a:pPr lvl="1"/>
            <a:r>
              <a:rPr lang="it-IT" altLang="it-IT"/>
              <a:t>Secondo livello</a:t>
            </a:r>
          </a:p>
          <a:p>
            <a:pPr lvl="2"/>
            <a:r>
              <a:rPr lang="it-IT" altLang="it-IT"/>
              <a:t>Terzo livello</a:t>
            </a:r>
          </a:p>
          <a:p>
            <a:pPr lvl="3"/>
            <a:r>
              <a:rPr lang="it-IT" altLang="it-IT"/>
              <a:t>Quarto livello</a:t>
            </a:r>
          </a:p>
          <a:p>
            <a:pPr lvl="4"/>
            <a:r>
              <a:rPr lang="it-IT" altLang="it-IT"/>
              <a:t>Quinto livello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 b="0">
                <a:solidFill>
                  <a:srgbClr val="000000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solidFill>
                  <a:srgbClr val="000000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r>
              <a:rPr lang="it-IT"/>
              <a:t>Analisi dei Dati e Statistica                         Prof. Giuseppe Espa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60A6DE00-8AE3-48AB-AD77-EA372848A7A4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2069" r:id="rId1"/>
    <p:sldLayoutId id="2147492070" r:id="rId2"/>
    <p:sldLayoutId id="2147492071" r:id="rId3"/>
    <p:sldLayoutId id="2147492072" r:id="rId4"/>
    <p:sldLayoutId id="2147492073" r:id="rId5"/>
    <p:sldLayoutId id="2147492074" r:id="rId6"/>
    <p:sldLayoutId id="2147492075" r:id="rId7"/>
    <p:sldLayoutId id="2147492076" r:id="rId8"/>
    <p:sldLayoutId id="2147492077" r:id="rId9"/>
    <p:sldLayoutId id="2147492078" r:id="rId10"/>
    <p:sldLayoutId id="2147492079" r:id="rId11"/>
    <p:sldLayoutId id="2147492080" r:id="rId12"/>
    <p:sldLayoutId id="2147492081" r:id="rId13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5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w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5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0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52.xml"/><Relationship Id="rId1" Type="http://schemas.openxmlformats.org/officeDocument/2006/relationships/vmlDrawing" Target="../drawings/vmlDrawing3.vml"/><Relationship Id="rId5" Type="http://schemas.openxmlformats.org/officeDocument/2006/relationships/hyperlink" Target="https://it.wikipedia.org/wiki/Paradosso_del_compleanno" TargetMode="External"/><Relationship Id="rId4" Type="http://schemas.openxmlformats.org/officeDocument/2006/relationships/image" Target="../media/image12.w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30.wmf"/><Relationship Id="rId2" Type="http://schemas.openxmlformats.org/officeDocument/2006/relationships/slideLayout" Target="../slideLayouts/slideLayout30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29.wmf"/><Relationship Id="rId4" Type="http://schemas.openxmlformats.org/officeDocument/2006/relationships/oleObject" Target="../embeddings/oleObject5.bin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8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13" Type="http://schemas.openxmlformats.org/officeDocument/2006/relationships/image" Target="../media/image37.wmf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34.wmf"/><Relationship Id="rId12" Type="http://schemas.openxmlformats.org/officeDocument/2006/relationships/oleObject" Target="../embeddings/oleObject11.bin"/><Relationship Id="rId2" Type="http://schemas.openxmlformats.org/officeDocument/2006/relationships/slideLayout" Target="../slideLayouts/slideLayout68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36.wmf"/><Relationship Id="rId5" Type="http://schemas.openxmlformats.org/officeDocument/2006/relationships/image" Target="../media/image33.wmf"/><Relationship Id="rId10" Type="http://schemas.openxmlformats.org/officeDocument/2006/relationships/oleObject" Target="../embeddings/oleObject10.bin"/><Relationship Id="rId4" Type="http://schemas.openxmlformats.org/officeDocument/2006/relationships/oleObject" Target="../embeddings/oleObject7.bin"/><Relationship Id="rId9" Type="http://schemas.openxmlformats.org/officeDocument/2006/relationships/image" Target="../media/image35.wmf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41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38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41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39.wm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1026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2322513"/>
            <a:ext cx="7772400" cy="2209800"/>
          </a:xfrm>
        </p:spPr>
        <p:txBody>
          <a:bodyPr/>
          <a:lstStyle/>
          <a:p>
            <a:pPr eaLnBrk="1" hangingPunct="1"/>
            <a:r>
              <a:rPr lang="it-IT" altLang="it-IT" sz="6000" dirty="0">
                <a:latin typeface="Tahoma" pitchFamily="34" charset="0"/>
                <a:cs typeface="Tahoma" pitchFamily="34" charset="0"/>
              </a:rPr>
              <a:t>Introduzione alla probabilità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1519C294-804B-4445-9143-9A691527C5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836712"/>
            <a:ext cx="7334250" cy="2162175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97BE458B-B377-424F-B389-6B2E05DE9DC8}"/>
              </a:ext>
            </a:extLst>
          </p:cNvPr>
          <p:cNvSpPr txBox="1"/>
          <p:nvPr/>
        </p:nvSpPr>
        <p:spPr>
          <a:xfrm>
            <a:off x="1331640" y="4147146"/>
            <a:ext cx="528606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Pagina 3 del libro di testo «Probabilità e modelli»</a:t>
            </a:r>
          </a:p>
          <a:p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(Laplace, 1812)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9B1AA51C-52F6-46C0-9263-9F7A996D286E}"/>
              </a:ext>
            </a:extLst>
          </p:cNvPr>
          <p:cNvSpPr txBox="1"/>
          <p:nvPr/>
        </p:nvSpPr>
        <p:spPr>
          <a:xfrm>
            <a:off x="1187624" y="5363924"/>
            <a:ext cx="5328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Pagina 24 del libro di testo «Probabilità e modelli»</a:t>
            </a:r>
            <a:r>
              <a:rPr lang="it-IT" dirty="0"/>
              <a:t> 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211D791D-6CA6-46BC-9028-641130A46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124744"/>
            <a:ext cx="7696200" cy="30575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821262F0-93A6-495B-99EB-3DBD033535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484784"/>
            <a:ext cx="7620000" cy="866775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17C07DCD-F1D1-46D5-AF17-788F2CEC3DE5}"/>
              </a:ext>
            </a:extLst>
          </p:cNvPr>
          <p:cNvSpPr txBox="1"/>
          <p:nvPr/>
        </p:nvSpPr>
        <p:spPr>
          <a:xfrm>
            <a:off x="1475656" y="880926"/>
            <a:ext cx="12198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/>
              <a:t>Esempio 1.7</a:t>
            </a:r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5ACB8BE1-5359-47AE-89A5-398BB18255A4}"/>
              </a:ext>
            </a:extLst>
          </p:cNvPr>
          <p:cNvSpPr/>
          <p:nvPr/>
        </p:nvSpPr>
        <p:spPr>
          <a:xfrm>
            <a:off x="611560" y="1484784"/>
            <a:ext cx="936104" cy="21602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69254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9B1AA51C-52F6-46C0-9263-9F7A996D286E}"/>
              </a:ext>
            </a:extLst>
          </p:cNvPr>
          <p:cNvSpPr txBox="1"/>
          <p:nvPr/>
        </p:nvSpPr>
        <p:spPr>
          <a:xfrm>
            <a:off x="755576" y="4653136"/>
            <a:ext cx="5328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Pagina 24 del libro di testo «Probabilità e modelli»</a:t>
            </a:r>
            <a:r>
              <a:rPr lang="it-IT" dirty="0"/>
              <a:t> 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6E4AA5B6-A436-4F93-8E49-56E02F59F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304925"/>
            <a:ext cx="7667625" cy="2124075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9C0E7C33-B791-4995-BAEF-4609C4714C8D}"/>
              </a:ext>
            </a:extLst>
          </p:cNvPr>
          <p:cNvSpPr txBox="1"/>
          <p:nvPr/>
        </p:nvSpPr>
        <p:spPr>
          <a:xfrm>
            <a:off x="1475656" y="880926"/>
            <a:ext cx="12198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/>
              <a:t>Esempio 1.7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82E80B64-CA67-45A9-9662-AA24A5535665}"/>
              </a:ext>
            </a:extLst>
          </p:cNvPr>
          <p:cNvSpPr/>
          <p:nvPr/>
        </p:nvSpPr>
        <p:spPr>
          <a:xfrm>
            <a:off x="539552" y="1304925"/>
            <a:ext cx="936104" cy="2518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69363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1490" name="Object 2"/>
          <p:cNvGraphicFramePr>
            <a:graphicFrameLocks noChangeAspect="1"/>
          </p:cNvGraphicFramePr>
          <p:nvPr/>
        </p:nvGraphicFramePr>
        <p:xfrm>
          <a:off x="3232944" y="4687019"/>
          <a:ext cx="2678112" cy="183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533" name="Equation" r:id="rId3" imgW="1143000" imgH="914400" progId="">
                  <p:embed/>
                </p:oleObj>
              </mc:Choice>
              <mc:Fallback>
                <p:oleObj name="Equation" r:id="rId3" imgW="1143000" imgH="914400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2944" y="4687019"/>
                        <a:ext cx="2678112" cy="1838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1491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966788" y="553169"/>
            <a:ext cx="7210425" cy="413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ettangolo 1">
            <a:extLst>
              <a:ext uri="{FF2B5EF4-FFF2-40B4-BE49-F238E27FC236}">
                <a16:creationId xmlns:a16="http://schemas.microsoft.com/office/drawing/2014/main" id="{DD58A46C-9189-4A2D-AEEC-B5507AA13598}"/>
              </a:ext>
            </a:extLst>
          </p:cNvPr>
          <p:cNvSpPr/>
          <p:nvPr/>
        </p:nvSpPr>
        <p:spPr>
          <a:xfrm>
            <a:off x="966788" y="553169"/>
            <a:ext cx="940916" cy="3555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1377D439-D63B-4EA5-ACA0-00AF96AD1A98}"/>
              </a:ext>
            </a:extLst>
          </p:cNvPr>
          <p:cNvSpPr txBox="1"/>
          <p:nvPr/>
        </p:nvSpPr>
        <p:spPr>
          <a:xfrm>
            <a:off x="741599" y="600943"/>
            <a:ext cx="12198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/>
              <a:t>Esempio 1.8</a:t>
            </a:r>
          </a:p>
        </p:txBody>
      </p:sp>
      <p:sp>
        <p:nvSpPr>
          <p:cNvPr id="4" name="Ovale 3">
            <a:extLst>
              <a:ext uri="{FF2B5EF4-FFF2-40B4-BE49-F238E27FC236}">
                <a16:creationId xmlns:a16="http://schemas.microsoft.com/office/drawing/2014/main" id="{3FBB349A-688B-454D-AD9E-6E9EE9D91A0E}"/>
              </a:ext>
            </a:extLst>
          </p:cNvPr>
          <p:cNvSpPr/>
          <p:nvPr/>
        </p:nvSpPr>
        <p:spPr>
          <a:xfrm>
            <a:off x="3635896" y="3212976"/>
            <a:ext cx="288032" cy="2160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Ovale 6">
            <a:extLst>
              <a:ext uri="{FF2B5EF4-FFF2-40B4-BE49-F238E27FC236}">
                <a16:creationId xmlns:a16="http://schemas.microsoft.com/office/drawing/2014/main" id="{3D4A4E17-633E-4FAC-BD64-3F189BDC4337}"/>
              </a:ext>
            </a:extLst>
          </p:cNvPr>
          <p:cNvSpPr/>
          <p:nvPr/>
        </p:nvSpPr>
        <p:spPr>
          <a:xfrm>
            <a:off x="6084168" y="3212976"/>
            <a:ext cx="288032" cy="2160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Freccia a destra 7">
            <a:extLst>
              <a:ext uri="{FF2B5EF4-FFF2-40B4-BE49-F238E27FC236}">
                <a16:creationId xmlns:a16="http://schemas.microsoft.com/office/drawing/2014/main" id="{1FDBE533-E1E8-4E85-AA38-7D5FF8CEEDC9}"/>
              </a:ext>
            </a:extLst>
          </p:cNvPr>
          <p:cNvSpPr/>
          <p:nvPr/>
        </p:nvSpPr>
        <p:spPr>
          <a:xfrm flipV="1">
            <a:off x="527581" y="1340768"/>
            <a:ext cx="261743" cy="18973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Freccia a destra 10">
            <a:extLst>
              <a:ext uri="{FF2B5EF4-FFF2-40B4-BE49-F238E27FC236}">
                <a16:creationId xmlns:a16="http://schemas.microsoft.com/office/drawing/2014/main" id="{8AF16041-CBC6-4320-8210-32E4013DEBEC}"/>
              </a:ext>
            </a:extLst>
          </p:cNvPr>
          <p:cNvSpPr/>
          <p:nvPr/>
        </p:nvSpPr>
        <p:spPr>
          <a:xfrm flipV="1">
            <a:off x="516413" y="2525226"/>
            <a:ext cx="261743" cy="18973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11267589-2155-4B87-A697-B8B39452AB14}"/>
              </a:ext>
            </a:extLst>
          </p:cNvPr>
          <p:cNvSpPr/>
          <p:nvPr/>
        </p:nvSpPr>
        <p:spPr>
          <a:xfrm>
            <a:off x="1437480" y="3212976"/>
            <a:ext cx="758256" cy="288032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6" name="Connettore 2 5"/>
          <p:cNvCxnSpPr/>
          <p:nvPr/>
        </p:nvCxnSpPr>
        <p:spPr>
          <a:xfrm>
            <a:off x="5911056" y="3441469"/>
            <a:ext cx="1829296" cy="20823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sellaDiTesto 12"/>
              <p:cNvSpPr txBox="1"/>
              <p:nvPr/>
            </p:nvSpPr>
            <p:spPr>
              <a:xfrm>
                <a:off x="966787" y="5385279"/>
                <a:ext cx="7694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52(51)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3" name="CasellaDiTesto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787" y="5385279"/>
                <a:ext cx="769441" cy="276999"/>
              </a:xfrm>
              <a:prstGeom prst="rect">
                <a:avLst/>
              </a:prstGeom>
              <a:blipFill>
                <a:blip r:embed="rId6"/>
                <a:stretch>
                  <a:fillRect l="-6349" r="-10317" b="-3478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Connettore 2 15"/>
          <p:cNvCxnSpPr/>
          <p:nvPr/>
        </p:nvCxnSpPr>
        <p:spPr>
          <a:xfrm flipH="1">
            <a:off x="1340024" y="3581400"/>
            <a:ext cx="2232248" cy="18722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sellaDiTesto 16"/>
              <p:cNvSpPr txBox="1"/>
              <p:nvPr/>
            </p:nvSpPr>
            <p:spPr>
              <a:xfrm>
                <a:off x="7740352" y="5550027"/>
                <a:ext cx="7694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13(12)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7" name="CasellaDiTesto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0352" y="5550027"/>
                <a:ext cx="769441" cy="276999"/>
              </a:xfrm>
              <a:prstGeom prst="rect">
                <a:avLst/>
              </a:prstGeom>
              <a:blipFill>
                <a:blip r:embed="rId7"/>
                <a:stretch>
                  <a:fillRect l="-6349" r="-10317" b="-3478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4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2500" y="1390650"/>
            <a:ext cx="7239000" cy="407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9CE30B6F-17A4-4670-BED5-A98BC61BD073}"/>
              </a:ext>
            </a:extLst>
          </p:cNvPr>
          <p:cNvSpPr txBox="1"/>
          <p:nvPr/>
        </p:nvSpPr>
        <p:spPr>
          <a:xfrm>
            <a:off x="815190" y="1129940"/>
            <a:ext cx="1229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b="1" dirty="0"/>
              <a:t>Esempio 1.9</a:t>
            </a:r>
          </a:p>
        </p:txBody>
      </p:sp>
      <p:sp>
        <p:nvSpPr>
          <p:cNvPr id="2" name="Ovale 1">
            <a:extLst>
              <a:ext uri="{FF2B5EF4-FFF2-40B4-BE49-F238E27FC236}">
                <a16:creationId xmlns:a16="http://schemas.microsoft.com/office/drawing/2014/main" id="{02939BFF-487C-4922-ABCE-2673B23AC095}"/>
              </a:ext>
            </a:extLst>
          </p:cNvPr>
          <p:cNvSpPr/>
          <p:nvPr/>
        </p:nvSpPr>
        <p:spPr>
          <a:xfrm>
            <a:off x="952500" y="1484784"/>
            <a:ext cx="955204" cy="21364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Ovale 3"/>
          <p:cNvSpPr/>
          <p:nvPr/>
        </p:nvSpPr>
        <p:spPr>
          <a:xfrm>
            <a:off x="2339752" y="2564904"/>
            <a:ext cx="576064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1026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2155825"/>
            <a:ext cx="7772400" cy="1439863"/>
          </a:xfrm>
        </p:spPr>
        <p:txBody>
          <a:bodyPr/>
          <a:lstStyle/>
          <a:p>
            <a:pPr eaLnBrk="1" hangingPunct="1"/>
            <a:r>
              <a:rPr lang="it-IT" altLang="it-IT" dirty="0">
                <a:latin typeface="Tahoma" pitchFamily="34" charset="0"/>
                <a:cs typeface="Tahoma" pitchFamily="34" charset="0"/>
              </a:rPr>
              <a:t>Il “problema dei compleanni”</a:t>
            </a:r>
          </a:p>
        </p:txBody>
      </p:sp>
      <p:sp>
        <p:nvSpPr>
          <p:cNvPr id="215043" name="CasellaDiTesto 4"/>
          <p:cNvSpPr txBox="1">
            <a:spLocks noChangeArrowheads="1"/>
          </p:cNvSpPr>
          <p:nvPr/>
        </p:nvSpPr>
        <p:spPr bwMode="auto">
          <a:xfrm>
            <a:off x="539750" y="3751263"/>
            <a:ext cx="8135938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it-IT" altLang="it-IT" sz="2400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Qual è la probabilità che in un gruppo di 30 persone, almeno due abbiano lo stesso compleanno?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2206D2C4-95A9-4421-99F5-AC5D456FC10C}"/>
              </a:ext>
            </a:extLst>
          </p:cNvPr>
          <p:cNvSpPr/>
          <p:nvPr/>
        </p:nvSpPr>
        <p:spPr>
          <a:xfrm>
            <a:off x="685800" y="5517232"/>
            <a:ext cx="76306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A pagina 24 del libro di testo «Probabilità e modelli» c’è la versione più generale con </a:t>
            </a:r>
            <a:r>
              <a:rPr lang="it-IT" i="1" dirty="0"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persone</a:t>
            </a:r>
            <a:r>
              <a:rPr lang="it-IT" dirty="0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1" name="Rectangle 1026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-26988"/>
            <a:ext cx="7772400" cy="1439863"/>
          </a:xfrm>
        </p:spPr>
        <p:txBody>
          <a:bodyPr/>
          <a:lstStyle/>
          <a:p>
            <a:pPr eaLnBrk="1" hangingPunct="1"/>
            <a:r>
              <a:rPr lang="it-IT" altLang="it-IT">
                <a:latin typeface="Tahoma" pitchFamily="34" charset="0"/>
                <a:cs typeface="Tahoma" pitchFamily="34" charset="0"/>
              </a:rPr>
              <a:t>Il “problema dei compleanni”</a:t>
            </a:r>
          </a:p>
        </p:txBody>
      </p:sp>
      <p:sp>
        <p:nvSpPr>
          <p:cNvPr id="9222" name="CasellaDiTesto 4"/>
          <p:cNvSpPr txBox="1">
            <a:spLocks noChangeArrowheads="1"/>
          </p:cNvSpPr>
          <p:nvPr/>
        </p:nvSpPr>
        <p:spPr bwMode="auto">
          <a:xfrm>
            <a:off x="539750" y="2144713"/>
            <a:ext cx="8135938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it-IT" altLang="it-IT" sz="2400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Qual è la probabilità che in un gruppo di 30 persone, </a:t>
            </a:r>
            <a:r>
              <a:rPr lang="it-IT" altLang="it-IT" sz="2400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nessuna</a:t>
            </a:r>
            <a:r>
              <a:rPr lang="it-IT" altLang="it-IT" sz="2400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 abbia lo stesso compleanno?</a:t>
            </a:r>
          </a:p>
        </p:txBody>
      </p:sp>
      <p:graphicFrame>
        <p:nvGraphicFramePr>
          <p:cNvPr id="9218" name="Object 1030"/>
          <p:cNvGraphicFramePr>
            <a:graphicFrameLocks noChangeAspect="1"/>
          </p:cNvGraphicFramePr>
          <p:nvPr/>
        </p:nvGraphicFramePr>
        <p:xfrm>
          <a:off x="1401763" y="4451350"/>
          <a:ext cx="6340475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5060" name="Equazione" r:id="rId3" imgW="3009900" imgH="469900" progId="">
                  <p:embed/>
                </p:oleObj>
              </mc:Choice>
              <mc:Fallback>
                <p:oleObj name="Equazione" r:id="rId3" imgW="3009900" imgH="469900" progId="">
                  <p:embed/>
                  <p:pic>
                    <p:nvPicPr>
                      <p:cNvPr id="9218" name="Object 10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1763" y="4451350"/>
                        <a:ext cx="6340475" cy="993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9" name="Object 1030"/>
          <p:cNvGraphicFramePr>
            <a:graphicFrameLocks noChangeAspect="1"/>
          </p:cNvGraphicFramePr>
          <p:nvPr/>
        </p:nvGraphicFramePr>
        <p:xfrm>
          <a:off x="2459038" y="3319463"/>
          <a:ext cx="4225925" cy="830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5061" name="Equation" r:id="rId5" imgW="2005729" imgH="393529" progId="">
                  <p:embed/>
                </p:oleObj>
              </mc:Choice>
              <mc:Fallback>
                <p:oleObj name="Equation" r:id="rId5" imgW="2005729" imgH="393529" progId="">
                  <p:embed/>
                  <p:pic>
                    <p:nvPicPr>
                      <p:cNvPr id="9219" name="Object 10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9038" y="3319463"/>
                        <a:ext cx="4225925" cy="830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1026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-26988"/>
            <a:ext cx="7772400" cy="1439863"/>
          </a:xfrm>
        </p:spPr>
        <p:txBody>
          <a:bodyPr/>
          <a:lstStyle/>
          <a:p>
            <a:pPr eaLnBrk="1" hangingPunct="1"/>
            <a:r>
              <a:rPr lang="it-IT" altLang="it-IT">
                <a:latin typeface="Tahoma" pitchFamily="34" charset="0"/>
                <a:cs typeface="Tahoma" pitchFamily="34" charset="0"/>
              </a:rPr>
              <a:t>Il “problema dei compleanni”</a:t>
            </a:r>
          </a:p>
        </p:txBody>
      </p:sp>
      <p:sp>
        <p:nvSpPr>
          <p:cNvPr id="10244" name="CasellaDiTesto 4"/>
          <p:cNvSpPr txBox="1">
            <a:spLocks noChangeArrowheads="1"/>
          </p:cNvSpPr>
          <p:nvPr/>
        </p:nvSpPr>
        <p:spPr bwMode="auto">
          <a:xfrm>
            <a:off x="539750" y="2144713"/>
            <a:ext cx="8135938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it-IT" altLang="it-IT" sz="2400" dirty="0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Qual è la probabilità che in un gruppo di 30 persone, almeno due abbiano lo stesso compleanno?</a:t>
            </a:r>
          </a:p>
        </p:txBody>
      </p:sp>
      <p:graphicFrame>
        <p:nvGraphicFramePr>
          <p:cNvPr id="10242" name="Object 1030"/>
          <p:cNvGraphicFramePr>
            <a:graphicFrameLocks noChangeAspect="1"/>
          </p:cNvGraphicFramePr>
          <p:nvPr/>
        </p:nvGraphicFramePr>
        <p:xfrm>
          <a:off x="1763713" y="3789363"/>
          <a:ext cx="6100762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6068" name="Equazione" r:id="rId3" imgW="2895600" imgH="431800" progId="">
                  <p:embed/>
                </p:oleObj>
              </mc:Choice>
              <mc:Fallback>
                <p:oleObj name="Equazione" r:id="rId3" imgW="2895600" imgH="431800" progId="">
                  <p:embed/>
                  <p:pic>
                    <p:nvPicPr>
                      <p:cNvPr id="10242" name="Object 10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3789363"/>
                        <a:ext cx="6100762" cy="911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ttangolo 1">
            <a:extLst>
              <a:ext uri="{FF2B5EF4-FFF2-40B4-BE49-F238E27FC236}">
                <a16:creationId xmlns:a16="http://schemas.microsoft.com/office/drawing/2014/main" id="{DF50B949-5648-4C4F-9E84-556C3F0D5967}"/>
              </a:ext>
            </a:extLst>
          </p:cNvPr>
          <p:cNvSpPr/>
          <p:nvPr/>
        </p:nvSpPr>
        <p:spPr>
          <a:xfrm>
            <a:off x="899592" y="5514976"/>
            <a:ext cx="669674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https://it.wikipedia.org/wiki/Paradosso_del_compleanno</a:t>
            </a:r>
            <a:endParaRPr lang="it-IT" b="1" dirty="0">
              <a:solidFill>
                <a:srgbClr val="FF0000"/>
              </a:solidFill>
            </a:endParaRPr>
          </a:p>
          <a:p>
            <a:endParaRPr lang="it-IT" dirty="0">
              <a:solidFill>
                <a:schemeClr val="accent6"/>
              </a:solidFill>
            </a:endParaRPr>
          </a:p>
          <a:p>
            <a:r>
              <a:rPr lang="it-IT" dirty="0"/>
              <a:t>Figura 1.1 libro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7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5363" y="1466850"/>
            <a:ext cx="7153275" cy="392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6B247B8-A947-4B1E-9351-91442EFC07C5}"/>
              </a:ext>
            </a:extLst>
          </p:cNvPr>
          <p:cNvSpPr txBox="1"/>
          <p:nvPr/>
        </p:nvSpPr>
        <p:spPr>
          <a:xfrm>
            <a:off x="827584" y="5949280"/>
            <a:ext cx="5328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Pagina 21 del libro di testo «Probabilità e modelli» (anche con R)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35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7263" y="1076325"/>
            <a:ext cx="7229475" cy="470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716F6339-B65A-4405-AC53-BB8FDE294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124744"/>
            <a:ext cx="8582025" cy="3076575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6426A93B-C512-4956-9D4E-4120D43C46FF}"/>
              </a:ext>
            </a:extLst>
          </p:cNvPr>
          <p:cNvSpPr txBox="1"/>
          <p:nvPr/>
        </p:nvSpPr>
        <p:spPr>
          <a:xfrm>
            <a:off x="1115616" y="5373216"/>
            <a:ext cx="4185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Donne e uomini non sono equiprobabili</a:t>
            </a:r>
          </a:p>
        </p:txBody>
      </p:sp>
    </p:spTree>
    <p:extLst>
      <p:ext uri="{BB962C8B-B14F-4D97-AF65-F5344CB8AC3E}">
        <p14:creationId xmlns:p14="http://schemas.microsoft.com/office/powerpoint/2010/main" val="3074986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4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3914" y="548680"/>
            <a:ext cx="8554550" cy="56279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Ovale 2">
            <a:extLst>
              <a:ext uri="{FF2B5EF4-FFF2-40B4-BE49-F238E27FC236}">
                <a16:creationId xmlns:a16="http://schemas.microsoft.com/office/drawing/2014/main" id="{6EE6AD8E-9795-4022-9D90-2A6678654D7F}"/>
              </a:ext>
            </a:extLst>
          </p:cNvPr>
          <p:cNvSpPr/>
          <p:nvPr/>
        </p:nvSpPr>
        <p:spPr>
          <a:xfrm>
            <a:off x="2699792" y="681326"/>
            <a:ext cx="1656184" cy="29940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4D850B2D-EAA8-43FA-88D1-0C0A585B8184}"/>
              </a:ext>
            </a:extLst>
          </p:cNvPr>
          <p:cNvCxnSpPr>
            <a:cxnSpLocks/>
          </p:cNvCxnSpPr>
          <p:nvPr/>
        </p:nvCxnSpPr>
        <p:spPr>
          <a:xfrm>
            <a:off x="1403648" y="1556792"/>
            <a:ext cx="108012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3D433E33-ABDE-47F4-96A1-A333901B1C82}"/>
              </a:ext>
            </a:extLst>
          </p:cNvPr>
          <p:cNvCxnSpPr>
            <a:cxnSpLocks/>
          </p:cNvCxnSpPr>
          <p:nvPr/>
        </p:nvCxnSpPr>
        <p:spPr>
          <a:xfrm>
            <a:off x="5220072" y="1268760"/>
            <a:ext cx="65695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diritto 12">
            <a:extLst>
              <a:ext uri="{FF2B5EF4-FFF2-40B4-BE49-F238E27FC236}">
                <a16:creationId xmlns:a16="http://schemas.microsoft.com/office/drawing/2014/main" id="{2E5DA655-8177-457F-BF1D-39B223B0363F}"/>
              </a:ext>
            </a:extLst>
          </p:cNvPr>
          <p:cNvCxnSpPr>
            <a:cxnSpLocks/>
          </p:cNvCxnSpPr>
          <p:nvPr/>
        </p:nvCxnSpPr>
        <p:spPr>
          <a:xfrm>
            <a:off x="2123728" y="3356992"/>
            <a:ext cx="187220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reccia a sinistra 15">
            <a:extLst>
              <a:ext uri="{FF2B5EF4-FFF2-40B4-BE49-F238E27FC236}">
                <a16:creationId xmlns:a16="http://schemas.microsoft.com/office/drawing/2014/main" id="{7A73E92A-8EB5-4F57-BE8E-D61EDA89E167}"/>
              </a:ext>
            </a:extLst>
          </p:cNvPr>
          <p:cNvSpPr/>
          <p:nvPr/>
        </p:nvSpPr>
        <p:spPr>
          <a:xfrm>
            <a:off x="8748464" y="3114676"/>
            <a:ext cx="395536" cy="484632"/>
          </a:xfrm>
          <a:prstGeom prst="lef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8" name="Connettore diritto 17">
            <a:extLst>
              <a:ext uri="{FF2B5EF4-FFF2-40B4-BE49-F238E27FC236}">
                <a16:creationId xmlns:a16="http://schemas.microsoft.com/office/drawing/2014/main" id="{DAE91A80-B47A-4943-B2D5-35A143543215}"/>
              </a:ext>
            </a:extLst>
          </p:cNvPr>
          <p:cNvCxnSpPr>
            <a:cxnSpLocks/>
          </p:cNvCxnSpPr>
          <p:nvPr/>
        </p:nvCxnSpPr>
        <p:spPr>
          <a:xfrm>
            <a:off x="3707904" y="4869161"/>
            <a:ext cx="108012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8C1FA8E-3C4D-4C10-BC59-81A72E45E990}"/>
              </a:ext>
            </a:extLst>
          </p:cNvPr>
          <p:cNvSpPr txBox="1"/>
          <p:nvPr/>
        </p:nvSpPr>
        <p:spPr>
          <a:xfrm>
            <a:off x="7380312" y="6381328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Pagina 35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4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526" y="1556792"/>
            <a:ext cx="8062738" cy="34009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3" name="Connettore diritto 2">
            <a:extLst>
              <a:ext uri="{FF2B5EF4-FFF2-40B4-BE49-F238E27FC236}">
                <a16:creationId xmlns:a16="http://schemas.microsoft.com/office/drawing/2014/main" id="{C0C2C83B-D6FB-47EE-8B27-20557D4B72BE}"/>
              </a:ext>
            </a:extLst>
          </p:cNvPr>
          <p:cNvCxnSpPr>
            <a:cxnSpLocks/>
          </p:cNvCxnSpPr>
          <p:nvPr/>
        </p:nvCxnSpPr>
        <p:spPr>
          <a:xfrm>
            <a:off x="2771800" y="2204864"/>
            <a:ext cx="3744416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B0B902AE-009E-415B-A5E9-BF065EC00D07}"/>
              </a:ext>
            </a:extLst>
          </p:cNvPr>
          <p:cNvCxnSpPr>
            <a:cxnSpLocks/>
          </p:cNvCxnSpPr>
          <p:nvPr/>
        </p:nvCxnSpPr>
        <p:spPr>
          <a:xfrm>
            <a:off x="3923928" y="4509120"/>
            <a:ext cx="1080120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850" name="Picture 8" descr="Immagin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88640"/>
            <a:ext cx="7216165" cy="6048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8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3350" y="692150"/>
            <a:ext cx="6335713" cy="554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31F2781C-4C28-4CD5-BC98-1C37794002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124744"/>
            <a:ext cx="8258175" cy="1209675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A7CD78F1-1B06-4497-BB48-D918AD7D991B}"/>
              </a:ext>
            </a:extLst>
          </p:cNvPr>
          <p:cNvSpPr txBox="1"/>
          <p:nvPr/>
        </p:nvSpPr>
        <p:spPr>
          <a:xfrm>
            <a:off x="5845399" y="404664"/>
            <a:ext cx="2808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Pagina 37 del libro di testo</a:t>
            </a:r>
          </a:p>
        </p:txBody>
      </p: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EC9A7A95-674E-4830-ACEB-20A0C9B96CEA}"/>
              </a:ext>
            </a:extLst>
          </p:cNvPr>
          <p:cNvCxnSpPr>
            <a:cxnSpLocks/>
          </p:cNvCxnSpPr>
          <p:nvPr/>
        </p:nvCxnSpPr>
        <p:spPr>
          <a:xfrm>
            <a:off x="6732240" y="1412776"/>
            <a:ext cx="1728192" cy="0"/>
          </a:xfrm>
          <a:prstGeom prst="line">
            <a:avLst/>
          </a:prstGeom>
          <a:ln>
            <a:solidFill>
              <a:srgbClr val="C00000"/>
            </a:solidFill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30C74529-ADC4-4F10-A5F4-C36B5C72B67B}"/>
              </a:ext>
            </a:extLst>
          </p:cNvPr>
          <p:cNvCxnSpPr>
            <a:cxnSpLocks/>
          </p:cNvCxnSpPr>
          <p:nvPr/>
        </p:nvCxnSpPr>
        <p:spPr>
          <a:xfrm>
            <a:off x="5521363" y="1729581"/>
            <a:ext cx="1728192" cy="0"/>
          </a:xfrm>
          <a:prstGeom prst="line">
            <a:avLst/>
          </a:prstGeom>
          <a:ln>
            <a:solidFill>
              <a:srgbClr val="C00000"/>
            </a:solidFill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magine 7">
            <a:extLst>
              <a:ext uri="{FF2B5EF4-FFF2-40B4-BE49-F238E27FC236}">
                <a16:creationId xmlns:a16="http://schemas.microsoft.com/office/drawing/2014/main" id="{B7F671E2-FD25-4C25-80DA-D0C49CFAC6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565" y="3068960"/>
            <a:ext cx="8172450" cy="2019300"/>
          </a:xfrm>
          <a:prstGeom prst="rect">
            <a:avLst/>
          </a:prstGeom>
        </p:spPr>
      </p:pic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EFB8DCD5-E088-4B60-AE4A-B3059B1F0590}"/>
              </a:ext>
            </a:extLst>
          </p:cNvPr>
          <p:cNvCxnSpPr>
            <a:cxnSpLocks/>
          </p:cNvCxnSpPr>
          <p:nvPr/>
        </p:nvCxnSpPr>
        <p:spPr>
          <a:xfrm>
            <a:off x="5521363" y="3284984"/>
            <a:ext cx="1728192" cy="0"/>
          </a:xfrm>
          <a:prstGeom prst="line">
            <a:avLst/>
          </a:prstGeom>
          <a:ln>
            <a:solidFill>
              <a:srgbClr val="C00000"/>
            </a:solidFill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10E31141-2478-4751-81DD-B92ECC6772C5}"/>
              </a:ext>
            </a:extLst>
          </p:cNvPr>
          <p:cNvCxnSpPr>
            <a:cxnSpLocks/>
          </p:cNvCxnSpPr>
          <p:nvPr/>
        </p:nvCxnSpPr>
        <p:spPr>
          <a:xfrm>
            <a:off x="5521363" y="3933056"/>
            <a:ext cx="2939069" cy="0"/>
          </a:xfrm>
          <a:prstGeom prst="line">
            <a:avLst/>
          </a:prstGeom>
          <a:ln>
            <a:solidFill>
              <a:srgbClr val="C00000"/>
            </a:solidFill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diritto 10">
            <a:extLst>
              <a:ext uri="{FF2B5EF4-FFF2-40B4-BE49-F238E27FC236}">
                <a16:creationId xmlns:a16="http://schemas.microsoft.com/office/drawing/2014/main" id="{B57E8B95-24B0-49D7-BF1D-51FE814845E9}"/>
              </a:ext>
            </a:extLst>
          </p:cNvPr>
          <p:cNvCxnSpPr>
            <a:cxnSpLocks/>
          </p:cNvCxnSpPr>
          <p:nvPr/>
        </p:nvCxnSpPr>
        <p:spPr>
          <a:xfrm>
            <a:off x="3203848" y="3645024"/>
            <a:ext cx="1872208" cy="0"/>
          </a:xfrm>
          <a:prstGeom prst="line">
            <a:avLst/>
          </a:prstGeom>
          <a:ln>
            <a:solidFill>
              <a:srgbClr val="C00000"/>
            </a:solidFill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diritto 13">
            <a:extLst>
              <a:ext uri="{FF2B5EF4-FFF2-40B4-BE49-F238E27FC236}">
                <a16:creationId xmlns:a16="http://schemas.microsoft.com/office/drawing/2014/main" id="{4843FCF9-68B1-4F30-8E6F-357C331A161B}"/>
              </a:ext>
            </a:extLst>
          </p:cNvPr>
          <p:cNvCxnSpPr>
            <a:cxnSpLocks/>
          </p:cNvCxnSpPr>
          <p:nvPr/>
        </p:nvCxnSpPr>
        <p:spPr>
          <a:xfrm>
            <a:off x="2645487" y="4221088"/>
            <a:ext cx="1728192" cy="0"/>
          </a:xfrm>
          <a:prstGeom prst="line">
            <a:avLst/>
          </a:prstGeom>
          <a:ln>
            <a:solidFill>
              <a:srgbClr val="C00000"/>
            </a:solidFill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diritto 14">
            <a:extLst>
              <a:ext uri="{FF2B5EF4-FFF2-40B4-BE49-F238E27FC236}">
                <a16:creationId xmlns:a16="http://schemas.microsoft.com/office/drawing/2014/main" id="{3E5DAAFE-B066-452A-BEA2-C7EE50473986}"/>
              </a:ext>
            </a:extLst>
          </p:cNvPr>
          <p:cNvCxnSpPr>
            <a:cxnSpLocks/>
          </p:cNvCxnSpPr>
          <p:nvPr/>
        </p:nvCxnSpPr>
        <p:spPr>
          <a:xfrm>
            <a:off x="3707904" y="4797152"/>
            <a:ext cx="1008112" cy="0"/>
          </a:xfrm>
          <a:prstGeom prst="line">
            <a:avLst/>
          </a:prstGeom>
          <a:ln>
            <a:solidFill>
              <a:srgbClr val="C00000"/>
            </a:solidFill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e 16">
            <a:extLst>
              <a:ext uri="{FF2B5EF4-FFF2-40B4-BE49-F238E27FC236}">
                <a16:creationId xmlns:a16="http://schemas.microsoft.com/office/drawing/2014/main" id="{473C3E31-0333-47ED-A840-5AF9407E36DF}"/>
              </a:ext>
            </a:extLst>
          </p:cNvPr>
          <p:cNvSpPr/>
          <p:nvPr/>
        </p:nvSpPr>
        <p:spPr>
          <a:xfrm>
            <a:off x="979466" y="4187549"/>
            <a:ext cx="360040" cy="36002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Ovale 17">
            <a:extLst>
              <a:ext uri="{FF2B5EF4-FFF2-40B4-BE49-F238E27FC236}">
                <a16:creationId xmlns:a16="http://schemas.microsoft.com/office/drawing/2014/main" id="{F68EF96F-1388-4CB6-BFB1-703A1E37613B}"/>
              </a:ext>
            </a:extLst>
          </p:cNvPr>
          <p:cNvSpPr/>
          <p:nvPr/>
        </p:nvSpPr>
        <p:spPr>
          <a:xfrm>
            <a:off x="7416316" y="4187548"/>
            <a:ext cx="360040" cy="36002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9" name="Connettore diritto 18">
            <a:extLst>
              <a:ext uri="{FF2B5EF4-FFF2-40B4-BE49-F238E27FC236}">
                <a16:creationId xmlns:a16="http://schemas.microsoft.com/office/drawing/2014/main" id="{123B51F1-7B88-4C68-84FD-F41C436C8905}"/>
              </a:ext>
            </a:extLst>
          </p:cNvPr>
          <p:cNvCxnSpPr>
            <a:cxnSpLocks/>
          </p:cNvCxnSpPr>
          <p:nvPr/>
        </p:nvCxnSpPr>
        <p:spPr>
          <a:xfrm>
            <a:off x="393565" y="5081110"/>
            <a:ext cx="3458355" cy="0"/>
          </a:xfrm>
          <a:prstGeom prst="line">
            <a:avLst/>
          </a:prstGeom>
          <a:ln>
            <a:solidFill>
              <a:srgbClr val="C00000"/>
            </a:solidFill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diritto 22">
            <a:extLst>
              <a:ext uri="{FF2B5EF4-FFF2-40B4-BE49-F238E27FC236}">
                <a16:creationId xmlns:a16="http://schemas.microsoft.com/office/drawing/2014/main" id="{6DFFE442-E80A-457B-A655-4F31473CA8DD}"/>
              </a:ext>
            </a:extLst>
          </p:cNvPr>
          <p:cNvCxnSpPr>
            <a:cxnSpLocks/>
          </p:cNvCxnSpPr>
          <p:nvPr/>
        </p:nvCxnSpPr>
        <p:spPr>
          <a:xfrm>
            <a:off x="7776356" y="4797152"/>
            <a:ext cx="684076" cy="0"/>
          </a:xfrm>
          <a:prstGeom prst="line">
            <a:avLst/>
          </a:prstGeom>
          <a:ln>
            <a:solidFill>
              <a:srgbClr val="C00000"/>
            </a:solidFill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00111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ttore diritto 2">
            <a:extLst>
              <a:ext uri="{FF2B5EF4-FFF2-40B4-BE49-F238E27FC236}">
                <a16:creationId xmlns:a16="http://schemas.microsoft.com/office/drawing/2014/main" id="{56188252-D42B-4E1F-A35E-88BA64DCA30D}"/>
              </a:ext>
            </a:extLst>
          </p:cNvPr>
          <p:cNvCxnSpPr>
            <a:cxnSpLocks/>
          </p:cNvCxnSpPr>
          <p:nvPr/>
        </p:nvCxnSpPr>
        <p:spPr>
          <a:xfrm>
            <a:off x="2699792" y="6825693"/>
            <a:ext cx="1008112" cy="0"/>
          </a:xfrm>
          <a:prstGeom prst="line">
            <a:avLst/>
          </a:prstGeom>
          <a:ln>
            <a:solidFill>
              <a:srgbClr val="C00000"/>
            </a:solidFill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magine 6">
            <a:extLst>
              <a:ext uri="{FF2B5EF4-FFF2-40B4-BE49-F238E27FC236}">
                <a16:creationId xmlns:a16="http://schemas.microsoft.com/office/drawing/2014/main" id="{D5057DAD-38D1-44D4-8D06-146C5FE2A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360" y="908720"/>
            <a:ext cx="8229600" cy="2352675"/>
          </a:xfrm>
          <a:prstGeom prst="rect">
            <a:avLst/>
          </a:prstGeom>
        </p:spPr>
      </p:pic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D4A9981D-195E-4F5C-8FF7-E436D7F95AA0}"/>
              </a:ext>
            </a:extLst>
          </p:cNvPr>
          <p:cNvCxnSpPr/>
          <p:nvPr/>
        </p:nvCxnSpPr>
        <p:spPr>
          <a:xfrm>
            <a:off x="2123728" y="1603647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diritto 10">
            <a:extLst>
              <a:ext uri="{FF2B5EF4-FFF2-40B4-BE49-F238E27FC236}">
                <a16:creationId xmlns:a16="http://schemas.microsoft.com/office/drawing/2014/main" id="{10DEA0AA-ECEC-4A8C-A1A1-63EE696534A7}"/>
              </a:ext>
            </a:extLst>
          </p:cNvPr>
          <p:cNvCxnSpPr>
            <a:cxnSpLocks/>
          </p:cNvCxnSpPr>
          <p:nvPr/>
        </p:nvCxnSpPr>
        <p:spPr>
          <a:xfrm>
            <a:off x="2195736" y="1772816"/>
            <a:ext cx="1512168" cy="0"/>
          </a:xfrm>
          <a:prstGeom prst="line">
            <a:avLst/>
          </a:prstGeom>
          <a:ln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diritto 12">
            <a:extLst>
              <a:ext uri="{FF2B5EF4-FFF2-40B4-BE49-F238E27FC236}">
                <a16:creationId xmlns:a16="http://schemas.microsoft.com/office/drawing/2014/main" id="{1D5AD4A2-CFCB-449C-9097-105083C34E3B}"/>
              </a:ext>
            </a:extLst>
          </p:cNvPr>
          <p:cNvCxnSpPr>
            <a:cxnSpLocks/>
          </p:cNvCxnSpPr>
          <p:nvPr/>
        </p:nvCxnSpPr>
        <p:spPr>
          <a:xfrm>
            <a:off x="2411760" y="2636912"/>
            <a:ext cx="1296144" cy="0"/>
          </a:xfrm>
          <a:prstGeom prst="line">
            <a:avLst/>
          </a:prstGeom>
          <a:ln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diritto 14">
            <a:extLst>
              <a:ext uri="{FF2B5EF4-FFF2-40B4-BE49-F238E27FC236}">
                <a16:creationId xmlns:a16="http://schemas.microsoft.com/office/drawing/2014/main" id="{13BC78F4-4FA4-47C7-BF42-122EB3F322E9}"/>
              </a:ext>
            </a:extLst>
          </p:cNvPr>
          <p:cNvCxnSpPr>
            <a:cxnSpLocks/>
          </p:cNvCxnSpPr>
          <p:nvPr/>
        </p:nvCxnSpPr>
        <p:spPr>
          <a:xfrm>
            <a:off x="3419872" y="2924944"/>
            <a:ext cx="1728192" cy="0"/>
          </a:xfrm>
          <a:prstGeom prst="line">
            <a:avLst/>
          </a:prstGeom>
          <a:ln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diritto 16">
            <a:extLst>
              <a:ext uri="{FF2B5EF4-FFF2-40B4-BE49-F238E27FC236}">
                <a16:creationId xmlns:a16="http://schemas.microsoft.com/office/drawing/2014/main" id="{31067CAB-C7A3-4BE5-A12B-870DB827F7B9}"/>
              </a:ext>
            </a:extLst>
          </p:cNvPr>
          <p:cNvCxnSpPr>
            <a:cxnSpLocks/>
          </p:cNvCxnSpPr>
          <p:nvPr/>
        </p:nvCxnSpPr>
        <p:spPr>
          <a:xfrm>
            <a:off x="3851920" y="3212976"/>
            <a:ext cx="1296144" cy="0"/>
          </a:xfrm>
          <a:prstGeom prst="line">
            <a:avLst/>
          </a:prstGeom>
          <a:ln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14655300-2862-4DB4-83B6-454B27B63447}"/>
              </a:ext>
            </a:extLst>
          </p:cNvPr>
          <p:cNvSpPr txBox="1"/>
          <p:nvPr/>
        </p:nvSpPr>
        <p:spPr>
          <a:xfrm>
            <a:off x="611560" y="5092953"/>
            <a:ext cx="2808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Pagina 37 del libro di testo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B984489A-222E-4FCD-9B9B-7C78AADF9A8B}"/>
              </a:ext>
            </a:extLst>
          </p:cNvPr>
          <p:cNvSpPr txBox="1"/>
          <p:nvPr/>
        </p:nvSpPr>
        <p:spPr>
          <a:xfrm>
            <a:off x="1056752" y="387604"/>
            <a:ext cx="6971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Consideriamo l’esperimento lancio di un dado</a:t>
            </a:r>
          </a:p>
        </p:txBody>
      </p:sp>
    </p:spTree>
    <p:extLst>
      <p:ext uri="{BB962C8B-B14F-4D97-AF65-F5344CB8AC3E}">
        <p14:creationId xmlns:p14="http://schemas.microsoft.com/office/powerpoint/2010/main" val="8773093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0E8A9A2A-DB0E-471A-A9F5-64260B931D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37" y="985837"/>
            <a:ext cx="8543925" cy="4886325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64E5C19C-9B6F-4C86-BFC7-84C3798B6E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681037"/>
            <a:ext cx="5657850" cy="304800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AB7BFE8B-3E7C-4D7B-BE5B-A2CC03DC5684}"/>
              </a:ext>
            </a:extLst>
          </p:cNvPr>
          <p:cNvSpPr txBox="1"/>
          <p:nvPr/>
        </p:nvSpPr>
        <p:spPr>
          <a:xfrm>
            <a:off x="7588010" y="116632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Pagina 38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E3E4BDC1-3BA4-474F-A4FB-FBD81955EED4}"/>
              </a:ext>
            </a:extLst>
          </p:cNvPr>
          <p:cNvSpPr txBox="1"/>
          <p:nvPr/>
        </p:nvSpPr>
        <p:spPr>
          <a:xfrm>
            <a:off x="582276" y="315395"/>
            <a:ext cx="4248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+mj-lt"/>
              </a:rPr>
              <a:t>Indichiamo con     lo spazio degli eventi, </a:t>
            </a:r>
            <a:endParaRPr lang="it-IT" i="1" dirty="0">
              <a:latin typeface="+mj-lt"/>
            </a:endParaRP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F5F1F454-6BEB-456E-A269-C3758E04A2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3728" y="416606"/>
            <a:ext cx="253938" cy="224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837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259E9E56-5A9F-48D9-88DA-D8B203A61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332656"/>
            <a:ext cx="8514451" cy="643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1771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689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1925" y="2324100"/>
            <a:ext cx="882015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ettangolo 1">
            <a:extLst>
              <a:ext uri="{FF2B5EF4-FFF2-40B4-BE49-F238E27FC236}">
                <a16:creationId xmlns:a16="http://schemas.microsoft.com/office/drawing/2014/main" id="{8952C9A7-3409-4DE9-A38D-A6C856157B02}"/>
              </a:ext>
            </a:extLst>
          </p:cNvPr>
          <p:cNvSpPr/>
          <p:nvPr/>
        </p:nvSpPr>
        <p:spPr>
          <a:xfrm>
            <a:off x="161925" y="2324100"/>
            <a:ext cx="1385739" cy="3128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A0BF6B0B-C5A4-44DD-8107-A794E01722A4}"/>
              </a:ext>
            </a:extLst>
          </p:cNvPr>
          <p:cNvSpPr txBox="1"/>
          <p:nvPr/>
        </p:nvSpPr>
        <p:spPr>
          <a:xfrm>
            <a:off x="7596336" y="260648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Pagina 39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C73AAA4B-3151-4105-8CD3-497FD0C20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15152"/>
            <a:ext cx="9144000" cy="282769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/>
          <p:cNvSpPr>
            <a:spLocks noChangeArrowheads="1"/>
          </p:cNvSpPr>
          <p:nvPr/>
        </p:nvSpPr>
        <p:spPr bwMode="auto">
          <a:xfrm>
            <a:off x="0" y="5492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endParaRPr lang="it-IT" altLang="it-IT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4101" name="Rectangle 5"/>
          <p:cNvSpPr>
            <a:spLocks noChangeArrowheads="1"/>
          </p:cNvSpPr>
          <p:nvPr/>
        </p:nvSpPr>
        <p:spPr bwMode="auto">
          <a:xfrm>
            <a:off x="0" y="34448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endParaRPr lang="it-IT" altLang="it-IT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4102" name="Rectangle 7"/>
          <p:cNvSpPr>
            <a:spLocks noChangeArrowheads="1"/>
          </p:cNvSpPr>
          <p:nvPr/>
        </p:nvSpPr>
        <p:spPr bwMode="auto">
          <a:xfrm>
            <a:off x="375506" y="986166"/>
            <a:ext cx="839298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 eaLnBrk="1" hangingPunct="1"/>
            <a:r>
              <a:rPr lang="it-IT" altLang="it-IT" sz="2800" b="1" dirty="0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Principio della somma</a:t>
            </a:r>
          </a:p>
        </p:txBody>
      </p:sp>
      <p:sp>
        <p:nvSpPr>
          <p:cNvPr id="4103" name="Rectangle 9"/>
          <p:cNvSpPr>
            <a:spLocks noChangeArrowheads="1"/>
          </p:cNvSpPr>
          <p:nvPr/>
        </p:nvSpPr>
        <p:spPr bwMode="auto">
          <a:xfrm>
            <a:off x="0" y="36306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endParaRPr lang="it-IT" altLang="it-IT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graphicFrame>
        <p:nvGraphicFramePr>
          <p:cNvPr id="409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3662303"/>
              </p:ext>
            </p:extLst>
          </p:nvPr>
        </p:nvGraphicFramePr>
        <p:xfrm>
          <a:off x="971600" y="3001368"/>
          <a:ext cx="6192688" cy="49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6" name="Equazione" r:id="rId4" imgW="4419600" imgH="355600" progId="">
                  <p:embed/>
                </p:oleObj>
              </mc:Choice>
              <mc:Fallback>
                <p:oleObj name="Equazione" r:id="rId4" imgW="4419600" imgH="355600" progId="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600" y="3001368"/>
                        <a:ext cx="6192688" cy="49415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4" name="Rectangle 10"/>
          <p:cNvSpPr>
            <a:spLocks noChangeArrowheads="1"/>
          </p:cNvSpPr>
          <p:nvPr/>
        </p:nvSpPr>
        <p:spPr bwMode="auto">
          <a:xfrm>
            <a:off x="1331640" y="4516537"/>
            <a:ext cx="32781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it-IT" altLang="it-IT" sz="2400" dirty="0">
                <a:solidFill>
                  <a:srgbClr val="000000"/>
                </a:solidFill>
                <a:latin typeface="Times New Roman" pitchFamily="18" charset="0"/>
              </a:rPr>
              <a:t>per eventi </a:t>
            </a:r>
            <a:r>
              <a:rPr lang="it-IT" altLang="it-IT" sz="2400" b="1" u="sng" dirty="0">
                <a:solidFill>
                  <a:srgbClr val="000000"/>
                </a:solidFill>
                <a:latin typeface="Times New Roman" pitchFamily="18" charset="0"/>
              </a:rPr>
              <a:t>incompatibili</a:t>
            </a:r>
            <a:r>
              <a:rPr lang="it-IT" altLang="it-IT" sz="2400" dirty="0">
                <a:solidFill>
                  <a:srgbClr val="000000"/>
                </a:solidFill>
                <a:latin typeface="Times New Roman" pitchFamily="18" charset="0"/>
              </a:rPr>
              <a:t>:</a:t>
            </a:r>
          </a:p>
        </p:txBody>
      </p:sp>
      <p:sp>
        <p:nvSpPr>
          <p:cNvPr id="4105" name="Rectangle 12"/>
          <p:cNvSpPr>
            <a:spLocks noChangeArrowheads="1"/>
          </p:cNvSpPr>
          <p:nvPr/>
        </p:nvSpPr>
        <p:spPr bwMode="auto">
          <a:xfrm>
            <a:off x="0" y="36306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endParaRPr lang="it-IT" altLang="it-IT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graphicFrame>
        <p:nvGraphicFramePr>
          <p:cNvPr id="4099" name="Object 11"/>
          <p:cNvGraphicFramePr>
            <a:graphicFrameLocks noChangeAspect="1"/>
          </p:cNvGraphicFramePr>
          <p:nvPr/>
        </p:nvGraphicFramePr>
        <p:xfrm>
          <a:off x="4615011" y="4581128"/>
          <a:ext cx="2981325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7" name="Equazione" r:id="rId6" imgW="2984500" imgH="355600" progId="">
                  <p:embed/>
                </p:oleObj>
              </mc:Choice>
              <mc:Fallback>
                <p:oleObj name="Equazione" r:id="rId6" imgW="2984500" imgH="355600" progId="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5011" y="4581128"/>
                        <a:ext cx="2981325" cy="352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CasellaDiTesto 9">
            <a:extLst>
              <a:ext uri="{FF2B5EF4-FFF2-40B4-BE49-F238E27FC236}">
                <a16:creationId xmlns:a16="http://schemas.microsoft.com/office/drawing/2014/main" id="{611DB1C3-C967-444C-8A12-817F8FD2F7EC}"/>
              </a:ext>
            </a:extLst>
          </p:cNvPr>
          <p:cNvSpPr txBox="1"/>
          <p:nvPr/>
        </p:nvSpPr>
        <p:spPr>
          <a:xfrm>
            <a:off x="7596336" y="260648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Pagina 39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62025" y="1847850"/>
            <a:ext cx="7219950" cy="316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036E931A-9DF2-4238-98CD-502A878225DC}"/>
              </a:ext>
            </a:extLst>
          </p:cNvPr>
          <p:cNvSpPr txBox="1"/>
          <p:nvPr/>
        </p:nvSpPr>
        <p:spPr>
          <a:xfrm>
            <a:off x="7236296" y="260648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Pagina 39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6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33450" y="2290763"/>
            <a:ext cx="7277100" cy="227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F80EADE7-43E7-40F6-B9AE-377E76B71C5B}"/>
              </a:ext>
            </a:extLst>
          </p:cNvPr>
          <p:cNvSpPr txBox="1"/>
          <p:nvPr/>
        </p:nvSpPr>
        <p:spPr>
          <a:xfrm>
            <a:off x="7596336" y="260648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Pagina 39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2"/>
          <p:cNvSpPr>
            <a:spLocks noChangeArrowheads="1"/>
          </p:cNvSpPr>
          <p:nvPr/>
        </p:nvSpPr>
        <p:spPr bwMode="auto">
          <a:xfrm>
            <a:off x="0" y="1714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endParaRPr lang="it-IT" altLang="it-IT" sz="2400">
              <a:solidFill>
                <a:srgbClr val="000000"/>
              </a:solidFill>
              <a:latin typeface="Times New Roman" pitchFamily="18" charset="0"/>
              <a:cs typeface="Arial" charset="0"/>
            </a:endParaRPr>
          </a:p>
        </p:txBody>
      </p:sp>
      <p:sp>
        <p:nvSpPr>
          <p:cNvPr id="211971" name="Rectangle 4"/>
          <p:cNvSpPr>
            <a:spLocks noChangeArrowheads="1"/>
          </p:cNvSpPr>
          <p:nvPr/>
        </p:nvSpPr>
        <p:spPr bwMode="auto">
          <a:xfrm>
            <a:off x="1115616" y="1844824"/>
            <a:ext cx="489654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/>
            <a:r>
              <a:rPr lang="it-IT" b="1" dirty="0"/>
              <a:t>Probabilità e Statistica – 15 febbraio 2022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E11120E9-9D64-4741-BC9A-520E238AA599}"/>
              </a:ext>
            </a:extLst>
          </p:cNvPr>
          <p:cNvSpPr txBox="1"/>
          <p:nvPr/>
        </p:nvSpPr>
        <p:spPr>
          <a:xfrm>
            <a:off x="647564" y="2852936"/>
            <a:ext cx="784887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it-IT" dirty="0">
                <a:latin typeface="Times New Roman" panose="02020603050405020304" pitchFamily="18" charset="0"/>
                <a:ea typeface="Times New Roman" panose="02020603050405020304" pitchFamily="18" charset="0"/>
              </a:rPr>
              <a:t>Analizzando una lunga sequenza di osservazioni si è determinato che i treni partono in orario con una probabilità del 90% e arrivano in orario con una probabilità del 85%; inoltre l’80% parte e arriva in orario. </a:t>
            </a:r>
            <a:endParaRPr lang="it-IT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it-IT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Determinare la probabilità che:</a:t>
            </a:r>
            <a:endParaRPr lang="it-IT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Aft>
                <a:spcPts val="0"/>
              </a:spcAft>
              <a:buFont typeface="+mj-lt"/>
              <a:buAutoNum type="alphaLcParenR"/>
            </a:pPr>
            <a:r>
              <a:rPr lang="it-IT" dirty="0">
                <a:latin typeface="Times New Roman" panose="02020603050405020304" pitchFamily="18" charset="0"/>
                <a:ea typeface="Times New Roman" panose="02020603050405020304" pitchFamily="18" charset="0"/>
              </a:rPr>
              <a:t>un treno arrivi in orario, dato che è partito in orario;</a:t>
            </a:r>
            <a:endParaRPr lang="it-IT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Aft>
                <a:spcPts val="600"/>
              </a:spcAft>
              <a:buFont typeface="+mj-lt"/>
              <a:buAutoNum type="alphaLcParenR"/>
            </a:pPr>
            <a:r>
              <a:rPr lang="it-IT" dirty="0">
                <a:latin typeface="Times New Roman" panose="02020603050405020304" pitchFamily="18" charset="0"/>
                <a:ea typeface="Times New Roman" panose="02020603050405020304" pitchFamily="18" charset="0"/>
              </a:rPr>
              <a:t>un treno arrivi in ritardo, dato che è partito in ritardo.</a:t>
            </a:r>
            <a:endParaRPr lang="it-IT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EF4CA1-DF86-4749-BB17-C69B68D002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086" y="638805"/>
            <a:ext cx="644324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/>
            <a:r>
              <a:rPr lang="it-IT" b="1" dirty="0" err="1">
                <a:solidFill>
                  <a:srgbClr val="00B050"/>
                </a:solidFill>
              </a:rPr>
              <a:t>Hint</a:t>
            </a:r>
            <a:r>
              <a:rPr lang="it-IT" b="1" dirty="0">
                <a:solidFill>
                  <a:srgbClr val="00B050"/>
                </a:solidFill>
              </a:rPr>
              <a:t>…riportare le informazioni in forma tabellare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2"/>
          <p:cNvSpPr>
            <a:spLocks noChangeArrowheads="1"/>
          </p:cNvSpPr>
          <p:nvPr/>
        </p:nvSpPr>
        <p:spPr bwMode="auto">
          <a:xfrm>
            <a:off x="0" y="1714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endParaRPr lang="it-IT" altLang="it-IT" sz="2400">
              <a:solidFill>
                <a:srgbClr val="000000"/>
              </a:solidFill>
              <a:latin typeface="Times New Roman" pitchFamily="18" charset="0"/>
              <a:cs typeface="Arial" charset="0"/>
            </a:endParaRPr>
          </a:p>
        </p:txBody>
      </p:sp>
      <p:sp>
        <p:nvSpPr>
          <p:cNvPr id="211971" name="Rectangle 4"/>
          <p:cNvSpPr>
            <a:spLocks noChangeArrowheads="1"/>
          </p:cNvSpPr>
          <p:nvPr/>
        </p:nvSpPr>
        <p:spPr bwMode="auto">
          <a:xfrm>
            <a:off x="1907704" y="332656"/>
            <a:ext cx="792162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/>
            <a:r>
              <a:rPr lang="it-IT" b="1" dirty="0"/>
              <a:t>Probabilità e Statistica – 15 febbraio 2022</a:t>
            </a:r>
          </a:p>
        </p:txBody>
      </p:sp>
      <p:graphicFrame>
        <p:nvGraphicFramePr>
          <p:cNvPr id="264459" name="Group 267"/>
          <p:cNvGraphicFramePr>
            <a:graphicFrameLocks noGrp="1"/>
          </p:cNvGraphicFramePr>
          <p:nvPr>
            <p:ph/>
            <p:extLst>
              <p:ext uri="{D42A27DB-BD31-4B8C-83A1-F6EECF244321}">
                <p14:modId xmlns:p14="http://schemas.microsoft.com/office/powerpoint/2010/main" val="1340914281"/>
              </p:ext>
            </p:extLst>
          </p:nvPr>
        </p:nvGraphicFramePr>
        <p:xfrm>
          <a:off x="1115616" y="2778724"/>
          <a:ext cx="6121400" cy="2951163"/>
        </p:xfrm>
        <a:graphic>
          <a:graphicData uri="http://schemas.openxmlformats.org/drawingml/2006/table">
            <a:tbl>
              <a:tblPr/>
              <a:tblGrid>
                <a:gridCol w="17954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09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Partenza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Totale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Arrivo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Orario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Non orario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Orario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Non orario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388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Totale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CasellaDiTesto 1">
            <a:extLst>
              <a:ext uri="{FF2B5EF4-FFF2-40B4-BE49-F238E27FC236}">
                <a16:creationId xmlns:a16="http://schemas.microsoft.com/office/drawing/2014/main" id="{E11120E9-9D64-4741-BC9A-520E238AA599}"/>
              </a:ext>
            </a:extLst>
          </p:cNvPr>
          <p:cNvSpPr txBox="1"/>
          <p:nvPr/>
        </p:nvSpPr>
        <p:spPr>
          <a:xfrm>
            <a:off x="539552" y="863193"/>
            <a:ext cx="78488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it-IT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Analizzando una lunga sequenza di osservazioni si è determinato che i treni partono in orario con una probabilità del 90% e arrivano in orario con una probabilità del 85%; inoltre l’80% parte e arriva in orario. </a:t>
            </a:r>
          </a:p>
        </p:txBody>
      </p:sp>
    </p:spTree>
    <p:extLst>
      <p:ext uri="{BB962C8B-B14F-4D97-AF65-F5344CB8AC3E}">
        <p14:creationId xmlns:p14="http://schemas.microsoft.com/office/powerpoint/2010/main" val="27644450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2"/>
          <p:cNvSpPr>
            <a:spLocks noChangeArrowheads="1"/>
          </p:cNvSpPr>
          <p:nvPr/>
        </p:nvSpPr>
        <p:spPr bwMode="auto">
          <a:xfrm>
            <a:off x="0" y="1714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endParaRPr lang="it-IT" altLang="it-IT" sz="2400">
              <a:solidFill>
                <a:srgbClr val="000000"/>
              </a:solidFill>
              <a:latin typeface="Times New Roman" pitchFamily="18" charset="0"/>
              <a:cs typeface="Arial" charset="0"/>
            </a:endParaRPr>
          </a:p>
        </p:txBody>
      </p:sp>
      <p:sp>
        <p:nvSpPr>
          <p:cNvPr id="211971" name="Rectangle 4"/>
          <p:cNvSpPr>
            <a:spLocks noChangeArrowheads="1"/>
          </p:cNvSpPr>
          <p:nvPr/>
        </p:nvSpPr>
        <p:spPr bwMode="auto">
          <a:xfrm>
            <a:off x="1907704" y="332656"/>
            <a:ext cx="792162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/>
            <a:r>
              <a:rPr lang="it-IT" b="1" dirty="0"/>
              <a:t>Probabilità e Statistica – 15 febbraio 2022</a:t>
            </a:r>
          </a:p>
        </p:txBody>
      </p:sp>
      <p:graphicFrame>
        <p:nvGraphicFramePr>
          <p:cNvPr id="264459" name="Group 267"/>
          <p:cNvGraphicFramePr>
            <a:graphicFrameLocks noGrp="1"/>
          </p:cNvGraphicFramePr>
          <p:nvPr>
            <p:ph/>
            <p:extLst/>
          </p:nvPr>
        </p:nvGraphicFramePr>
        <p:xfrm>
          <a:off x="1115616" y="2778724"/>
          <a:ext cx="6121400" cy="2951163"/>
        </p:xfrm>
        <a:graphic>
          <a:graphicData uri="http://schemas.openxmlformats.org/drawingml/2006/table">
            <a:tbl>
              <a:tblPr/>
              <a:tblGrid>
                <a:gridCol w="17954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09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Partenza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Totale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Arrivo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Orario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Non orario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Orario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80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85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Non orario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388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Totale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90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CasellaDiTesto 1">
            <a:extLst>
              <a:ext uri="{FF2B5EF4-FFF2-40B4-BE49-F238E27FC236}">
                <a16:creationId xmlns:a16="http://schemas.microsoft.com/office/drawing/2014/main" id="{E11120E9-9D64-4741-BC9A-520E238AA599}"/>
              </a:ext>
            </a:extLst>
          </p:cNvPr>
          <p:cNvSpPr txBox="1"/>
          <p:nvPr/>
        </p:nvSpPr>
        <p:spPr>
          <a:xfrm>
            <a:off x="539552" y="863193"/>
            <a:ext cx="78488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it-IT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Analizzando una lunga sequenza di osservazioni si è determinato che i treni partono in orario con una probabilità del 90% e arrivano in orario con una probabilità del 85%; inoltre l’80% parte e arriva in orario. </a:t>
            </a:r>
          </a:p>
        </p:txBody>
      </p:sp>
    </p:spTree>
    <p:extLst>
      <p:ext uri="{BB962C8B-B14F-4D97-AF65-F5344CB8AC3E}">
        <p14:creationId xmlns:p14="http://schemas.microsoft.com/office/powerpoint/2010/main" val="22440442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2"/>
          <p:cNvSpPr>
            <a:spLocks noChangeArrowheads="1"/>
          </p:cNvSpPr>
          <p:nvPr/>
        </p:nvSpPr>
        <p:spPr bwMode="auto">
          <a:xfrm>
            <a:off x="0" y="1714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endParaRPr lang="it-IT" altLang="it-IT" sz="2400">
              <a:solidFill>
                <a:srgbClr val="000000"/>
              </a:solidFill>
              <a:latin typeface="Times New Roman" pitchFamily="18" charset="0"/>
              <a:cs typeface="Arial" charset="0"/>
            </a:endParaRPr>
          </a:p>
        </p:txBody>
      </p:sp>
      <p:graphicFrame>
        <p:nvGraphicFramePr>
          <p:cNvPr id="264459" name="Group 267"/>
          <p:cNvGraphicFramePr>
            <a:graphicFrameLocks noGrp="1"/>
          </p:cNvGraphicFramePr>
          <p:nvPr>
            <p:ph/>
            <p:extLst>
              <p:ext uri="{D42A27DB-BD31-4B8C-83A1-F6EECF244321}">
                <p14:modId xmlns:p14="http://schemas.microsoft.com/office/powerpoint/2010/main" val="3697588200"/>
              </p:ext>
            </p:extLst>
          </p:nvPr>
        </p:nvGraphicFramePr>
        <p:xfrm>
          <a:off x="1511300" y="692696"/>
          <a:ext cx="6121400" cy="2951163"/>
        </p:xfrm>
        <a:graphic>
          <a:graphicData uri="http://schemas.openxmlformats.org/drawingml/2006/table">
            <a:tbl>
              <a:tblPr/>
              <a:tblGrid>
                <a:gridCol w="17954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09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Partenza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Totale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Arrivo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Orario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Non orario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Orario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80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85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Non orario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388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Totale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90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Object 2">
            <a:extLst>
              <a:ext uri="{FF2B5EF4-FFF2-40B4-BE49-F238E27FC236}">
                <a16:creationId xmlns:a16="http://schemas.microsoft.com/office/drawing/2014/main" id="{5B0306DF-0E4F-4F95-9444-7A17E6DC8C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178339"/>
              </p:ext>
            </p:extLst>
          </p:nvPr>
        </p:nvGraphicFramePr>
        <p:xfrm>
          <a:off x="971600" y="1969839"/>
          <a:ext cx="366712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4175" name="Equazione" r:id="rId4" imgW="152268" imgH="164957" progId="">
                  <p:embed/>
                </p:oleObj>
              </mc:Choice>
              <mc:Fallback>
                <p:oleObj name="Equazione" r:id="rId4" imgW="152268" imgH="164957" progId="">
                  <p:embed/>
                  <p:pic>
                    <p:nvPicPr>
                      <p:cNvPr id="512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600" y="1969839"/>
                        <a:ext cx="366712" cy="396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7">
            <a:extLst>
              <a:ext uri="{FF2B5EF4-FFF2-40B4-BE49-F238E27FC236}">
                <a16:creationId xmlns:a16="http://schemas.microsoft.com/office/drawing/2014/main" id="{033520B9-54EC-4AA2-9708-6C6414215C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3781797"/>
              </p:ext>
            </p:extLst>
          </p:nvPr>
        </p:nvGraphicFramePr>
        <p:xfrm>
          <a:off x="971600" y="2564904"/>
          <a:ext cx="398462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4176" name="Equazione" r:id="rId6" imgW="164957" imgH="190335" progId="">
                  <p:embed/>
                </p:oleObj>
              </mc:Choice>
              <mc:Fallback>
                <p:oleObj name="Equazione" r:id="rId6" imgW="164957" imgH="190335" progId="">
                  <p:embed/>
                  <p:pic>
                    <p:nvPicPr>
                      <p:cNvPr id="5123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600" y="2564904"/>
                        <a:ext cx="398462" cy="458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8">
            <a:extLst>
              <a:ext uri="{FF2B5EF4-FFF2-40B4-BE49-F238E27FC236}">
                <a16:creationId xmlns:a16="http://schemas.microsoft.com/office/drawing/2014/main" id="{644806B6-8645-496A-A4CE-CFE1F87718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2674319"/>
              </p:ext>
            </p:extLst>
          </p:nvPr>
        </p:nvGraphicFramePr>
        <p:xfrm>
          <a:off x="3923928" y="171450"/>
          <a:ext cx="366712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4177" name="Equazione" r:id="rId8" imgW="152268" imgH="164957" progId="">
                  <p:embed/>
                </p:oleObj>
              </mc:Choice>
              <mc:Fallback>
                <p:oleObj name="Equazione" r:id="rId8" imgW="152268" imgH="164957" progId="">
                  <p:embed/>
                  <p:pic>
                    <p:nvPicPr>
                      <p:cNvPr id="5124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3928" y="171450"/>
                        <a:ext cx="366712" cy="396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9">
            <a:extLst>
              <a:ext uri="{FF2B5EF4-FFF2-40B4-BE49-F238E27FC236}">
                <a16:creationId xmlns:a16="http://schemas.microsoft.com/office/drawing/2014/main" id="{0F7237C7-F6E6-4A55-ABC8-58157B4590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8786054"/>
              </p:ext>
            </p:extLst>
          </p:nvPr>
        </p:nvGraphicFramePr>
        <p:xfrm>
          <a:off x="5508104" y="141287"/>
          <a:ext cx="39846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4178" name="Equazione" r:id="rId10" imgW="164957" imgH="190335" progId="">
                  <p:embed/>
                </p:oleObj>
              </mc:Choice>
              <mc:Fallback>
                <p:oleObj name="Equazione" r:id="rId10" imgW="164957" imgH="190335" progId="">
                  <p:embed/>
                  <p:pic>
                    <p:nvPicPr>
                      <p:cNvPr id="5125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104" y="141287"/>
                        <a:ext cx="398462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tangolo 3">
            <a:extLst>
              <a:ext uri="{FF2B5EF4-FFF2-40B4-BE49-F238E27FC236}">
                <a16:creationId xmlns:a16="http://schemas.microsoft.com/office/drawing/2014/main" id="{E284C237-5A91-4144-8DEE-CFF910148936}"/>
              </a:ext>
            </a:extLst>
          </p:cNvPr>
          <p:cNvSpPr/>
          <p:nvPr/>
        </p:nvSpPr>
        <p:spPr>
          <a:xfrm>
            <a:off x="1619672" y="4088467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2400" dirty="0"/>
              <a:t>P(A)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A4F6F91A-2298-496C-BB49-A6E6F42D201C}"/>
              </a:ext>
            </a:extLst>
          </p:cNvPr>
          <p:cNvSpPr/>
          <p:nvPr/>
        </p:nvSpPr>
        <p:spPr>
          <a:xfrm>
            <a:off x="1619672" y="4653136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2400" dirty="0"/>
              <a:t>P(B)</a:t>
            </a:r>
          </a:p>
        </p:txBody>
      </p:sp>
      <p:graphicFrame>
        <p:nvGraphicFramePr>
          <p:cNvPr id="14" name="Object 4">
            <a:extLst>
              <a:ext uri="{FF2B5EF4-FFF2-40B4-BE49-F238E27FC236}">
                <a16:creationId xmlns:a16="http://schemas.microsoft.com/office/drawing/2014/main" id="{E4EAB147-8FF0-4866-8435-6B4EDCBE02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5824624"/>
              </p:ext>
            </p:extLst>
          </p:nvPr>
        </p:nvGraphicFramePr>
        <p:xfrm>
          <a:off x="1658938" y="5218113"/>
          <a:ext cx="4897437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4179" name="Equazione" r:id="rId12" imgW="2070100" imgH="215900" progId="">
                  <p:embed/>
                </p:oleObj>
              </mc:Choice>
              <mc:Fallback>
                <p:oleObj name="Equazione" r:id="rId12" imgW="2070100" imgH="215900" progId="">
                  <p:embed/>
                  <p:pic>
                    <p:nvPicPr>
                      <p:cNvPr id="512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8938" y="5218113"/>
                        <a:ext cx="4897437" cy="5080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DDE1F7"/>
                        </a:solidFill>
                        <a:miter lim="800000"/>
                        <a:headEnd/>
                        <a:tailEnd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ttangolo 4">
            <a:extLst>
              <a:ext uri="{FF2B5EF4-FFF2-40B4-BE49-F238E27FC236}">
                <a16:creationId xmlns:a16="http://schemas.microsoft.com/office/drawing/2014/main" id="{F03FB6A1-0020-4B22-8E4A-95F84554AE66}"/>
              </a:ext>
            </a:extLst>
          </p:cNvPr>
          <p:cNvSpPr/>
          <p:nvPr/>
        </p:nvSpPr>
        <p:spPr>
          <a:xfrm>
            <a:off x="3131840" y="5218113"/>
            <a:ext cx="3424535" cy="508000"/>
          </a:xfrm>
          <a:prstGeom prst="rect">
            <a:avLst/>
          </a:prstGeom>
          <a:solidFill>
            <a:srgbClr val="DDE1F7"/>
          </a:solidFill>
          <a:ln>
            <a:solidFill>
              <a:srgbClr val="DDE1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366579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ChangeArrowheads="1"/>
          </p:cNvSpPr>
          <p:nvPr/>
        </p:nvSpPr>
        <p:spPr bwMode="auto">
          <a:xfrm>
            <a:off x="468313" y="1536174"/>
            <a:ext cx="80645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 marL="609600" indent="-609600" eaLnBrk="1" hangingPunct="1">
              <a:defRPr/>
            </a:pPr>
            <a:r>
              <a:rPr lang="it-IT" sz="2400" b="1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       </a:t>
            </a:r>
            <a:r>
              <a:rPr lang="it-IT" sz="2400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Un particolare componente può presentare difetti nella forma e/o nel materiale. Il 6% dei componenti prodotti da una azienda presenta esclusivamente difetti di forma, l’8% esclusivamente nel materiale ed il 2% entrambi i tipi di difetti. Estraendo a caso un pezzo dalla produzione dell’azienda, si determini la probabilità che esso:</a:t>
            </a:r>
          </a:p>
          <a:p>
            <a:pPr marL="609600" indent="-609600" algn="just" eaLnBrk="1" hangingPunct="1">
              <a:defRPr/>
            </a:pPr>
            <a:endParaRPr lang="it-IT" sz="2400" dirty="0">
              <a:solidFill>
                <a:srgbClr val="000000"/>
              </a:solidFill>
              <a:latin typeface="Tahoma" pitchFamily="34" charset="0"/>
              <a:cs typeface="Times New Roman" pitchFamily="18" charset="0"/>
            </a:endParaRPr>
          </a:p>
          <a:p>
            <a:pPr marL="609600" indent="-609600" algn="just" eaLnBrk="1" hangingPunct="1">
              <a:buFontTx/>
              <a:buAutoNum type="romanLcPeriod"/>
              <a:defRPr/>
            </a:pPr>
            <a:r>
              <a:rPr lang="it-IT" sz="2400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non presenti alcun tipo di difetto;</a:t>
            </a:r>
          </a:p>
          <a:p>
            <a:pPr algn="just" eaLnBrk="1" hangingPunct="1">
              <a:defRPr/>
            </a:pPr>
            <a:r>
              <a:rPr lang="it-IT" sz="2400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ii.    sia difettoso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B446536-2899-4276-B4F8-08BCAFA55E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086" y="638805"/>
            <a:ext cx="687529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/>
            <a:r>
              <a:rPr lang="it-IT" b="1" dirty="0" err="1">
                <a:solidFill>
                  <a:srgbClr val="00B050"/>
                </a:solidFill>
              </a:rPr>
              <a:t>warning</a:t>
            </a:r>
            <a:r>
              <a:rPr lang="it-IT" b="1" dirty="0">
                <a:solidFill>
                  <a:srgbClr val="00B050"/>
                </a:solidFill>
              </a:rPr>
              <a:t>…riportare BENE le informazioni in forma tabellare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oup 267">
            <a:extLst>
              <a:ext uri="{FF2B5EF4-FFF2-40B4-BE49-F238E27FC236}">
                <a16:creationId xmlns:a16="http://schemas.microsoft.com/office/drawing/2014/main" id="{89A6EAA1-7F0E-4C99-BD54-BC9572CE41F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30677890"/>
              </p:ext>
            </p:extLst>
          </p:nvPr>
        </p:nvGraphicFramePr>
        <p:xfrm>
          <a:off x="1331640" y="1484784"/>
          <a:ext cx="6121400" cy="3664268"/>
        </p:xfrm>
        <a:graphic>
          <a:graphicData uri="http://schemas.openxmlformats.org/drawingml/2006/table">
            <a:tbl>
              <a:tblPr/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54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09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Totale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  <a:r>
                        <a:rPr kumimoji="0" lang="it-IT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NDF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D</a:t>
                      </a:r>
                      <a:r>
                        <a:rPr kumimoji="0" lang="it-IT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</a:t>
                      </a:r>
                    </a:p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ND</a:t>
                      </a:r>
                      <a:r>
                        <a:rPr kumimoji="0" lang="it-IT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</a:t>
                      </a:r>
                    </a:p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388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Totale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1983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ChangeArrowheads="1"/>
          </p:cNvSpPr>
          <p:nvPr/>
        </p:nvSpPr>
        <p:spPr bwMode="auto">
          <a:xfrm>
            <a:off x="210943" y="4653136"/>
            <a:ext cx="80645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 marL="609600" indent="-609600" algn="just" eaLnBrk="1" hangingPunct="1">
              <a:buFontTx/>
              <a:buAutoNum type="romanLcPeriod"/>
              <a:defRPr/>
            </a:pPr>
            <a:r>
              <a:rPr lang="it-IT" sz="2400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non presenti alcun tipo di difetto</a:t>
            </a:r>
          </a:p>
          <a:p>
            <a:pPr algn="just" eaLnBrk="1" hangingPunct="1">
              <a:defRPr/>
            </a:pPr>
            <a:endParaRPr lang="it-IT" sz="2400" dirty="0">
              <a:solidFill>
                <a:srgbClr val="000000"/>
              </a:solidFill>
              <a:latin typeface="Tahoma" pitchFamily="34" charset="0"/>
              <a:cs typeface="Times New Roman" pitchFamily="18" charset="0"/>
            </a:endParaRPr>
          </a:p>
          <a:p>
            <a:pPr marL="609600" indent="-609600" algn="just" eaLnBrk="1" hangingPunct="1">
              <a:defRPr/>
            </a:pPr>
            <a:endParaRPr lang="it-IT" sz="2400" dirty="0">
              <a:solidFill>
                <a:srgbClr val="000000"/>
              </a:solidFill>
              <a:latin typeface="Tahoma" pitchFamily="34" charset="0"/>
              <a:cs typeface="Times New Roman" pitchFamily="18" charset="0"/>
            </a:endParaRPr>
          </a:p>
        </p:txBody>
      </p:sp>
      <p:graphicFrame>
        <p:nvGraphicFramePr>
          <p:cNvPr id="717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25515"/>
              </p:ext>
            </p:extLst>
          </p:nvPr>
        </p:nvGraphicFramePr>
        <p:xfrm>
          <a:off x="765833" y="5670902"/>
          <a:ext cx="2679700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1" name="Equazione" r:id="rId3" imgW="1574117" imgH="215806" progId="">
                  <p:embed/>
                </p:oleObj>
              </mc:Choice>
              <mc:Fallback>
                <p:oleObj name="Equazione" r:id="rId3" imgW="1574117" imgH="215806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5833" y="5670902"/>
                        <a:ext cx="2679700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Group 267">
            <a:extLst>
              <a:ext uri="{FF2B5EF4-FFF2-40B4-BE49-F238E27FC236}">
                <a16:creationId xmlns:a16="http://schemas.microsoft.com/office/drawing/2014/main" id="{63A386FA-A07F-4EAB-9247-FAF83C8069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59957285"/>
              </p:ext>
            </p:extLst>
          </p:nvPr>
        </p:nvGraphicFramePr>
        <p:xfrm>
          <a:off x="2267744" y="260648"/>
          <a:ext cx="5400600" cy="3444240"/>
        </p:xfrm>
        <a:graphic>
          <a:graphicData uri="http://schemas.openxmlformats.org/drawingml/2006/table">
            <a:tbl>
              <a:tblPr/>
              <a:tblGrid>
                <a:gridCol w="13231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45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23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05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790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Totale</a:t>
                      </a:r>
                      <a:endParaRPr kumimoji="0" lang="it-IT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3147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  <a:r>
                        <a:rPr kumimoji="0" lang="it-IT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NDF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3147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D</a:t>
                      </a:r>
                      <a:r>
                        <a:rPr kumimoji="0" lang="it-IT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</a:t>
                      </a:r>
                    </a:p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3147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ND</a:t>
                      </a:r>
                      <a:r>
                        <a:rPr kumimoji="0" lang="it-IT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</a:t>
                      </a:r>
                    </a:p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90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859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Totale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92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ChangeArrowheads="1"/>
          </p:cNvSpPr>
          <p:nvPr/>
        </p:nvSpPr>
        <p:spPr bwMode="auto">
          <a:xfrm>
            <a:off x="179512" y="3570386"/>
            <a:ext cx="80645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endParaRPr lang="it-IT" sz="2400" dirty="0">
              <a:solidFill>
                <a:srgbClr val="000000"/>
              </a:solidFill>
              <a:latin typeface="Tahoma" pitchFamily="34" charset="0"/>
              <a:cs typeface="Times New Roman" pitchFamily="18" charset="0"/>
            </a:endParaRPr>
          </a:p>
          <a:p>
            <a:pPr marL="609600" indent="-609600" algn="just" eaLnBrk="1" hangingPunct="1">
              <a:defRPr/>
            </a:pPr>
            <a:endParaRPr lang="it-IT" sz="2400" dirty="0">
              <a:solidFill>
                <a:srgbClr val="000000"/>
              </a:solidFill>
              <a:latin typeface="Tahoma" pitchFamily="34" charset="0"/>
              <a:cs typeface="Times New Roman" pitchFamily="18" charset="0"/>
            </a:endParaRPr>
          </a:p>
          <a:p>
            <a:pPr algn="just" eaLnBrk="1" hangingPunct="1">
              <a:defRPr/>
            </a:pPr>
            <a:r>
              <a:rPr lang="it-IT" sz="2400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ii.    sia difettoso</a:t>
            </a:r>
          </a:p>
        </p:txBody>
      </p:sp>
      <p:graphicFrame>
        <p:nvGraphicFramePr>
          <p:cNvPr id="7172" name="Object 3"/>
          <p:cNvGraphicFramePr>
            <a:graphicFrameLocks noChangeAspect="1"/>
          </p:cNvGraphicFramePr>
          <p:nvPr>
            <p:extLst/>
          </p:nvPr>
        </p:nvGraphicFramePr>
        <p:xfrm>
          <a:off x="611560" y="5136628"/>
          <a:ext cx="8101013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7076" name="Equazione" r:id="rId3" imgW="4762500" imgH="215900" progId="">
                  <p:embed/>
                </p:oleObj>
              </mc:Choice>
              <mc:Fallback>
                <p:oleObj name="Equazione" r:id="rId3" imgW="4762500" imgH="215900" progId="">
                  <p:embed/>
                  <p:pic>
                    <p:nvPicPr>
                      <p:cNvPr id="7172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60" y="5136628"/>
                        <a:ext cx="8101013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ttangolo 1">
            <a:extLst>
              <a:ext uri="{FF2B5EF4-FFF2-40B4-BE49-F238E27FC236}">
                <a16:creationId xmlns:a16="http://schemas.microsoft.com/office/drawing/2014/main" id="{828B5FF0-3C19-45CB-AABD-F5E2CF0AFCA6}"/>
              </a:ext>
            </a:extLst>
          </p:cNvPr>
          <p:cNvSpPr/>
          <p:nvPr/>
        </p:nvSpPr>
        <p:spPr>
          <a:xfrm>
            <a:off x="899988" y="5733256"/>
            <a:ext cx="1133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2400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oppure</a:t>
            </a:r>
            <a:endParaRPr lang="it-IT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E4496EDD-2AE2-48B2-9F56-B2AFDE1ED6F5}"/>
                  </a:ext>
                </a:extLst>
              </p:cNvPr>
              <p:cNvSpPr txBox="1"/>
              <p:nvPr/>
            </p:nvSpPr>
            <p:spPr>
              <a:xfrm>
                <a:off x="2206430" y="5861351"/>
                <a:ext cx="2959913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∪</m:t>
                          </m:r>
                          <m:sSub>
                            <m:sSub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e>
                      </m:d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84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E4496EDD-2AE2-48B2-9F56-B2AFDE1ED6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6430" y="5861351"/>
                <a:ext cx="2959913" cy="5203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Group 267">
            <a:extLst>
              <a:ext uri="{FF2B5EF4-FFF2-40B4-BE49-F238E27FC236}">
                <a16:creationId xmlns:a16="http://schemas.microsoft.com/office/drawing/2014/main" id="{83A585B9-4231-4BC6-AE8C-7BB45CA905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62849413"/>
              </p:ext>
            </p:extLst>
          </p:nvPr>
        </p:nvGraphicFramePr>
        <p:xfrm>
          <a:off x="2267744" y="260648"/>
          <a:ext cx="5400600" cy="3444240"/>
        </p:xfrm>
        <a:graphic>
          <a:graphicData uri="http://schemas.openxmlformats.org/drawingml/2006/table">
            <a:tbl>
              <a:tblPr/>
              <a:tblGrid>
                <a:gridCol w="13231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45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23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05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790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Totale</a:t>
                      </a:r>
                      <a:endParaRPr kumimoji="0" lang="it-IT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3147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  <a:r>
                        <a:rPr kumimoji="0" lang="it-IT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NDF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3147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D</a:t>
                      </a:r>
                      <a:r>
                        <a:rPr kumimoji="0" lang="it-IT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</a:t>
                      </a:r>
                    </a:p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3147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ND</a:t>
                      </a:r>
                      <a:r>
                        <a:rPr kumimoji="0" lang="it-IT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</a:t>
                      </a:r>
                    </a:p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90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859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Totale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92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05091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54442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018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38" y="471488"/>
            <a:ext cx="9001125" cy="5915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ttangolo 3"/>
          <p:cNvSpPr/>
          <p:nvPr/>
        </p:nvSpPr>
        <p:spPr>
          <a:xfrm>
            <a:off x="0" y="4149725"/>
            <a:ext cx="9144000" cy="2159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it-IT" sz="2400" b="1">
              <a:solidFill>
                <a:srgbClr val="FFFFFF"/>
              </a:solidFill>
            </a:endParaRPr>
          </a:p>
        </p:txBody>
      </p:sp>
      <p:sp>
        <p:nvSpPr>
          <p:cNvPr id="5" name="Ovale 4"/>
          <p:cNvSpPr/>
          <p:nvPr/>
        </p:nvSpPr>
        <p:spPr>
          <a:xfrm>
            <a:off x="2916238" y="3213100"/>
            <a:ext cx="1584325" cy="720725"/>
          </a:xfrm>
          <a:prstGeom prst="ellipse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it-IT" sz="24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59_Struttura predefinita">
  <a:themeElements>
    <a:clrScheme name="59_Struttura predefinit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59_Struttura predefinit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59_Struttura predefinit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9_Struttura predefinita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9_Struttura predefinita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9_Struttura predefinita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9_Struttura predefinita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9_Struttura predefinita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9_Struttura predefinita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9_Struttura predefinita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9_Struttura predefinita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9_Struttura predefinita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9_Struttura predefinita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9_Struttura predefinita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Struttura predefinita">
  <a:themeElements>
    <a:clrScheme name="Struttura predefinita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ruttura predefinita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prstShdw prst="shdw17" dist="17961" dir="2700000">
            <a:schemeClr val="accent1">
              <a:gamma/>
              <a:shade val="60000"/>
              <a:invGamma/>
            </a:schemeClr>
          </a:prstShdw>
        </a:effec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prstShdw prst="shdw17" dist="17961" dir="2700000">
            <a:schemeClr val="accent1">
              <a:gamma/>
              <a:shade val="60000"/>
              <a:invGamma/>
            </a:schemeClr>
          </a:prstShdw>
        </a:effec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Struttura predefinita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Struttura predefinita">
  <a:themeElements>
    <a:clrScheme name="1_Struttura predefinita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Struttura predefinita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Struttura predefinita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truttura predefinita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ruttura predefinita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ruttura predefinita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ruttura predefinit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ruttura predefinit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ruttura predefinit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0_Struttura predefinita">
  <a:themeElements>
    <a:clrScheme name="1_Struttura predefinita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Struttura predefinita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Struttura predefinita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truttura predefinita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ruttura predefinita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ruttura predefinita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ruttura predefinit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ruttura predefinit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ruttura predefinit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61_Struttura predefinita">
  <a:themeElements>
    <a:clrScheme name="58_Struttura predefinita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58_Struttura predefinita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58_Struttura predefinita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8_Struttura predefinita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8_Struttura predefinita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8_Struttura predefinita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8_Struttura predefinit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8_Struttura predefinit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8_Struttura predefinit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12_Struttura predefinita">
  <a:themeElements>
    <a:clrScheme name="Struttura predefinita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ruttura predefinita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ruttura predefinita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2263</TotalTime>
  <Words>617</Words>
  <Application>Microsoft Office PowerPoint</Application>
  <PresentationFormat>Presentazione su schermo (4:3)</PresentationFormat>
  <Paragraphs>143</Paragraphs>
  <Slides>36</Slides>
  <Notes>5</Notes>
  <HiddenSlides>0</HiddenSlides>
  <MMClips>0</MMClips>
  <ScaleCrop>false</ScaleCrop>
  <HeadingPairs>
    <vt:vector size="8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6</vt:i4>
      </vt:variant>
      <vt:variant>
        <vt:lpstr>Server OLE incorporati</vt:lpstr>
      </vt:variant>
      <vt:variant>
        <vt:i4>2</vt:i4>
      </vt:variant>
      <vt:variant>
        <vt:lpstr>Titoli diapositive</vt:lpstr>
      </vt:variant>
      <vt:variant>
        <vt:i4>36</vt:i4>
      </vt:variant>
    </vt:vector>
  </HeadingPairs>
  <TitlesOfParts>
    <vt:vector size="49" baseType="lpstr">
      <vt:lpstr>Arial</vt:lpstr>
      <vt:lpstr>Calibri</vt:lpstr>
      <vt:lpstr>Cambria Math</vt:lpstr>
      <vt:lpstr>Tahoma</vt:lpstr>
      <vt:lpstr>Times New Roman</vt:lpstr>
      <vt:lpstr>59_Struttura predefinita</vt:lpstr>
      <vt:lpstr>2_Struttura predefinita</vt:lpstr>
      <vt:lpstr>3_Struttura predefinita</vt:lpstr>
      <vt:lpstr>10_Struttura predefinita</vt:lpstr>
      <vt:lpstr>61_Struttura predefinita</vt:lpstr>
      <vt:lpstr>12_Struttura predefinita</vt:lpstr>
      <vt:lpstr>Equation</vt:lpstr>
      <vt:lpstr>Equazione</vt:lpstr>
      <vt:lpstr>Introduzione alla probabilità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Il “problema dei compleanni”</vt:lpstr>
      <vt:lpstr>Il “problema dei compleanni”</vt:lpstr>
      <vt:lpstr>Il “problema dei compleanni”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Utente UNITN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rocco.micciolo</dc:creator>
  <cp:lastModifiedBy>Canal Luisa</cp:lastModifiedBy>
  <cp:revision>309</cp:revision>
  <cp:lastPrinted>2018-12-13T07:16:45Z</cp:lastPrinted>
  <dcterms:created xsi:type="dcterms:W3CDTF">2010-02-03T14:41:20Z</dcterms:created>
  <dcterms:modified xsi:type="dcterms:W3CDTF">2026-02-19T13:02:50Z</dcterms:modified>
</cp:coreProperties>
</file>