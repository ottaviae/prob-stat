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3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4.xml" ContentType="application/vnd.openxmlformats-officedocument.theme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7.xml" ContentType="application/vnd.openxmlformats-officedocument.theme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29" r:id="rId1"/>
    <p:sldMasterId id="2147483941" r:id="rId2"/>
    <p:sldMasterId id="2147483955" r:id="rId3"/>
    <p:sldMasterId id="2147485318" r:id="rId4"/>
    <p:sldMasterId id="2147485319" r:id="rId5"/>
    <p:sldMasterId id="2147486179" r:id="rId6"/>
    <p:sldMasterId id="2147486907" r:id="rId7"/>
    <p:sldMasterId id="2147489088" r:id="rId8"/>
  </p:sldMasterIdLst>
  <p:notesMasterIdLst>
    <p:notesMasterId r:id="rId81"/>
  </p:notesMasterIdLst>
  <p:sldIdLst>
    <p:sldId id="655" r:id="rId9"/>
    <p:sldId id="760" r:id="rId10"/>
    <p:sldId id="530" r:id="rId11"/>
    <p:sldId id="764" r:id="rId12"/>
    <p:sldId id="765" r:id="rId13"/>
    <p:sldId id="766" r:id="rId14"/>
    <p:sldId id="767" r:id="rId15"/>
    <p:sldId id="773" r:id="rId16"/>
    <p:sldId id="774" r:id="rId17"/>
    <p:sldId id="775" r:id="rId18"/>
    <p:sldId id="777" r:id="rId19"/>
    <p:sldId id="778" r:id="rId20"/>
    <p:sldId id="776" r:id="rId21"/>
    <p:sldId id="779" r:id="rId22"/>
    <p:sldId id="277" r:id="rId23"/>
    <p:sldId id="536" r:id="rId24"/>
    <p:sldId id="703" r:id="rId25"/>
    <p:sldId id="704" r:id="rId26"/>
    <p:sldId id="706" r:id="rId27"/>
    <p:sldId id="769" r:id="rId28"/>
    <p:sldId id="707" r:id="rId29"/>
    <p:sldId id="708" r:id="rId30"/>
    <p:sldId id="709" r:id="rId31"/>
    <p:sldId id="293" r:id="rId32"/>
    <p:sldId id="294" r:id="rId33"/>
    <p:sldId id="295" r:id="rId34"/>
    <p:sldId id="297" r:id="rId35"/>
    <p:sldId id="785" r:id="rId36"/>
    <p:sldId id="784" r:id="rId37"/>
    <p:sldId id="299" r:id="rId38"/>
    <p:sldId id="307" r:id="rId39"/>
    <p:sldId id="786" r:id="rId40"/>
    <p:sldId id="787" r:id="rId41"/>
    <p:sldId id="789" r:id="rId42"/>
    <p:sldId id="788" r:id="rId43"/>
    <p:sldId id="790" r:id="rId44"/>
    <p:sldId id="604" r:id="rId45"/>
    <p:sldId id="543" r:id="rId46"/>
    <p:sldId id="545" r:id="rId47"/>
    <p:sldId id="546" r:id="rId48"/>
    <p:sldId id="547" r:id="rId49"/>
    <p:sldId id="780" r:id="rId50"/>
    <p:sldId id="548" r:id="rId51"/>
    <p:sldId id="781" r:id="rId52"/>
    <p:sldId id="690" r:id="rId53"/>
    <p:sldId id="691" r:id="rId54"/>
    <p:sldId id="692" r:id="rId55"/>
    <p:sldId id="601" r:id="rId56"/>
    <p:sldId id="783" r:id="rId57"/>
    <p:sldId id="553" r:id="rId58"/>
    <p:sldId id="554" r:id="rId59"/>
    <p:sldId id="770" r:id="rId60"/>
    <p:sldId id="555" r:id="rId61"/>
    <p:sldId id="556" r:id="rId62"/>
    <p:sldId id="557" r:id="rId63"/>
    <p:sldId id="558" r:id="rId64"/>
    <p:sldId id="771" r:id="rId65"/>
    <p:sldId id="559" r:id="rId66"/>
    <p:sldId id="772" r:id="rId67"/>
    <p:sldId id="560" r:id="rId68"/>
    <p:sldId id="561" r:id="rId69"/>
    <p:sldId id="562" r:id="rId70"/>
    <p:sldId id="563" r:id="rId71"/>
    <p:sldId id="654" r:id="rId72"/>
    <p:sldId id="702" r:id="rId73"/>
    <p:sldId id="695" r:id="rId74"/>
    <p:sldId id="696" r:id="rId75"/>
    <p:sldId id="697" r:id="rId76"/>
    <p:sldId id="698" r:id="rId77"/>
    <p:sldId id="782" r:id="rId78"/>
    <p:sldId id="699" r:id="rId79"/>
    <p:sldId id="701" r:id="rId80"/>
  </p:sldIdLst>
  <p:sldSz cx="9144000" cy="6858000" type="screen4x3"/>
  <p:notesSz cx="7099300" cy="10234613"/>
  <p:defaultTextStyle>
    <a:defPPr>
      <a:defRPr lang="it-I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anal Luisa" initials="CL" lastIdx="1" clrIdx="0">
    <p:extLst>
      <p:ext uri="{19B8F6BF-5375-455C-9EA6-DF929625EA0E}">
        <p15:presenceInfo xmlns:p15="http://schemas.microsoft.com/office/powerpoint/2012/main" userId="Canal Luis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E1E1F7"/>
    <a:srgbClr val="DBDBF5"/>
    <a:srgbClr val="D1D1F3"/>
    <a:srgbClr val="EFEFFB"/>
    <a:srgbClr val="D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napVertSplitter="1" vertBarState="minimized" horzBarState="maximized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1819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3629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8.xml"/><Relationship Id="rId21" Type="http://schemas.openxmlformats.org/officeDocument/2006/relationships/slide" Target="slides/slide13.xml"/><Relationship Id="rId42" Type="http://schemas.openxmlformats.org/officeDocument/2006/relationships/slide" Target="slides/slide34.xml"/><Relationship Id="rId47" Type="http://schemas.openxmlformats.org/officeDocument/2006/relationships/slide" Target="slides/slide39.xml"/><Relationship Id="rId63" Type="http://schemas.openxmlformats.org/officeDocument/2006/relationships/slide" Target="slides/slide55.xml"/><Relationship Id="rId68" Type="http://schemas.openxmlformats.org/officeDocument/2006/relationships/slide" Target="slides/slide60.xml"/><Relationship Id="rId84" Type="http://schemas.openxmlformats.org/officeDocument/2006/relationships/viewProps" Target="viewProps.xml"/><Relationship Id="rId16" Type="http://schemas.openxmlformats.org/officeDocument/2006/relationships/slide" Target="slides/slide8.xml"/><Relationship Id="rId11" Type="http://schemas.openxmlformats.org/officeDocument/2006/relationships/slide" Target="slides/slide3.xml"/><Relationship Id="rId32" Type="http://schemas.openxmlformats.org/officeDocument/2006/relationships/slide" Target="slides/slide24.xml"/><Relationship Id="rId37" Type="http://schemas.openxmlformats.org/officeDocument/2006/relationships/slide" Target="slides/slide29.xml"/><Relationship Id="rId53" Type="http://schemas.openxmlformats.org/officeDocument/2006/relationships/slide" Target="slides/slide45.xml"/><Relationship Id="rId58" Type="http://schemas.openxmlformats.org/officeDocument/2006/relationships/slide" Target="slides/slide50.xml"/><Relationship Id="rId74" Type="http://schemas.openxmlformats.org/officeDocument/2006/relationships/slide" Target="slides/slide66.xml"/><Relationship Id="rId79" Type="http://schemas.openxmlformats.org/officeDocument/2006/relationships/slide" Target="slides/slide71.xml"/><Relationship Id="rId5" Type="http://schemas.openxmlformats.org/officeDocument/2006/relationships/slideMaster" Target="slideMasters/slideMaster5.xml"/><Relationship Id="rId19" Type="http://schemas.openxmlformats.org/officeDocument/2006/relationships/slide" Target="slides/slide1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Relationship Id="rId43" Type="http://schemas.openxmlformats.org/officeDocument/2006/relationships/slide" Target="slides/slide35.xml"/><Relationship Id="rId48" Type="http://schemas.openxmlformats.org/officeDocument/2006/relationships/slide" Target="slides/slide40.xml"/><Relationship Id="rId56" Type="http://schemas.openxmlformats.org/officeDocument/2006/relationships/slide" Target="slides/slide48.xml"/><Relationship Id="rId64" Type="http://schemas.openxmlformats.org/officeDocument/2006/relationships/slide" Target="slides/slide56.xml"/><Relationship Id="rId69" Type="http://schemas.openxmlformats.org/officeDocument/2006/relationships/slide" Target="slides/slide61.xml"/><Relationship Id="rId77" Type="http://schemas.openxmlformats.org/officeDocument/2006/relationships/slide" Target="slides/slide69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43.xml"/><Relationship Id="rId72" Type="http://schemas.openxmlformats.org/officeDocument/2006/relationships/slide" Target="slides/slide64.xml"/><Relationship Id="rId80" Type="http://schemas.openxmlformats.org/officeDocument/2006/relationships/slide" Target="slides/slide72.xml"/><Relationship Id="rId85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slide" Target="slides/slide30.xml"/><Relationship Id="rId46" Type="http://schemas.openxmlformats.org/officeDocument/2006/relationships/slide" Target="slides/slide38.xml"/><Relationship Id="rId59" Type="http://schemas.openxmlformats.org/officeDocument/2006/relationships/slide" Target="slides/slide51.xml"/><Relationship Id="rId67" Type="http://schemas.openxmlformats.org/officeDocument/2006/relationships/slide" Target="slides/slide59.xml"/><Relationship Id="rId20" Type="http://schemas.openxmlformats.org/officeDocument/2006/relationships/slide" Target="slides/slide12.xml"/><Relationship Id="rId41" Type="http://schemas.openxmlformats.org/officeDocument/2006/relationships/slide" Target="slides/slide33.xml"/><Relationship Id="rId54" Type="http://schemas.openxmlformats.org/officeDocument/2006/relationships/slide" Target="slides/slide46.xml"/><Relationship Id="rId62" Type="http://schemas.openxmlformats.org/officeDocument/2006/relationships/slide" Target="slides/slide54.xml"/><Relationship Id="rId70" Type="http://schemas.openxmlformats.org/officeDocument/2006/relationships/slide" Target="slides/slide62.xml"/><Relationship Id="rId75" Type="http://schemas.openxmlformats.org/officeDocument/2006/relationships/slide" Target="slides/slide67.xml"/><Relationship Id="rId83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49" Type="http://schemas.openxmlformats.org/officeDocument/2006/relationships/slide" Target="slides/slide41.xml"/><Relationship Id="rId57" Type="http://schemas.openxmlformats.org/officeDocument/2006/relationships/slide" Target="slides/slide49.xml"/><Relationship Id="rId10" Type="http://schemas.openxmlformats.org/officeDocument/2006/relationships/slide" Target="slides/slide2.xml"/><Relationship Id="rId31" Type="http://schemas.openxmlformats.org/officeDocument/2006/relationships/slide" Target="slides/slide23.xml"/><Relationship Id="rId44" Type="http://schemas.openxmlformats.org/officeDocument/2006/relationships/slide" Target="slides/slide36.xml"/><Relationship Id="rId52" Type="http://schemas.openxmlformats.org/officeDocument/2006/relationships/slide" Target="slides/slide44.xml"/><Relationship Id="rId60" Type="http://schemas.openxmlformats.org/officeDocument/2006/relationships/slide" Target="slides/slide52.xml"/><Relationship Id="rId65" Type="http://schemas.openxmlformats.org/officeDocument/2006/relationships/slide" Target="slides/slide57.xml"/><Relationship Id="rId73" Type="http://schemas.openxmlformats.org/officeDocument/2006/relationships/slide" Target="slides/slide65.xml"/><Relationship Id="rId78" Type="http://schemas.openxmlformats.org/officeDocument/2006/relationships/slide" Target="slides/slide70.xml"/><Relationship Id="rId81" Type="http://schemas.openxmlformats.org/officeDocument/2006/relationships/notesMaster" Target="notesMasters/notesMaster1.xml"/><Relationship Id="rId86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39" Type="http://schemas.openxmlformats.org/officeDocument/2006/relationships/slide" Target="slides/slide31.xml"/><Relationship Id="rId34" Type="http://schemas.openxmlformats.org/officeDocument/2006/relationships/slide" Target="slides/slide26.xml"/><Relationship Id="rId50" Type="http://schemas.openxmlformats.org/officeDocument/2006/relationships/slide" Target="slides/slide42.xml"/><Relationship Id="rId55" Type="http://schemas.openxmlformats.org/officeDocument/2006/relationships/slide" Target="slides/slide47.xml"/><Relationship Id="rId76" Type="http://schemas.openxmlformats.org/officeDocument/2006/relationships/slide" Target="slides/slide68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63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1.xml"/><Relationship Id="rId24" Type="http://schemas.openxmlformats.org/officeDocument/2006/relationships/slide" Target="slides/slide16.xml"/><Relationship Id="rId40" Type="http://schemas.openxmlformats.org/officeDocument/2006/relationships/slide" Target="slides/slide32.xml"/><Relationship Id="rId45" Type="http://schemas.openxmlformats.org/officeDocument/2006/relationships/slide" Target="slides/slide37.xml"/><Relationship Id="rId66" Type="http://schemas.openxmlformats.org/officeDocument/2006/relationships/slide" Target="slides/slide58.xml"/><Relationship Id="rId61" Type="http://schemas.openxmlformats.org/officeDocument/2006/relationships/slide" Target="slides/slide53.xml"/><Relationship Id="rId82" Type="http://schemas.openxmlformats.org/officeDocument/2006/relationships/commentAuthors" Target="commentAuthor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58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wmf"/><Relationship Id="rId1" Type="http://schemas.openxmlformats.org/officeDocument/2006/relationships/image" Target="../media/image5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1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63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67.wmf"/><Relationship Id="rId2" Type="http://schemas.openxmlformats.org/officeDocument/2006/relationships/image" Target="../media/image66.wmf"/><Relationship Id="rId1" Type="http://schemas.openxmlformats.org/officeDocument/2006/relationships/image" Target="../media/image65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69.wmf"/><Relationship Id="rId1" Type="http://schemas.openxmlformats.org/officeDocument/2006/relationships/image" Target="../media/image68.w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71.wmf"/><Relationship Id="rId1" Type="http://schemas.openxmlformats.org/officeDocument/2006/relationships/image" Target="../media/image70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76.wmf"/><Relationship Id="rId1" Type="http://schemas.openxmlformats.org/officeDocument/2006/relationships/image" Target="../media/image75.w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image" Target="../media/image78.wmf"/><Relationship Id="rId1" Type="http://schemas.openxmlformats.org/officeDocument/2006/relationships/image" Target="../media/image77.wmf"/><Relationship Id="rId6" Type="http://schemas.openxmlformats.org/officeDocument/2006/relationships/image" Target="../media/image82.wmf"/><Relationship Id="rId5" Type="http://schemas.openxmlformats.org/officeDocument/2006/relationships/image" Target="../media/image81.wmf"/><Relationship Id="rId4" Type="http://schemas.openxmlformats.org/officeDocument/2006/relationships/image" Target="../media/image8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259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noProof="0"/>
              <a:t>Fare clic per modificare gli stili del testo dello schema</a:t>
            </a:r>
          </a:p>
          <a:p>
            <a:pPr lvl="1"/>
            <a:r>
              <a:rPr lang="it-IT" noProof="0"/>
              <a:t>Secondo livello</a:t>
            </a:r>
          </a:p>
          <a:p>
            <a:pPr lvl="2"/>
            <a:r>
              <a:rPr lang="it-IT" noProof="0"/>
              <a:t>Terzo livello</a:t>
            </a:r>
          </a:p>
          <a:p>
            <a:pPr lvl="3"/>
            <a:r>
              <a:rPr lang="it-IT" noProof="0"/>
              <a:t>Quarto livello</a:t>
            </a:r>
          </a:p>
          <a:p>
            <a:pPr lvl="4"/>
            <a:r>
              <a:rPr lang="it-IT" noProof="0"/>
              <a:t>Quinto livello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/>
            </a:lvl1pPr>
          </a:lstStyle>
          <a:p>
            <a:pPr>
              <a:defRPr/>
            </a:pPr>
            <a:fld id="{D3F232C2-4805-4C63-BE6F-C5592EC8195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63EB78AF-73F2-4999-A5FC-FF32419D27D7}" type="slidenum">
              <a:rPr lang="it-IT" altLang="it-IT" sz="1200" smtClean="0">
                <a:solidFill>
                  <a:srgbClr val="000000"/>
                </a:solidFill>
                <a:latin typeface="Times New Roman" pitchFamily="18" charset="0"/>
                <a:cs typeface="Arial" charset="0"/>
              </a:rPr>
              <a:pPr defTabSz="908050"/>
              <a:t>2</a:t>
            </a:fld>
            <a:endParaRPr lang="it-IT" altLang="it-IT" sz="12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63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41363"/>
            <a:ext cx="4933950" cy="3700462"/>
          </a:xfrm>
          <a:ln/>
        </p:spPr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41866762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63EB78AF-73F2-4999-A5FC-FF32419D27D7}" type="slidenum">
              <a:rPr lang="it-IT" altLang="it-IT" sz="1200" smtClean="0">
                <a:solidFill>
                  <a:srgbClr val="000000"/>
                </a:solidFill>
                <a:latin typeface="Times New Roman" pitchFamily="18" charset="0"/>
                <a:cs typeface="Arial" charset="0"/>
              </a:rPr>
              <a:pPr defTabSz="908050"/>
              <a:t>4</a:t>
            </a:fld>
            <a:endParaRPr lang="it-IT" altLang="it-IT" sz="12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63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41363"/>
            <a:ext cx="4933950" cy="3700462"/>
          </a:xfrm>
          <a:ln/>
        </p:spPr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77590189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63EB78AF-73F2-4999-A5FC-FF32419D27D7}" type="slidenum">
              <a:rPr lang="it-IT" altLang="it-IT" sz="1200" smtClean="0">
                <a:solidFill>
                  <a:srgbClr val="000000"/>
                </a:solidFill>
                <a:latin typeface="Times New Roman" pitchFamily="18" charset="0"/>
                <a:cs typeface="Arial" charset="0"/>
              </a:rPr>
              <a:pPr defTabSz="908050"/>
              <a:t>5</a:t>
            </a:fld>
            <a:endParaRPr lang="it-IT" altLang="it-IT" sz="12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63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41363"/>
            <a:ext cx="4933950" cy="3700462"/>
          </a:xfrm>
          <a:ln/>
        </p:spPr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1497765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63EB78AF-73F2-4999-A5FC-FF32419D27D7}" type="slidenum">
              <a:rPr lang="it-IT" altLang="it-IT" sz="1200" smtClean="0">
                <a:solidFill>
                  <a:srgbClr val="000000"/>
                </a:solidFill>
                <a:latin typeface="Times New Roman" pitchFamily="18" charset="0"/>
                <a:cs typeface="Arial" charset="0"/>
              </a:rPr>
              <a:pPr defTabSz="908050"/>
              <a:t>6</a:t>
            </a:fld>
            <a:endParaRPr lang="it-IT" altLang="it-IT" sz="12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63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41363"/>
            <a:ext cx="4933950" cy="3700462"/>
          </a:xfrm>
          <a:ln/>
        </p:spPr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39951680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08050"/>
            <a:fld id="{63EB78AF-73F2-4999-A5FC-FF32419D27D7}" type="slidenum">
              <a:rPr lang="it-IT" altLang="it-IT" sz="1200" smtClean="0">
                <a:solidFill>
                  <a:srgbClr val="000000"/>
                </a:solidFill>
                <a:latin typeface="Times New Roman" pitchFamily="18" charset="0"/>
                <a:cs typeface="Arial" charset="0"/>
              </a:rPr>
              <a:pPr defTabSz="908050"/>
              <a:t>7</a:t>
            </a:fld>
            <a:endParaRPr lang="it-IT" altLang="it-IT" sz="12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63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04875" y="741363"/>
            <a:ext cx="4933950" cy="3700462"/>
          </a:xfrm>
          <a:ln/>
        </p:spPr>
      </p:sp>
      <p:sp>
        <p:nvSpPr>
          <p:cNvPr id="263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n-US" altLang="it-IT"/>
          </a:p>
        </p:txBody>
      </p:sp>
    </p:spTree>
    <p:extLst>
      <p:ext uri="{BB962C8B-B14F-4D97-AF65-F5344CB8AC3E}">
        <p14:creationId xmlns:p14="http://schemas.microsoft.com/office/powerpoint/2010/main" val="9536350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314" name="Rectangle 7"/>
          <p:cNvSpPr txBox="1">
            <a:spLocks noGrp="1"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84" tIns="47442" rIns="94884" bIns="47442" anchor="b"/>
          <a:lstStyle/>
          <a:p>
            <a:pPr algn="r" defTabSz="946150" eaLnBrk="1" hangingPunct="1"/>
            <a:fld id="{9F289DDF-3C63-4A56-A209-1A1C7AC1DAE1}" type="slidenum">
              <a:rPr lang="it-IT" altLang="it-IT" sz="1300">
                <a:solidFill>
                  <a:srgbClr val="000000"/>
                </a:solidFill>
                <a:latin typeface="Times New Roman" pitchFamily="18" charset="0"/>
              </a:rPr>
              <a:pPr algn="r" defTabSz="946150" eaLnBrk="1" hangingPunct="1"/>
              <a:t>16</a:t>
            </a:fld>
            <a:endParaRPr lang="it-IT" altLang="it-IT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693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93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338" name="Rectangle 7"/>
          <p:cNvSpPr txBox="1">
            <a:spLocks noGrp="1"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84" tIns="47442" rIns="94884" bIns="47442" anchor="b"/>
          <a:lstStyle/>
          <a:p>
            <a:pPr algn="r" defTabSz="946150" eaLnBrk="1" hangingPunct="1"/>
            <a:fld id="{4C1A6B8A-9DC7-4259-A244-8610F70CA142}" type="slidenum">
              <a:rPr lang="it-IT" altLang="it-IT" sz="1300">
                <a:solidFill>
                  <a:srgbClr val="000000"/>
                </a:solidFill>
                <a:latin typeface="Times New Roman" pitchFamily="18" charset="0"/>
              </a:rPr>
              <a:pPr algn="r" defTabSz="946150" eaLnBrk="1" hangingPunct="1"/>
              <a:t>39</a:t>
            </a:fld>
            <a:endParaRPr lang="it-IT" altLang="it-IT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70339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0340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46150"/>
            <a:fld id="{E631F007-3AFA-4968-A78E-D8F7894D8AE6}" type="slidenum">
              <a:rPr lang="it-IT" altLang="it-IT" smtClean="0">
                <a:solidFill>
                  <a:srgbClr val="000000"/>
                </a:solidFill>
              </a:rPr>
              <a:pPr defTabSz="946150"/>
              <a:t>41</a:t>
            </a:fld>
            <a:endParaRPr lang="it-IT" altLang="it-IT">
              <a:solidFill>
                <a:srgbClr val="000000"/>
              </a:solidFill>
            </a:endParaRPr>
          </a:p>
        </p:txBody>
      </p:sp>
      <p:sp>
        <p:nvSpPr>
          <p:cNvPr id="271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1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46150"/>
            <a:fld id="{E631F007-3AFA-4968-A78E-D8F7894D8AE6}" type="slidenum">
              <a:rPr lang="it-IT" altLang="it-IT" smtClean="0">
                <a:solidFill>
                  <a:srgbClr val="000000"/>
                </a:solidFill>
              </a:rPr>
              <a:pPr defTabSz="946150"/>
              <a:t>42</a:t>
            </a:fld>
            <a:endParaRPr lang="it-IT" altLang="it-IT">
              <a:solidFill>
                <a:srgbClr val="000000"/>
              </a:solidFill>
            </a:endParaRPr>
          </a:p>
        </p:txBody>
      </p:sp>
      <p:sp>
        <p:nvSpPr>
          <p:cNvPr id="271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1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5407380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46150"/>
            <a:fld id="{10A7AD78-6EB7-4468-BFDC-1A949271E32D}" type="slidenum">
              <a:rPr lang="it-IT" altLang="it-IT" smtClean="0">
                <a:solidFill>
                  <a:srgbClr val="000000"/>
                </a:solidFill>
              </a:rPr>
              <a:pPr defTabSz="946150"/>
              <a:t>43</a:t>
            </a:fld>
            <a:endParaRPr lang="it-IT" altLang="it-IT">
              <a:solidFill>
                <a:srgbClr val="000000"/>
              </a:solidFill>
            </a:endParaRPr>
          </a:p>
        </p:txBody>
      </p:sp>
      <p:sp>
        <p:nvSpPr>
          <p:cNvPr id="272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pPr defTabSz="946150"/>
            <a:fld id="{10A7AD78-6EB7-4468-BFDC-1A949271E32D}" type="slidenum">
              <a:rPr lang="it-IT" altLang="it-IT" smtClean="0">
                <a:solidFill>
                  <a:srgbClr val="000000"/>
                </a:solidFill>
              </a:rPr>
              <a:pPr defTabSz="946150"/>
              <a:t>44</a:t>
            </a:fld>
            <a:endParaRPr lang="it-IT" altLang="it-IT">
              <a:solidFill>
                <a:srgbClr val="000000"/>
              </a:solidFill>
            </a:endParaRPr>
          </a:p>
        </p:txBody>
      </p:sp>
      <p:sp>
        <p:nvSpPr>
          <p:cNvPr id="2723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23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8659659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410" name="Rectangle 7"/>
          <p:cNvSpPr txBox="1">
            <a:spLocks noGrp="1"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9048" tIns="49524" rIns="99048" bIns="49524" anchor="b"/>
          <a:lstStyle/>
          <a:p>
            <a:pPr algn="r" defTabSz="946150" eaLnBrk="1" hangingPunct="1"/>
            <a:fld id="{22C6F74E-0D46-4219-B3DA-A21D0AB85081}" type="slidenum">
              <a:rPr lang="it-IT" altLang="it-IT" sz="1300">
                <a:solidFill>
                  <a:srgbClr val="000000"/>
                </a:solidFill>
              </a:rPr>
              <a:pPr algn="r" defTabSz="946150" eaLnBrk="1" hangingPunct="1"/>
              <a:t>66</a:t>
            </a:fld>
            <a:endParaRPr lang="it-IT" altLang="it-IT" sz="1300">
              <a:solidFill>
                <a:srgbClr val="000000"/>
              </a:solidFill>
            </a:endParaRPr>
          </a:p>
        </p:txBody>
      </p:sp>
      <p:sp>
        <p:nvSpPr>
          <p:cNvPr id="273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ln/>
        </p:spPr>
      </p:sp>
      <p:sp>
        <p:nvSpPr>
          <p:cNvPr id="273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altLang="it-IT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434" name="Rectangle 7"/>
          <p:cNvSpPr txBox="1">
            <a:spLocks noGrp="1"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84" tIns="47442" rIns="94884" bIns="47442" anchor="b"/>
          <a:lstStyle/>
          <a:p>
            <a:pPr algn="r" defTabSz="946150" eaLnBrk="1" hangingPunct="1"/>
            <a:fld id="{7E3C0F85-E331-447A-B404-B83004F454CF}" type="slidenum">
              <a:rPr lang="it-IT" altLang="it-IT" sz="1300">
                <a:solidFill>
                  <a:srgbClr val="000000"/>
                </a:solidFill>
                <a:latin typeface="Times New Roman" pitchFamily="18" charset="0"/>
              </a:rPr>
              <a:pPr algn="r" defTabSz="946150" eaLnBrk="1" hangingPunct="1"/>
              <a:t>68</a:t>
            </a:fld>
            <a:endParaRPr lang="it-IT" altLang="it-IT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74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4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7"/>
          <p:cNvSpPr txBox="1">
            <a:spLocks noGrp="1" noChangeArrowheads="1"/>
          </p:cNvSpPr>
          <p:nvPr/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4884" tIns="47442" rIns="94884" bIns="47442" anchor="b"/>
          <a:lstStyle/>
          <a:p>
            <a:pPr algn="r" defTabSz="946150" eaLnBrk="1" hangingPunct="1"/>
            <a:fld id="{D0BDB7CF-60ED-4874-979C-5D9C79917F3B}" type="slidenum">
              <a:rPr lang="it-IT" altLang="it-IT" sz="1300">
                <a:solidFill>
                  <a:srgbClr val="000000"/>
                </a:solidFill>
                <a:latin typeface="Times New Roman" pitchFamily="18" charset="0"/>
              </a:rPr>
              <a:pPr algn="r" defTabSz="946150" eaLnBrk="1" hangingPunct="1"/>
              <a:t>69</a:t>
            </a:fld>
            <a:endParaRPr lang="it-IT" altLang="it-IT" sz="13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75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5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it-IT" altLang="it-IT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6E687BD7-B643-4C16-AF4A-28C7858CE5A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5C0CF2CE-3719-4822-939C-A8DDEE8FAB7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A5E0A877-E0DC-4D27-8086-1236EB2F21B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3A0E1660-0860-465F-92CD-A90C0C79CF5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94E8F6CF-8CE7-4D01-9C68-703184F26C3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5629D129-A2AA-42CE-B15C-13952AB4A2D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FFC8BB2C-413E-418B-8281-F281BA573C8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6A908FFA-B919-4658-B8BA-B818A5B95C1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39C18CEE-0F1D-46B8-8C8C-E30F59F93E1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C68D6B2F-CF29-45E8-A780-3A7EB189C21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algn="l">
              <a:defRPr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charset="0"/>
              </a:defRPr>
            </a:lvl1pPr>
          </a:lstStyle>
          <a:p>
            <a:pPr>
              <a:defRPr/>
            </a:pPr>
            <a:fld id="{E2416085-98C5-41B2-997B-16B107CC9D1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fld id="{90AB7823-88DD-4729-8AB9-DA5A509C80E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fld id="{44FA5259-049B-4620-98E9-62D884D3379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fld id="{B228222F-23DA-4746-AC62-E9E344B82E9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fld id="{743197B1-864F-4815-8038-E947AB7722C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fld id="{2FFD8BA8-4945-41E4-BF89-830E027F73E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fld id="{00B3AC92-AC61-48FD-9FE9-EB2A65E9068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fld id="{E06D5BAA-28AE-412D-987E-210B12CA19D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fld id="{EC818E28-2620-49D2-9DA7-A31EEEF8355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fld id="{5BDE7DEE-0CD8-4C21-884F-EF8BDD8B677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fld id="{A74BDD1A-8B86-4A0C-B5EC-F70AB35985A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charset="0"/>
              </a:defRPr>
            </a:lvl1pPr>
          </a:lstStyle>
          <a:p>
            <a:pPr>
              <a:defRPr/>
            </a:pPr>
            <a:fld id="{B9E67DE1-23C3-4601-9897-40B848318A3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59B10B0F-9E5C-44C1-A493-B44D681CDD8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40C2C4BA-0E9D-46B5-9C1E-19EF282BA1F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438779BE-63EC-4172-BC95-5006E5A898E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ABBB9278-C719-4817-A46B-B9F6724CC8B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4C11CF07-046E-4CF5-898E-1693A309C65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1347D966-78CC-421C-BE05-0DB258F89CE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340716A9-76E9-4336-9D57-9560FEE1046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25A31FEE-F4D5-4E9D-9548-797B03EA0EC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3F15A5DF-3C22-45F8-977B-54AC9BAB02F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0453082-A418-401D-BB1D-BD9AB070429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9E4E3066-E094-4AEA-B3B0-9B9D41E60BB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Media" preserve="1">
  <p:cSld name="Titolo, testo e clip multimedi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risorsa multimediale 3"/>
          <p:cNvSpPr>
            <a:spLocks noGrp="1"/>
          </p:cNvSpPr>
          <p:nvPr>
            <p:ph type="media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94AC8BA3-44CE-4531-BD65-3D4E92C77CD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lipArtAndTx" preserve="1">
  <p:cSld name="Titolo, ClipArt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lipArt 2"/>
          <p:cNvSpPr>
            <a:spLocks noGrp="1"/>
          </p:cNvSpPr>
          <p:nvPr>
            <p:ph type="clipArt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331F9C57-1D30-4CE9-8CE4-AF0648268A3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CD3802-4944-499B-8AC7-BB99ACEF506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959B5C0-D75D-427D-9DA5-332FEF1A6E4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1C965F-0659-4878-84D8-505A400EA38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FD414A-F53C-450C-B160-50B52BDD463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D4DEF4-C12D-4596-B52F-0AD17E37856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FD2D50-B272-491A-B45C-21F20D4B9F4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516867-E1DA-4C47-8E4E-884913172DC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8E18B1-99AE-4351-83EA-219CD84A09A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7E447-6F9C-4424-AAC9-C1FA99A7113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124E02-8998-4701-A290-F80B371A999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A0EE4E-98B6-45C9-BABD-DE1BE3092D3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E965C98-DF50-4BB5-BE0D-234C621CAF1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26536A-8F74-411C-9992-2350748B9C8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8536FA-E732-4CC0-B4A4-10C82308017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DAB117-9336-4140-B731-78057089840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45EEACD-3B30-4566-AE52-D2353558F34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8E312E-5FB5-47CF-9A5B-39E9A13ADA9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D029B8F-24C3-4AA5-8727-960C51BEE92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27355AE-C11B-4EAC-ACA6-C4D8D39AC9E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429BCD-A937-4B3A-9E9F-14CAC807568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3E9778-3406-4211-BAA7-C03670BFD01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10651-F0CB-4477-9494-D895F95F8C4C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47C6432-6944-4695-BB54-C5ED695A47A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B701687-1408-4478-B46A-8EC90FE33BF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2EE528-2A72-472A-B729-D7995FE396C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3CE7B0-3536-455B-A2F1-1099BA66481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93BD78-B299-4B0A-9F49-E21BFE2BEC3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93C002-594F-4240-B8BF-1515BAD33295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5CD8D4-8143-4F47-A9A9-B083268C628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97B916-835E-4356-ABAE-A5D7ADD7765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6D1C3B-2F36-4E61-9669-1AC5B76D57A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673D6D-6627-4A47-A351-59B3D79D594B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89C3CE-3063-475D-AF8C-7D4D7555075F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>
  <p:cSld name="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5A8CD38-D37D-4D74-848B-6005F6AA370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  <p:extLst>
      <p:ext uri="{BB962C8B-B14F-4D97-AF65-F5344CB8AC3E}">
        <p14:creationId xmlns:p14="http://schemas.microsoft.com/office/powerpoint/2010/main" val="206025864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5CFC2B6C-59D4-4CB5-BB9D-59E59F89D80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79611B4C-D134-4CEB-BB1A-79186CFB0BF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A427023B-161A-4831-8C33-EFE0483A8F8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EB82D344-6559-4BF2-AA7A-3F1BF17077F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A6020C0-0654-479A-A057-AD039845613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BA3706E-D422-4874-8168-6F4D1E2D4934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FAEF37A5-39EF-48CB-A341-80A4EF99BAFE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C68DAC64-D010-4955-9C75-7AB3493BDF8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1220C1EB-4CED-489E-ACC3-23F1F7B7CDF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03D9E66E-3AE2-4C32-8CFE-E1D26536433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/>
            </a:lvl1pPr>
          </a:lstStyle>
          <a:p>
            <a:pPr>
              <a:defRPr/>
            </a:pPr>
            <a:fld id="{45A77675-B181-439E-AFA2-515FF9D1EC68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A7A28E33-C32A-40F7-A54A-EEBDC9E32CA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117FCEC0-8C2B-4E62-9373-2B9990B298E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722FA5C2-B509-4966-B3BE-4C0719FBB52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D928BEC-4736-4AF1-8D3C-1B23E0D1F48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4" name="Segnaposto contenut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D4CA4FA-4625-4369-9884-481221F6C03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7D3B93BC-164C-472C-91EF-CADD56727710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AE290A3D-1A92-4936-AA72-E1D3EDF91F7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2506D2A8-80CD-4E28-A989-D83651ACAAC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stili del testo dello schema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718B9A58-DECE-4308-BD18-798058B5F87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0E0F9545-ACAC-44C1-B59B-58BFE60C49C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E2C16158-824C-419E-BFEC-7A50724D436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Only" preserve="1">
  <p:cSld name="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5DBB1EBB-F396-4579-98FD-F84E772488F1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Media" preserve="1">
  <p:cSld name="Titolo, testo e clip multimedi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testo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risorsa multimediale 3"/>
          <p:cNvSpPr>
            <a:spLocks noGrp="1"/>
          </p:cNvSpPr>
          <p:nvPr>
            <p:ph type="media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DCCEBB1C-4CBF-4310-860A-D820BF1B7A5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lipArtAndTx" preserve="1">
  <p:cSld name="Titolo, ClipArt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it-IT"/>
              <a:t>Fare clic per modificare lo stile del titolo</a:t>
            </a:r>
          </a:p>
        </p:txBody>
      </p:sp>
      <p:sp>
        <p:nvSpPr>
          <p:cNvPr id="3" name="Segnaposto ClipArt 2"/>
          <p:cNvSpPr>
            <a:spLocks noGrp="1"/>
          </p:cNvSpPr>
          <p:nvPr>
            <p:ph type="clipArt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endParaRPr lang="it-IT" noProof="0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it-IT"/>
              <a:t>Fare clic per modificare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 algn="ctr"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/>
            </a:lvl1pPr>
          </a:lstStyle>
          <a:p>
            <a:pPr>
              <a:defRPr/>
            </a:pPr>
            <a:fld id="{F53E851A-6E66-4891-9396-7A80358873D7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slideLayout" Target="../slideLayouts/slideLayout35.xml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slideLayout" Target="../slideLayouts/slideLayout34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4.xml"/><Relationship Id="rId3" Type="http://schemas.openxmlformats.org/officeDocument/2006/relationships/slideLayout" Target="../slideLayouts/slideLayout49.xml"/><Relationship Id="rId7" Type="http://schemas.openxmlformats.org/officeDocument/2006/relationships/slideLayout" Target="../slideLayouts/slideLayout53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8.xml"/><Relationship Id="rId1" Type="http://schemas.openxmlformats.org/officeDocument/2006/relationships/slideLayout" Target="../slideLayouts/slideLayout47.xml"/><Relationship Id="rId6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7.xml"/><Relationship Id="rId5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6.xml"/><Relationship Id="rId4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5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0.xml"/><Relationship Id="rId7" Type="http://schemas.openxmlformats.org/officeDocument/2006/relationships/slideLayout" Target="../slideLayouts/slideLayout64.xml"/><Relationship Id="rId12" Type="http://schemas.openxmlformats.org/officeDocument/2006/relationships/slideLayout" Target="../slideLayouts/slideLayout69.xml"/><Relationship Id="rId2" Type="http://schemas.openxmlformats.org/officeDocument/2006/relationships/slideLayout" Target="../slideLayouts/slideLayout59.xml"/><Relationship Id="rId1" Type="http://schemas.openxmlformats.org/officeDocument/2006/relationships/slideLayout" Target="../slideLayouts/slideLayout58.xml"/><Relationship Id="rId6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2.xml"/><Relationship Id="rId10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1.xml"/><Relationship Id="rId9" Type="http://schemas.openxmlformats.org/officeDocument/2006/relationships/slideLayout" Target="../slideLayouts/slideLayout6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6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1.xml"/><Relationship Id="rId1" Type="http://schemas.openxmlformats.org/officeDocument/2006/relationships/slideLayout" Target="../slideLayouts/slideLayout70.xml"/><Relationship Id="rId6" Type="http://schemas.openxmlformats.org/officeDocument/2006/relationships/slideLayout" Target="../slideLayouts/slideLayout75.xml"/><Relationship Id="rId11" Type="http://schemas.openxmlformats.org/officeDocument/2006/relationships/slideLayout" Target="../slideLayouts/slideLayout80.xml"/><Relationship Id="rId5" Type="http://schemas.openxmlformats.org/officeDocument/2006/relationships/slideLayout" Target="../slideLayouts/slideLayout74.xml"/><Relationship Id="rId10" Type="http://schemas.openxmlformats.org/officeDocument/2006/relationships/slideLayout" Target="../slideLayouts/slideLayout79.xml"/><Relationship Id="rId4" Type="http://schemas.openxmlformats.org/officeDocument/2006/relationships/slideLayout" Target="../slideLayouts/slideLayout73.xml"/><Relationship Id="rId9" Type="http://schemas.openxmlformats.org/officeDocument/2006/relationships/slideLayout" Target="../slideLayouts/slideLayout78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8.xml"/><Relationship Id="rId13" Type="http://schemas.openxmlformats.org/officeDocument/2006/relationships/slideLayout" Target="../slideLayouts/slideLayout93.xml"/><Relationship Id="rId3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7.xml"/><Relationship Id="rId1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82.xml"/><Relationship Id="rId1" Type="http://schemas.openxmlformats.org/officeDocument/2006/relationships/slideLayout" Target="../slideLayouts/slideLayout81.xml"/><Relationship Id="rId6" Type="http://schemas.openxmlformats.org/officeDocument/2006/relationships/slideLayout" Target="../slideLayouts/slideLayout86.xml"/><Relationship Id="rId11" Type="http://schemas.openxmlformats.org/officeDocument/2006/relationships/slideLayout" Target="../slideLayouts/slideLayout91.xml"/><Relationship Id="rId5" Type="http://schemas.openxmlformats.org/officeDocument/2006/relationships/slideLayout" Target="../slideLayouts/slideLayout85.xml"/><Relationship Id="rId15" Type="http://schemas.openxmlformats.org/officeDocument/2006/relationships/theme" Target="../theme/theme8.xml"/><Relationship Id="rId10" Type="http://schemas.openxmlformats.org/officeDocument/2006/relationships/slideLayout" Target="../slideLayouts/slideLayout90.xml"/><Relationship Id="rId4" Type="http://schemas.openxmlformats.org/officeDocument/2006/relationships/slideLayout" Target="../slideLayouts/slideLayout84.xml"/><Relationship Id="rId9" Type="http://schemas.openxmlformats.org/officeDocument/2006/relationships/slideLayout" Target="../slideLayouts/slideLayout89.xml"/><Relationship Id="rId14" Type="http://schemas.openxmlformats.org/officeDocument/2006/relationships/slideLayout" Target="../slideLayouts/slideLayout9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EAC4C8F6-D92E-4661-81FE-10ACDF8CF899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965" r:id="rId1"/>
    <p:sldLayoutId id="2147491966" r:id="rId2"/>
    <p:sldLayoutId id="2147491967" r:id="rId3"/>
    <p:sldLayoutId id="2147491968" r:id="rId4"/>
    <p:sldLayoutId id="2147491969" r:id="rId5"/>
    <p:sldLayoutId id="2147491970" r:id="rId6"/>
    <p:sldLayoutId id="2147491971" r:id="rId7"/>
    <p:sldLayoutId id="2147491972" r:id="rId8"/>
    <p:sldLayoutId id="2147491973" r:id="rId9"/>
    <p:sldLayoutId id="2147491974" r:id="rId10"/>
    <p:sldLayoutId id="2147491975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it-IT"/>
              <a:t>Analisi dei Dati e Statistica                         Prof. Giuseppe Espa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4BF1045C-0B55-4004-A777-07783D53758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976" r:id="rId1"/>
    <p:sldLayoutId id="2147491977" r:id="rId2"/>
    <p:sldLayoutId id="2147491978" r:id="rId3"/>
    <p:sldLayoutId id="2147491979" r:id="rId4"/>
    <p:sldLayoutId id="2147491980" r:id="rId5"/>
    <p:sldLayoutId id="2147491981" r:id="rId6"/>
    <p:sldLayoutId id="2147491982" r:id="rId7"/>
    <p:sldLayoutId id="2147491983" r:id="rId8"/>
    <p:sldLayoutId id="2147491984" r:id="rId9"/>
    <p:sldLayoutId id="2147491985" r:id="rId10"/>
    <p:sldLayoutId id="2147491986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</a:t>
            </a: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A8456E75-01FE-4513-84B5-8F4F4E133BAA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987" r:id="rId1"/>
    <p:sldLayoutId id="2147491988" r:id="rId2"/>
    <p:sldLayoutId id="2147491989" r:id="rId3"/>
    <p:sldLayoutId id="2147491990" r:id="rId4"/>
    <p:sldLayoutId id="2147491991" r:id="rId5"/>
    <p:sldLayoutId id="2147491992" r:id="rId6"/>
    <p:sldLayoutId id="2147491993" r:id="rId7"/>
    <p:sldLayoutId id="2147491994" r:id="rId8"/>
    <p:sldLayoutId id="2147491995" r:id="rId9"/>
    <p:sldLayoutId id="2147491996" r:id="rId10"/>
    <p:sldLayoutId id="2147491997" r:id="rId11"/>
    <p:sldLayoutId id="2147491998" r:id="rId12"/>
    <p:sldLayoutId id="2147491999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</a:t>
            </a:r>
          </a:p>
        </p:txBody>
      </p:sp>
      <p:sp>
        <p:nvSpPr>
          <p:cNvPr id="368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400" b="1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0" hangingPunct="0">
              <a:defRPr sz="1400" b="1">
                <a:solidFill>
                  <a:srgbClr val="000000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8868E607-48B4-4943-AA98-22504C4F38E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887" r:id="rId1"/>
    <p:sldLayoutId id="2147491888" r:id="rId2"/>
    <p:sldLayoutId id="2147491889" r:id="rId3"/>
    <p:sldLayoutId id="2147491890" r:id="rId4"/>
    <p:sldLayoutId id="2147491891" r:id="rId5"/>
    <p:sldLayoutId id="2147491892" r:id="rId6"/>
    <p:sldLayoutId id="2147491893" r:id="rId7"/>
    <p:sldLayoutId id="2147491894" r:id="rId8"/>
    <p:sldLayoutId id="2147491895" r:id="rId9"/>
    <p:sldLayoutId id="2147491896" r:id="rId10"/>
    <p:sldLayoutId id="2147491897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3789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FE8FED07-C45F-46D1-96A4-2B3AC4BD4132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898" r:id="rId1"/>
    <p:sldLayoutId id="2147491899" r:id="rId2"/>
    <p:sldLayoutId id="2147491900" r:id="rId3"/>
    <p:sldLayoutId id="2147491901" r:id="rId4"/>
    <p:sldLayoutId id="2147491902" r:id="rId5"/>
    <p:sldLayoutId id="2147491903" r:id="rId6"/>
    <p:sldLayoutId id="2147491904" r:id="rId7"/>
    <p:sldLayoutId id="2147491905" r:id="rId8"/>
    <p:sldLayoutId id="2147491906" r:id="rId9"/>
    <p:sldLayoutId id="2147491907" r:id="rId10"/>
    <p:sldLayoutId id="214749190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 dello schema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Arial" panose="020B0604020202020204" pitchFamily="34" charset="0"/>
                <a:cs typeface="+mn-cs"/>
              </a:defRPr>
            </a:lvl1pPr>
          </a:lstStyle>
          <a:p>
            <a:pPr>
              <a:defRPr/>
            </a:pPr>
            <a:r>
              <a:rPr lang="it-IT"/>
              <a:t>LUISS - Statistica corso C - a.a. 2005/2006 - Prof. Giuseppe Espa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0BD80F89-8E0C-4209-A04D-BC441EE4428D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1920" r:id="rId1"/>
    <p:sldLayoutId id="2147491921" r:id="rId2"/>
    <p:sldLayoutId id="2147491922" r:id="rId3"/>
    <p:sldLayoutId id="2147491923" r:id="rId4"/>
    <p:sldLayoutId id="2147491924" r:id="rId5"/>
    <p:sldLayoutId id="2147491925" r:id="rId6"/>
    <p:sldLayoutId id="2147491926" r:id="rId7"/>
    <p:sldLayoutId id="2147491927" r:id="rId8"/>
    <p:sldLayoutId id="2147491928" r:id="rId9"/>
    <p:sldLayoutId id="2147491929" r:id="rId10"/>
    <p:sldLayoutId id="2147491930" r:id="rId11"/>
    <p:sldLayoutId id="2147492096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</a:t>
            </a:r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A032C455-6004-4485-A8F3-150C3010ACC6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058" r:id="rId1"/>
    <p:sldLayoutId id="2147492059" r:id="rId2"/>
    <p:sldLayoutId id="2147492060" r:id="rId3"/>
    <p:sldLayoutId id="2147492061" r:id="rId4"/>
    <p:sldLayoutId id="2147492062" r:id="rId5"/>
    <p:sldLayoutId id="2147492063" r:id="rId6"/>
    <p:sldLayoutId id="2147492064" r:id="rId7"/>
    <p:sldLayoutId id="2147492065" r:id="rId8"/>
    <p:sldLayoutId id="2147492066" r:id="rId9"/>
    <p:sldLayoutId id="2147492067" r:id="rId10"/>
    <p:sldLayoutId id="214749206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cs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100000">
              <a:schemeClr val="accent2">
                <a:lumMod val="20000"/>
                <a:lumOff val="8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lo stile del titolo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it-IT" altLang="it-IT"/>
              <a:t>Fare clic per modificare gli stili del testo dello schema</a:t>
            </a:r>
          </a:p>
          <a:p>
            <a:pPr lvl="1"/>
            <a:r>
              <a:rPr lang="it-IT" altLang="it-IT"/>
              <a:t>Secondo livello</a:t>
            </a:r>
          </a:p>
          <a:p>
            <a:pPr lvl="2"/>
            <a:r>
              <a:rPr lang="it-IT" altLang="it-IT"/>
              <a:t>Terzo livello</a:t>
            </a:r>
          </a:p>
          <a:p>
            <a:pPr lvl="3"/>
            <a:r>
              <a:rPr lang="it-IT" altLang="it-IT"/>
              <a:t>Quarto livello</a:t>
            </a:r>
          </a:p>
          <a:p>
            <a:pPr lvl="4"/>
            <a:r>
              <a:rPr lang="it-IT" altLang="it-IT"/>
              <a:t>Quinto livello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400" b="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solidFill>
                  <a:srgbClr val="000000"/>
                </a:solidFill>
                <a:latin typeface="Arial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>
                <a:solidFill>
                  <a:srgbClr val="000000"/>
                </a:solidFill>
              </a:defRPr>
            </a:lvl1pPr>
          </a:lstStyle>
          <a:p>
            <a:pPr>
              <a:defRPr/>
            </a:pPr>
            <a:fld id="{0010D545-9EDE-4C44-8534-05556897BF83}" type="slidenum">
              <a:rPr lang="it-IT" altLang="it-IT"/>
              <a:pPr>
                <a:defRPr/>
              </a:pPr>
              <a:t>‹N›</a:t>
            </a:fld>
            <a:endParaRPr lang="it-IT" alt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92082" r:id="rId1"/>
    <p:sldLayoutId id="2147492083" r:id="rId2"/>
    <p:sldLayoutId id="2147492084" r:id="rId3"/>
    <p:sldLayoutId id="2147492085" r:id="rId4"/>
    <p:sldLayoutId id="2147492086" r:id="rId5"/>
    <p:sldLayoutId id="2147492087" r:id="rId6"/>
    <p:sldLayoutId id="2147492088" r:id="rId7"/>
    <p:sldLayoutId id="2147492089" r:id="rId8"/>
    <p:sldLayoutId id="2147492090" r:id="rId9"/>
    <p:sldLayoutId id="2147492091" r:id="rId10"/>
    <p:sldLayoutId id="2147492092" r:id="rId11"/>
    <p:sldLayoutId id="2147492093" r:id="rId12"/>
    <p:sldLayoutId id="2147492094" r:id="rId13"/>
    <p:sldLayoutId id="2147492095" r:id="rId14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4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9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6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6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6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6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6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5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2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6.wmf"/><Relationship Id="rId4" Type="http://schemas.openxmlformats.org/officeDocument/2006/relationships/image" Target="../media/image55.wmf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58.wmf"/><Relationship Id="rId4" Type="http://schemas.openxmlformats.org/officeDocument/2006/relationships/oleObject" Target="../embeddings/oleObject1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4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8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60.w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59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wmf"/><Relationship Id="rId2" Type="http://schemas.openxmlformats.org/officeDocument/2006/relationships/slideLayout" Target="../slideLayouts/slideLayout87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1.wmf"/><Relationship Id="rId4" Type="http://schemas.openxmlformats.org/officeDocument/2006/relationships/oleObject" Target="../embeddings/oleObject4.bin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slideLayout" Target="../slideLayouts/slideLayout87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63.wmf"/><Relationship Id="rId4" Type="http://schemas.openxmlformats.org/officeDocument/2006/relationships/oleObject" Target="../embeddings/oleObject5.bin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wmf"/><Relationship Id="rId3" Type="http://schemas.openxmlformats.org/officeDocument/2006/relationships/oleObject" Target="../embeddings/oleObject6.bin"/><Relationship Id="rId7" Type="http://schemas.openxmlformats.org/officeDocument/2006/relationships/oleObject" Target="../embeddings/oleObject8.bin"/><Relationship Id="rId2" Type="http://schemas.openxmlformats.org/officeDocument/2006/relationships/slideLayout" Target="../slideLayouts/slideLayout4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66.wmf"/><Relationship Id="rId5" Type="http://schemas.openxmlformats.org/officeDocument/2006/relationships/oleObject" Target="../embeddings/oleObject7.bin"/><Relationship Id="rId4" Type="http://schemas.openxmlformats.org/officeDocument/2006/relationships/image" Target="../media/image65.wmf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69.w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68.w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71.wmf"/><Relationship Id="rId5" Type="http://schemas.openxmlformats.org/officeDocument/2006/relationships/oleObject" Target="../embeddings/oleObject12.bin"/><Relationship Id="rId4" Type="http://schemas.openxmlformats.org/officeDocument/2006/relationships/image" Target="../media/image70.wmf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wmf"/><Relationship Id="rId1" Type="http://schemas.openxmlformats.org/officeDocument/2006/relationships/slideLayout" Target="../slideLayouts/slideLayout70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0.xml"/><Relationship Id="rId1" Type="http://schemas.openxmlformats.org/officeDocument/2006/relationships/themeOverride" Target="../theme/themeOverride2.xml"/><Relationship Id="rId4" Type="http://schemas.openxmlformats.org/officeDocument/2006/relationships/image" Target="../media/image73.wmf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53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76.wmf"/><Relationship Id="rId2" Type="http://schemas.openxmlformats.org/officeDocument/2006/relationships/slideLayout" Target="../slideLayouts/slideLayout53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75.wmf"/><Relationship Id="rId4" Type="http://schemas.openxmlformats.org/officeDocument/2006/relationships/oleObject" Target="../embeddings/oleObject13.bin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wmf"/><Relationship Id="rId13" Type="http://schemas.openxmlformats.org/officeDocument/2006/relationships/oleObject" Target="../embeddings/oleObject19.bin"/><Relationship Id="rId3" Type="http://schemas.openxmlformats.org/officeDocument/2006/relationships/notesSlide" Target="../notesSlides/notesSlide14.xml"/><Relationship Id="rId7" Type="http://schemas.openxmlformats.org/officeDocument/2006/relationships/oleObject" Target="../embeddings/oleObject16.bin"/><Relationship Id="rId12" Type="http://schemas.openxmlformats.org/officeDocument/2006/relationships/image" Target="../media/image80.wmf"/><Relationship Id="rId2" Type="http://schemas.openxmlformats.org/officeDocument/2006/relationships/slideLayout" Target="../slideLayouts/slideLayout53.xml"/><Relationship Id="rId16" Type="http://schemas.openxmlformats.org/officeDocument/2006/relationships/image" Target="../media/image82.wmf"/><Relationship Id="rId1" Type="http://schemas.openxmlformats.org/officeDocument/2006/relationships/vmlDrawing" Target="../drawings/vmlDrawing9.vml"/><Relationship Id="rId6" Type="http://schemas.openxmlformats.org/officeDocument/2006/relationships/image" Target="../media/image77.wmf"/><Relationship Id="rId11" Type="http://schemas.openxmlformats.org/officeDocument/2006/relationships/oleObject" Target="../embeddings/oleObject18.bin"/><Relationship Id="rId5" Type="http://schemas.openxmlformats.org/officeDocument/2006/relationships/oleObject" Target="../embeddings/oleObject15.bin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79.wmf"/><Relationship Id="rId4" Type="http://schemas.openxmlformats.org/officeDocument/2006/relationships/image" Target="../media/image83.wmf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81.wmf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5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90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215900" y="603250"/>
            <a:ext cx="8712200" cy="5653088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spcAft>
                <a:spcPct val="50000"/>
              </a:spcAft>
            </a:pPr>
            <a:br>
              <a:rPr lang="it-IT" altLang="it-IT" sz="3200" b="1" dirty="0">
                <a:solidFill>
                  <a:srgbClr val="FF3300"/>
                </a:solidFill>
                <a:latin typeface="Tahoma" pitchFamily="34" charset="0"/>
                <a:cs typeface="Tahoma" pitchFamily="34" charset="0"/>
              </a:rPr>
            </a:br>
            <a:r>
              <a:rPr lang="it-IT" altLang="it-IT" sz="4000" b="1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LA PROBABILITÀ CONDIZIONATA</a:t>
            </a:r>
            <a:br>
              <a:rPr lang="it-IT" altLang="it-IT" b="1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</a:br>
            <a:endParaRPr lang="it-IT" altLang="it-IT" sz="8000" b="1" i="1" dirty="0">
              <a:solidFill>
                <a:schemeClr val="tx1"/>
              </a:solidFill>
              <a:latin typeface="Tahoma" pitchFamily="34" charset="0"/>
              <a:cs typeface="Tahoma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ChangeArrowheads="1"/>
          </p:cNvSpPr>
          <p:nvPr/>
        </p:nvSpPr>
        <p:spPr bwMode="auto">
          <a:xfrm>
            <a:off x="0" y="171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t-IT" altLang="it-IT" sz="24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sp>
        <p:nvSpPr>
          <p:cNvPr id="211971" name="Rectangle 4"/>
          <p:cNvSpPr>
            <a:spLocks noChangeArrowheads="1"/>
          </p:cNvSpPr>
          <p:nvPr/>
        </p:nvSpPr>
        <p:spPr bwMode="auto">
          <a:xfrm>
            <a:off x="1907704" y="332656"/>
            <a:ext cx="792162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eaLnBrk="1" hangingPunct="1"/>
            <a:r>
              <a:rPr lang="it-IT" b="1" dirty="0"/>
              <a:t>Probabilità e Statistica – 15 febbraio 2022</a:t>
            </a:r>
          </a:p>
        </p:txBody>
      </p:sp>
      <p:graphicFrame>
        <p:nvGraphicFramePr>
          <p:cNvPr id="264459" name="Group 267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1277667509"/>
              </p:ext>
            </p:extLst>
          </p:nvPr>
        </p:nvGraphicFramePr>
        <p:xfrm>
          <a:off x="1403288" y="3645024"/>
          <a:ext cx="6121400" cy="2951163"/>
        </p:xfrm>
        <a:graphic>
          <a:graphicData uri="http://schemas.openxmlformats.org/drawingml/2006/table">
            <a:tbl>
              <a:tblPr/>
              <a:tblGrid>
                <a:gridCol w="1795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5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Partenza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50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Arrivo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97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3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E11120E9-9D64-4741-BC9A-520E238AA599}"/>
              </a:ext>
            </a:extLst>
          </p:cNvPr>
          <p:cNvSpPr txBox="1"/>
          <p:nvPr/>
        </p:nvSpPr>
        <p:spPr>
          <a:xfrm>
            <a:off x="539552" y="863193"/>
            <a:ext cx="7848872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 algn="just">
              <a:spcBef>
                <a:spcPts val="600"/>
              </a:spcBef>
              <a:spcAft>
                <a:spcPts val="0"/>
              </a:spcAft>
              <a:buFont typeface="+mj-lt"/>
              <a:buAutoNum type="arabicPeriod"/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Analizzando una lunga sequenza di osservazioni si è determinato che i treni partono in orario con una probabilità del 90% e arrivano in orario con una probabilità del 85%; inoltre l’80% parte e arriva in orario.</a:t>
            </a:r>
          </a:p>
          <a:p>
            <a:pPr algn="just">
              <a:spcAft>
                <a:spcPts val="0"/>
              </a:spcAft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Determinare la probabilità che: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lphaLcParenR"/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 treno arrivi in orario, dato che è partito in orario;</a:t>
            </a:r>
          </a:p>
          <a:p>
            <a:pPr marL="342900" lvl="0" indent="-342900" algn="just">
              <a:spcAft>
                <a:spcPts val="600"/>
              </a:spcAft>
              <a:buFont typeface="+mj-lt"/>
              <a:buAutoNum type="alphaLcParenR"/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 treno arrivi in ritardo, dato che è partito in ritardo.</a:t>
            </a:r>
          </a:p>
          <a:p>
            <a:pPr lvl="0" algn="just">
              <a:spcBef>
                <a:spcPts val="600"/>
              </a:spcBef>
              <a:spcAft>
                <a:spcPts val="0"/>
              </a:spcAft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644450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7E1ECB14-8AF1-40BE-BA93-4F4ED8C447F7}"/>
              </a:ext>
            </a:extLst>
          </p:cNvPr>
          <p:cNvSpPr txBox="1"/>
          <p:nvPr/>
        </p:nvSpPr>
        <p:spPr>
          <a:xfrm>
            <a:off x="1115616" y="3565759"/>
            <a:ext cx="34964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dirty="0"/>
              <a:t>non è definita se P(B)=0</a:t>
            </a:r>
            <a:endParaRPr lang="it-IT" sz="2000" dirty="0"/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433F1E74-3AC0-4359-98AC-F558EA65ACFB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2443682" y="2204864"/>
            <a:ext cx="3496470" cy="1008112"/>
          </a:xfrm>
          <a:prstGeom prst="rect">
            <a:avLst/>
          </a:prstGeom>
        </p:spPr>
      </p:pic>
      <p:sp>
        <p:nvSpPr>
          <p:cNvPr id="7" name="CasellaDiTesto 6">
            <a:extLst>
              <a:ext uri="{FF2B5EF4-FFF2-40B4-BE49-F238E27FC236}">
                <a16:creationId xmlns:a16="http://schemas.microsoft.com/office/drawing/2014/main" id="{7C7B7907-3C66-4203-84A2-F906687F394D}"/>
              </a:ext>
            </a:extLst>
          </p:cNvPr>
          <p:cNvSpPr txBox="1"/>
          <p:nvPr/>
        </p:nvSpPr>
        <p:spPr>
          <a:xfrm>
            <a:off x="763960" y="1133128"/>
            <a:ext cx="8314777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400" b="1" dirty="0"/>
              <a:t>Definizione</a:t>
            </a:r>
            <a:r>
              <a:rPr lang="it-IT" sz="2400" dirty="0"/>
              <a:t>. Dati due eventi A e B (con B tale che P(B)&gt;0), </a:t>
            </a:r>
          </a:p>
          <a:p>
            <a:r>
              <a:rPr lang="it-IT" sz="2400" dirty="0"/>
              <a:t>si definisce </a:t>
            </a:r>
            <a:r>
              <a:rPr lang="it-IT" sz="2400" i="1" dirty="0"/>
              <a:t>probabilità condizionata </a:t>
            </a:r>
            <a:r>
              <a:rPr lang="it-IT" sz="2400" dirty="0"/>
              <a:t>di A dato B </a:t>
            </a:r>
          </a:p>
          <a:p>
            <a:endParaRPr lang="it-IT" sz="2000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9D9C3A8E-B2C7-41C5-A5BB-22D3F843EA16}"/>
              </a:ext>
            </a:extLst>
          </p:cNvPr>
          <p:cNvSpPr txBox="1"/>
          <p:nvPr/>
        </p:nvSpPr>
        <p:spPr>
          <a:xfrm>
            <a:off x="1619672" y="5229200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Pagina 40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ChangeArrowheads="1"/>
          </p:cNvSpPr>
          <p:nvPr/>
        </p:nvSpPr>
        <p:spPr bwMode="auto">
          <a:xfrm>
            <a:off x="0" y="171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t-IT" altLang="it-IT" sz="24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264459" name="Group 267"/>
          <p:cNvGraphicFramePr>
            <a:graphicFrameLocks noGrp="1"/>
          </p:cNvGraphicFramePr>
          <p:nvPr>
            <p:ph/>
            <p:extLst>
              <p:ext uri="{D42A27DB-BD31-4B8C-83A1-F6EECF244321}">
                <p14:modId xmlns:p14="http://schemas.microsoft.com/office/powerpoint/2010/main" val="2873347901"/>
              </p:ext>
            </p:extLst>
          </p:nvPr>
        </p:nvGraphicFramePr>
        <p:xfrm>
          <a:off x="971600" y="2492896"/>
          <a:ext cx="6121400" cy="2407920"/>
        </p:xfrm>
        <a:graphic>
          <a:graphicData uri="http://schemas.openxmlformats.org/drawingml/2006/table">
            <a:tbl>
              <a:tblPr/>
              <a:tblGrid>
                <a:gridCol w="1795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8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Partenza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80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Arrivo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309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7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549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E11120E9-9D64-4741-BC9A-520E238AA599}"/>
              </a:ext>
            </a:extLst>
          </p:cNvPr>
          <p:cNvSpPr txBox="1"/>
          <p:nvPr/>
        </p:nvSpPr>
        <p:spPr>
          <a:xfrm>
            <a:off x="539552" y="692696"/>
            <a:ext cx="784887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Determinare la probabilità che: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lphaLcParenR"/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 treno arrivi in orario, dato che è partito in orario;</a:t>
            </a:r>
          </a:p>
          <a:p>
            <a:pPr marL="342900" lvl="0" indent="-342900" algn="just">
              <a:spcAft>
                <a:spcPts val="600"/>
              </a:spcAft>
              <a:buFont typeface="+mj-lt"/>
              <a:buAutoNum type="alphaLcParenR"/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 treno arrivi in ritardo, dato che è partito in ritardo.</a:t>
            </a:r>
          </a:p>
          <a:p>
            <a:pPr lvl="0" algn="just">
              <a:spcBef>
                <a:spcPts val="600"/>
              </a:spcBef>
              <a:spcAft>
                <a:spcPts val="0"/>
              </a:spcAft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3972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ChangeArrowheads="1"/>
          </p:cNvSpPr>
          <p:nvPr/>
        </p:nvSpPr>
        <p:spPr bwMode="auto">
          <a:xfrm>
            <a:off x="0" y="171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t-IT" altLang="it-IT" sz="24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264459" name="Group 267"/>
          <p:cNvGraphicFramePr>
            <a:graphicFrameLocks noGrp="1"/>
          </p:cNvGraphicFramePr>
          <p:nvPr>
            <p:ph/>
            <p:extLst/>
          </p:nvPr>
        </p:nvGraphicFramePr>
        <p:xfrm>
          <a:off x="1115616" y="1844824"/>
          <a:ext cx="6121400" cy="2407920"/>
        </p:xfrm>
        <a:graphic>
          <a:graphicData uri="http://schemas.openxmlformats.org/drawingml/2006/table">
            <a:tbl>
              <a:tblPr/>
              <a:tblGrid>
                <a:gridCol w="1795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8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Partenza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80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Arrivo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309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7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549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E11120E9-9D64-4741-BC9A-520E238AA599}"/>
              </a:ext>
            </a:extLst>
          </p:cNvPr>
          <p:cNvSpPr txBox="1"/>
          <p:nvPr/>
        </p:nvSpPr>
        <p:spPr>
          <a:xfrm>
            <a:off x="539552" y="409307"/>
            <a:ext cx="784887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Determinare la probabilità che: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lphaLcParenR"/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 treno arrivi in orario, dato che è partito in orario;</a:t>
            </a:r>
          </a:p>
          <a:p>
            <a:pPr marL="342900" lvl="0" indent="-342900" algn="just">
              <a:spcAft>
                <a:spcPts val="600"/>
              </a:spcAft>
              <a:buFont typeface="+mj-lt"/>
              <a:buAutoNum type="alphaLcParenR"/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 treno arrivi in ritardo, dato che è partito in ritardo.</a:t>
            </a:r>
          </a:p>
          <a:p>
            <a:pPr lvl="0" algn="just">
              <a:spcBef>
                <a:spcPts val="600"/>
              </a:spcBef>
              <a:spcAft>
                <a:spcPts val="0"/>
              </a:spcAft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tangolo 11">
                <a:extLst>
                  <a:ext uri="{FF2B5EF4-FFF2-40B4-BE49-F238E27FC236}">
                    <a16:creationId xmlns:a16="http://schemas.microsoft.com/office/drawing/2014/main" id="{4EACFA3F-25BD-45D3-9DF3-269417442385}"/>
                  </a:ext>
                </a:extLst>
              </p:cNvPr>
              <p:cNvSpPr/>
              <p:nvPr/>
            </p:nvSpPr>
            <p:spPr>
              <a:xfrm>
                <a:off x="1187624" y="4869160"/>
                <a:ext cx="2457724" cy="6767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t-IT" sz="2400" dirty="0"/>
                  <a:t>P(</a:t>
                </a:r>
                <a:r>
                  <a:rPr lang="it-IT" sz="2400" dirty="0" err="1"/>
                  <a:t>Ao</a:t>
                </a:r>
                <a:r>
                  <a:rPr lang="it-IT" sz="2400" dirty="0"/>
                  <a:t>/Po)=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80/100</m:t>
                        </m:r>
                      </m:num>
                      <m:den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90/100</m:t>
                        </m:r>
                      </m:den>
                    </m:f>
                  </m:oMath>
                </a14:m>
                <a:endParaRPr lang="it-IT" sz="2400" dirty="0"/>
              </a:p>
            </p:txBody>
          </p:sp>
        </mc:Choice>
        <mc:Fallback xmlns="">
          <p:sp>
            <p:nvSpPr>
              <p:cNvPr id="12" name="Rettangolo 11">
                <a:extLst>
                  <a:ext uri="{FF2B5EF4-FFF2-40B4-BE49-F238E27FC236}">
                    <a16:creationId xmlns:a16="http://schemas.microsoft.com/office/drawing/2014/main" id="{4EACFA3F-25BD-45D3-9DF3-269417442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4869160"/>
                <a:ext cx="2457724" cy="676724"/>
              </a:xfrm>
              <a:prstGeom prst="rect">
                <a:avLst/>
              </a:prstGeom>
              <a:blipFill>
                <a:blip r:embed="rId3"/>
                <a:stretch>
                  <a:fillRect l="-3970" b="-90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12C73093-765D-4F29-845F-3A17C235CCE2}"/>
                  </a:ext>
                </a:extLst>
              </p:cNvPr>
              <p:cNvSpPr txBox="1"/>
              <p:nvPr/>
            </p:nvSpPr>
            <p:spPr>
              <a:xfrm>
                <a:off x="3878209" y="4901156"/>
                <a:ext cx="765799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80</m:t>
                          </m:r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12C73093-765D-4F29-845F-3A17C235C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209" y="4901156"/>
                <a:ext cx="765799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FCF3144-26C4-4250-901F-E2B349C4C5B2}"/>
              </a:ext>
            </a:extLst>
          </p:cNvPr>
          <p:cNvSpPr txBox="1"/>
          <p:nvPr/>
        </p:nvSpPr>
        <p:spPr>
          <a:xfrm>
            <a:off x="3661324" y="502285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4145147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ChangeArrowheads="1"/>
          </p:cNvSpPr>
          <p:nvPr/>
        </p:nvSpPr>
        <p:spPr bwMode="auto">
          <a:xfrm>
            <a:off x="0" y="171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t-IT" altLang="it-IT" sz="24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264459" name="Group 267"/>
          <p:cNvGraphicFramePr>
            <a:graphicFrameLocks noGrp="1"/>
          </p:cNvGraphicFramePr>
          <p:nvPr>
            <p:ph/>
            <p:extLst/>
          </p:nvPr>
        </p:nvGraphicFramePr>
        <p:xfrm>
          <a:off x="1115616" y="1844824"/>
          <a:ext cx="6121400" cy="2407920"/>
        </p:xfrm>
        <a:graphic>
          <a:graphicData uri="http://schemas.openxmlformats.org/drawingml/2006/table">
            <a:tbl>
              <a:tblPr/>
              <a:tblGrid>
                <a:gridCol w="1795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8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Partenza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80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Arrivo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309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7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549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E11120E9-9D64-4741-BC9A-520E238AA599}"/>
              </a:ext>
            </a:extLst>
          </p:cNvPr>
          <p:cNvSpPr txBox="1"/>
          <p:nvPr/>
        </p:nvSpPr>
        <p:spPr>
          <a:xfrm>
            <a:off x="539552" y="409307"/>
            <a:ext cx="784887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Determinare la probabilità che: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lphaLcParenR"/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 treno arrivi in orario, dato che è partito in orario;</a:t>
            </a:r>
          </a:p>
          <a:p>
            <a:pPr marL="342900" lvl="0" indent="-342900" algn="just">
              <a:spcAft>
                <a:spcPts val="600"/>
              </a:spcAft>
              <a:buFont typeface="+mj-lt"/>
              <a:buAutoNum type="alphaLcParenR"/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 treno arrivi in ritardo, dato che è partito in ritardo.</a:t>
            </a:r>
          </a:p>
          <a:p>
            <a:pPr lvl="0" algn="just">
              <a:spcBef>
                <a:spcPts val="600"/>
              </a:spcBef>
              <a:spcAft>
                <a:spcPts val="0"/>
              </a:spcAft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</p:txBody>
      </p:sp>
      <p:cxnSp>
        <p:nvCxnSpPr>
          <p:cNvPr id="4" name="Connettore diritto 3">
            <a:extLst>
              <a:ext uri="{FF2B5EF4-FFF2-40B4-BE49-F238E27FC236}">
                <a16:creationId xmlns:a16="http://schemas.microsoft.com/office/drawing/2014/main" id="{67147800-0DFC-4158-8625-1EBFC7EA36DF}"/>
              </a:ext>
            </a:extLst>
          </p:cNvPr>
          <p:cNvCxnSpPr>
            <a:cxnSpLocks/>
          </p:cNvCxnSpPr>
          <p:nvPr/>
        </p:nvCxnSpPr>
        <p:spPr>
          <a:xfrm>
            <a:off x="4644008" y="2492896"/>
            <a:ext cx="1440160" cy="165618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ttore diritto 8">
            <a:extLst>
              <a:ext uri="{FF2B5EF4-FFF2-40B4-BE49-F238E27FC236}">
                <a16:creationId xmlns:a16="http://schemas.microsoft.com/office/drawing/2014/main" id="{0984C501-7211-436A-BCD5-7C5F364A1402}"/>
              </a:ext>
            </a:extLst>
          </p:cNvPr>
          <p:cNvCxnSpPr>
            <a:cxnSpLocks/>
          </p:cNvCxnSpPr>
          <p:nvPr/>
        </p:nvCxnSpPr>
        <p:spPr>
          <a:xfrm flipV="1">
            <a:off x="4644008" y="2492896"/>
            <a:ext cx="1368152" cy="1656184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tangolo 11">
                <a:extLst>
                  <a:ext uri="{FF2B5EF4-FFF2-40B4-BE49-F238E27FC236}">
                    <a16:creationId xmlns:a16="http://schemas.microsoft.com/office/drawing/2014/main" id="{4EACFA3F-25BD-45D3-9DF3-269417442385}"/>
                  </a:ext>
                </a:extLst>
              </p:cNvPr>
              <p:cNvSpPr/>
              <p:nvPr/>
            </p:nvSpPr>
            <p:spPr>
              <a:xfrm>
                <a:off x="1187624" y="4869160"/>
                <a:ext cx="2457724" cy="6767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t-IT" sz="2400" dirty="0"/>
                  <a:t>P(</a:t>
                </a:r>
                <a:r>
                  <a:rPr lang="it-IT" sz="2400" dirty="0" err="1"/>
                  <a:t>Ao</a:t>
                </a:r>
                <a:r>
                  <a:rPr lang="it-IT" sz="2400" dirty="0"/>
                  <a:t>/Po)=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80/100</m:t>
                        </m:r>
                      </m:num>
                      <m:den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90/100</m:t>
                        </m:r>
                      </m:den>
                    </m:f>
                  </m:oMath>
                </a14:m>
                <a:endParaRPr lang="it-IT" sz="2400" dirty="0"/>
              </a:p>
            </p:txBody>
          </p:sp>
        </mc:Choice>
        <mc:Fallback xmlns="">
          <p:sp>
            <p:nvSpPr>
              <p:cNvPr id="12" name="Rettangolo 11">
                <a:extLst>
                  <a:ext uri="{FF2B5EF4-FFF2-40B4-BE49-F238E27FC236}">
                    <a16:creationId xmlns:a16="http://schemas.microsoft.com/office/drawing/2014/main" id="{4EACFA3F-25BD-45D3-9DF3-269417442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4869160"/>
                <a:ext cx="2457724" cy="676724"/>
              </a:xfrm>
              <a:prstGeom prst="rect">
                <a:avLst/>
              </a:prstGeom>
              <a:blipFill>
                <a:blip r:embed="rId3"/>
                <a:stretch>
                  <a:fillRect l="-3970" b="-90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12C73093-765D-4F29-845F-3A17C235CCE2}"/>
                  </a:ext>
                </a:extLst>
              </p:cNvPr>
              <p:cNvSpPr txBox="1"/>
              <p:nvPr/>
            </p:nvSpPr>
            <p:spPr>
              <a:xfrm>
                <a:off x="3878209" y="4901156"/>
                <a:ext cx="765799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80</m:t>
                          </m:r>
                        </m:num>
                        <m:den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90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12C73093-765D-4F29-845F-3A17C235C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209" y="4901156"/>
                <a:ext cx="765799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9">
            <a:extLst>
              <a:ext uri="{FF2B5EF4-FFF2-40B4-BE49-F238E27FC236}">
                <a16:creationId xmlns:a16="http://schemas.microsoft.com/office/drawing/2014/main" id="{20B37E31-C167-413F-AE0F-BFC46109F0B1}"/>
              </a:ext>
            </a:extLst>
          </p:cNvPr>
          <p:cNvSpPr txBox="1"/>
          <p:nvPr/>
        </p:nvSpPr>
        <p:spPr>
          <a:xfrm>
            <a:off x="3661324" y="502285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192261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2"/>
          <p:cNvSpPr>
            <a:spLocks noChangeArrowheads="1"/>
          </p:cNvSpPr>
          <p:nvPr/>
        </p:nvSpPr>
        <p:spPr bwMode="auto">
          <a:xfrm>
            <a:off x="0" y="171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t-IT" altLang="it-IT" sz="2400">
              <a:solidFill>
                <a:srgbClr val="000000"/>
              </a:solidFill>
              <a:latin typeface="Times New Roman" pitchFamily="18" charset="0"/>
              <a:cs typeface="Arial" charset="0"/>
            </a:endParaRPr>
          </a:p>
        </p:txBody>
      </p:sp>
      <p:graphicFrame>
        <p:nvGraphicFramePr>
          <p:cNvPr id="264459" name="Group 267"/>
          <p:cNvGraphicFramePr>
            <a:graphicFrameLocks noGrp="1"/>
          </p:cNvGraphicFramePr>
          <p:nvPr>
            <p:ph/>
            <p:extLst/>
          </p:nvPr>
        </p:nvGraphicFramePr>
        <p:xfrm>
          <a:off x="1115616" y="1844824"/>
          <a:ext cx="6121400" cy="2407920"/>
        </p:xfrm>
        <a:graphic>
          <a:graphicData uri="http://schemas.openxmlformats.org/drawingml/2006/table">
            <a:tbl>
              <a:tblPr/>
              <a:tblGrid>
                <a:gridCol w="17954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1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09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0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80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Partenza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805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Arrivo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309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85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788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Non orario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7549">
                <a:tc>
                  <a:txBody>
                    <a:bodyPr/>
                    <a:lstStyle/>
                    <a:p>
                      <a:pPr marL="342900" marR="0" lvl="0" indent="-34290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Totale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it-IT" sz="2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100</a:t>
                      </a:r>
                      <a:endParaRPr kumimoji="0" lang="it-IT" sz="2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CasellaDiTesto 1">
            <a:extLst>
              <a:ext uri="{FF2B5EF4-FFF2-40B4-BE49-F238E27FC236}">
                <a16:creationId xmlns:a16="http://schemas.microsoft.com/office/drawing/2014/main" id="{E11120E9-9D64-4741-BC9A-520E238AA599}"/>
              </a:ext>
            </a:extLst>
          </p:cNvPr>
          <p:cNvSpPr txBox="1"/>
          <p:nvPr/>
        </p:nvSpPr>
        <p:spPr>
          <a:xfrm>
            <a:off x="539552" y="409307"/>
            <a:ext cx="7848872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spcAft>
                <a:spcPts val="0"/>
              </a:spcAft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Determinare la probabilità che:</a:t>
            </a:r>
          </a:p>
          <a:p>
            <a:pPr marL="342900" lvl="0" indent="-342900" algn="just">
              <a:spcAft>
                <a:spcPts val="0"/>
              </a:spcAft>
              <a:buFont typeface="+mj-lt"/>
              <a:buAutoNum type="alphaLcParenR"/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 treno arrivi in orario, dato che è partito in orario;</a:t>
            </a:r>
          </a:p>
          <a:p>
            <a:pPr marL="342900" lvl="0" indent="-342900" algn="just">
              <a:spcAft>
                <a:spcPts val="600"/>
              </a:spcAft>
              <a:buFont typeface="+mj-lt"/>
              <a:buAutoNum type="alphaLcParenR"/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un treno arrivi in ritardo, dato che è partito in ritardo.</a:t>
            </a:r>
          </a:p>
          <a:p>
            <a:pPr lvl="0" algn="just">
              <a:spcBef>
                <a:spcPts val="600"/>
              </a:spcBef>
              <a:spcAft>
                <a:spcPts val="0"/>
              </a:spcAft>
            </a:pPr>
            <a:r>
              <a:rPr lang="it-IT" sz="240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ttangolo 11">
                <a:extLst>
                  <a:ext uri="{FF2B5EF4-FFF2-40B4-BE49-F238E27FC236}">
                    <a16:creationId xmlns:a16="http://schemas.microsoft.com/office/drawing/2014/main" id="{4EACFA3F-25BD-45D3-9DF3-269417442385}"/>
                  </a:ext>
                </a:extLst>
              </p:cNvPr>
              <p:cNvSpPr/>
              <p:nvPr/>
            </p:nvSpPr>
            <p:spPr>
              <a:xfrm>
                <a:off x="1187624" y="4869160"/>
                <a:ext cx="2319866" cy="67672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it-IT" sz="2400" dirty="0"/>
                  <a:t>P(</a:t>
                </a:r>
                <a:r>
                  <a:rPr lang="it-IT" sz="2400" dirty="0" err="1"/>
                  <a:t>Ar</a:t>
                </a:r>
                <a:r>
                  <a:rPr lang="it-IT" sz="2400" dirty="0"/>
                  <a:t>/Pr)=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5/100</m:t>
                        </m:r>
                      </m:num>
                      <m:den>
                        <m:r>
                          <a:rPr lang="it-IT" sz="2400" b="0" i="1" smtClean="0">
                            <a:latin typeface="Cambria Math" panose="02040503050406030204" pitchFamily="18" charset="0"/>
                          </a:rPr>
                          <m:t>10/100</m:t>
                        </m:r>
                      </m:den>
                    </m:f>
                  </m:oMath>
                </a14:m>
                <a:endParaRPr lang="it-IT" sz="2400" dirty="0"/>
              </a:p>
            </p:txBody>
          </p:sp>
        </mc:Choice>
        <mc:Fallback xmlns="">
          <p:sp>
            <p:nvSpPr>
              <p:cNvPr id="12" name="Rettangolo 11">
                <a:extLst>
                  <a:ext uri="{FF2B5EF4-FFF2-40B4-BE49-F238E27FC236}">
                    <a16:creationId xmlns:a16="http://schemas.microsoft.com/office/drawing/2014/main" id="{4EACFA3F-25BD-45D3-9DF3-26941744238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7624" y="4869160"/>
                <a:ext cx="2319866" cy="676724"/>
              </a:xfrm>
              <a:prstGeom prst="rect">
                <a:avLst/>
              </a:prstGeom>
              <a:blipFill>
                <a:blip r:embed="rId3"/>
                <a:stretch>
                  <a:fillRect l="-4211" b="-901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12C73093-765D-4F29-845F-3A17C235CCE2}"/>
                  </a:ext>
                </a:extLst>
              </p:cNvPr>
              <p:cNvSpPr txBox="1"/>
              <p:nvPr/>
            </p:nvSpPr>
            <p:spPr>
              <a:xfrm>
                <a:off x="3878209" y="4901156"/>
                <a:ext cx="765799" cy="6127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it-IT" i="1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1" name="CasellaDiTesto 10">
                <a:extLst>
                  <a:ext uri="{FF2B5EF4-FFF2-40B4-BE49-F238E27FC236}">
                    <a16:creationId xmlns:a16="http://schemas.microsoft.com/office/drawing/2014/main" id="{12C73093-765D-4F29-845F-3A17C235CC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209" y="4901156"/>
                <a:ext cx="765799" cy="6127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CFCF3144-26C4-4250-901F-E2B349C4C5B2}"/>
              </a:ext>
            </a:extLst>
          </p:cNvPr>
          <p:cNvSpPr txBox="1"/>
          <p:nvPr/>
        </p:nvSpPr>
        <p:spPr>
          <a:xfrm>
            <a:off x="3661324" y="5022856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=</a:t>
            </a:r>
          </a:p>
        </p:txBody>
      </p:sp>
    </p:spTree>
    <p:extLst>
      <p:ext uri="{BB962C8B-B14F-4D97-AF65-F5344CB8AC3E}">
        <p14:creationId xmlns:p14="http://schemas.microsoft.com/office/powerpoint/2010/main" val="2158962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C81D2465-68C3-4466-979F-871B8FB4B576}"/>
              </a:ext>
            </a:extLst>
          </p:cNvPr>
          <p:cNvSpPr/>
          <p:nvPr/>
        </p:nvSpPr>
        <p:spPr>
          <a:xfrm>
            <a:off x="2518392" y="548680"/>
            <a:ext cx="41072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t-IT" altLang="it-IT" b="1" dirty="0">
                <a:latin typeface="Tahoma" pitchFamily="34" charset="0"/>
                <a:cs typeface="Tahoma" pitchFamily="34" charset="0"/>
              </a:rPr>
              <a:t>LA PROBABILITÀ CONDIZIONATA</a:t>
            </a:r>
            <a:endParaRPr lang="it-IT" dirty="0"/>
          </a:p>
        </p:txBody>
      </p:sp>
      <p:sp>
        <p:nvSpPr>
          <p:cNvPr id="4" name="CasellaDiTesto 3">
            <a:extLst>
              <a:ext uri="{FF2B5EF4-FFF2-40B4-BE49-F238E27FC236}">
                <a16:creationId xmlns:a16="http://schemas.microsoft.com/office/drawing/2014/main" id="{8C1B7272-03EB-48FD-96B7-2FAF09706773}"/>
              </a:ext>
            </a:extLst>
          </p:cNvPr>
          <p:cNvSpPr txBox="1"/>
          <p:nvPr/>
        </p:nvSpPr>
        <p:spPr>
          <a:xfrm>
            <a:off x="1043608" y="1556792"/>
            <a:ext cx="7140096" cy="246221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2200" dirty="0"/>
              <a:t>Supponiamo di sapere che un evento </a:t>
            </a:r>
            <a:r>
              <a:rPr lang="it-IT" sz="2200" b="1" dirty="0"/>
              <a:t>B</a:t>
            </a:r>
            <a:r>
              <a:rPr lang="it-IT" sz="2200" dirty="0"/>
              <a:t> ha avuto luogo.</a:t>
            </a:r>
          </a:p>
          <a:p>
            <a:r>
              <a:rPr lang="it-IT" sz="2200" dirty="0"/>
              <a:t>In generale, questo altera le probabilità di altri eventi.</a:t>
            </a:r>
          </a:p>
          <a:p>
            <a:endParaRPr lang="it-IT" sz="2200" dirty="0"/>
          </a:p>
          <a:p>
            <a:r>
              <a:rPr lang="it-IT" sz="2200" dirty="0"/>
              <a:t>Se </a:t>
            </a:r>
            <a:r>
              <a:rPr lang="it-IT" sz="2200" b="1" dirty="0"/>
              <a:t>A</a:t>
            </a:r>
            <a:r>
              <a:rPr lang="it-IT" sz="2200" dirty="0"/>
              <a:t> è un secondo evento, allora A si verifica</a:t>
            </a:r>
          </a:p>
          <a:p>
            <a:r>
              <a:rPr lang="it-IT" sz="2200" b="1" dirty="0"/>
              <a:t>se e solo se </a:t>
            </a:r>
          </a:p>
          <a:p>
            <a:r>
              <a:rPr lang="it-IT" sz="2200" dirty="0"/>
              <a:t>A e B possono verificarsi assieme.</a:t>
            </a:r>
          </a:p>
          <a:p>
            <a:r>
              <a:rPr lang="it-IT" sz="2200" dirty="0"/>
              <a:t>In altre parole, </a:t>
            </a:r>
            <a:r>
              <a:rPr lang="it-IT" sz="2200" b="1" dirty="0"/>
              <a:t>lo spazio campione si è ridotto a B</a:t>
            </a:r>
          </a:p>
        </p:txBody>
      </p:sp>
    </p:spTree>
    <p:extLst>
      <p:ext uri="{BB962C8B-B14F-4D97-AF65-F5344CB8AC3E}">
        <p14:creationId xmlns:p14="http://schemas.microsoft.com/office/powerpoint/2010/main" val="7130059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26FCAB02-706B-4C41-91EA-464E6FC9D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332656"/>
            <a:ext cx="8514451" cy="6396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4598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91DAA930-0EDF-4C8A-9702-EB421C3C8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87" y="221933"/>
            <a:ext cx="8550226" cy="64141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40637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CD8331AD-ADE8-41CA-A916-86CCBE8C22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44" y="454841"/>
            <a:ext cx="8514451" cy="6432001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CDB1EE9C-FD73-4216-9B5C-E0ABCB527980}"/>
              </a:ext>
            </a:extLst>
          </p:cNvPr>
          <p:cNvSpPr/>
          <p:nvPr/>
        </p:nvSpPr>
        <p:spPr>
          <a:xfrm>
            <a:off x="1331640" y="3212976"/>
            <a:ext cx="360040" cy="57606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4" name="Rettangolo 3">
            <a:extLst>
              <a:ext uri="{FF2B5EF4-FFF2-40B4-BE49-F238E27FC236}">
                <a16:creationId xmlns:a16="http://schemas.microsoft.com/office/drawing/2014/main" id="{1E685759-8D7B-4102-A4C0-7B0631BB8E4C}"/>
              </a:ext>
            </a:extLst>
          </p:cNvPr>
          <p:cNvSpPr/>
          <p:nvPr/>
        </p:nvSpPr>
        <p:spPr>
          <a:xfrm>
            <a:off x="1601670" y="3789040"/>
            <a:ext cx="180020" cy="457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67165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A246D0B7-DAB1-46DC-8BDA-DF78A5B3C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74" y="548680"/>
            <a:ext cx="8514451" cy="644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4927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9E5C88AF-C5F0-491B-B640-04109B1BDB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420317"/>
            <a:ext cx="8586001" cy="6432001"/>
          </a:xfrm>
          <a:prstGeom prst="rect">
            <a:avLst/>
          </a:prstGeom>
        </p:spPr>
      </p:pic>
      <p:sp>
        <p:nvSpPr>
          <p:cNvPr id="3" name="Rettangolo 2">
            <a:extLst>
              <a:ext uri="{FF2B5EF4-FFF2-40B4-BE49-F238E27FC236}">
                <a16:creationId xmlns:a16="http://schemas.microsoft.com/office/drawing/2014/main" id="{AAAAB84C-5707-44B5-BD44-2A67EA92E537}"/>
              </a:ext>
            </a:extLst>
          </p:cNvPr>
          <p:cNvSpPr/>
          <p:nvPr/>
        </p:nvSpPr>
        <p:spPr>
          <a:xfrm>
            <a:off x="971600" y="3429000"/>
            <a:ext cx="504056" cy="7200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3D87B006-FE83-4B55-954B-164FED26FA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778" y="3893817"/>
            <a:ext cx="323850" cy="276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8303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7B23F93E-0C99-4F4B-82F6-80E0F4AAE0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887" y="332656"/>
            <a:ext cx="8550226" cy="642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28143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904" y="692696"/>
            <a:ext cx="7370473" cy="5544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3695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162" name="Picture 1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548680"/>
            <a:ext cx="7489825" cy="101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0163" name="Picture 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6200" y="4005064"/>
            <a:ext cx="8991600" cy="2105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" name="Picture 1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60971" y="1831851"/>
            <a:ext cx="8250101" cy="15971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49171D3F-9F42-4FA3-BB29-20724AE925EC}"/>
              </a:ext>
            </a:extLst>
          </p:cNvPr>
          <p:cNvSpPr txBox="1"/>
          <p:nvPr/>
        </p:nvSpPr>
        <p:spPr>
          <a:xfrm>
            <a:off x="7308304" y="143265"/>
            <a:ext cx="12447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Pagina 40</a:t>
            </a:r>
          </a:p>
          <a:p>
            <a:endParaRPr lang="it-IT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52500" y="1738313"/>
            <a:ext cx="7239000" cy="338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5CE99DCE-F953-426E-AAE2-6DEF2B8AE9BC}"/>
              </a:ext>
            </a:extLst>
          </p:cNvPr>
          <p:cNvSpPr txBox="1"/>
          <p:nvPr/>
        </p:nvSpPr>
        <p:spPr>
          <a:xfrm>
            <a:off x="2987824" y="5877272"/>
            <a:ext cx="1223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Pagina 41</a:t>
            </a:r>
          </a:p>
        </p:txBody>
      </p:sp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41722243-D4E6-433E-BA2A-7443EBBCA413}"/>
              </a:ext>
            </a:extLst>
          </p:cNvPr>
          <p:cNvSpPr/>
          <p:nvPr/>
        </p:nvSpPr>
        <p:spPr>
          <a:xfrm>
            <a:off x="5004048" y="2204864"/>
            <a:ext cx="1512168" cy="36004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7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8213" y="1295400"/>
            <a:ext cx="7267575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D5DE0391-1455-468C-B9BA-09F3ECB88E54}"/>
              </a:ext>
            </a:extLst>
          </p:cNvPr>
          <p:cNvSpPr txBox="1"/>
          <p:nvPr/>
        </p:nvSpPr>
        <p:spPr>
          <a:xfrm>
            <a:off x="611560" y="404664"/>
            <a:ext cx="82125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Per trattare probabilità condizionate possono essere utili i diagrammi ad albero</a:t>
            </a:r>
          </a:p>
          <a:p>
            <a:r>
              <a:rPr lang="it-IT" dirty="0"/>
              <a:t>Il libro li spiega passo per passo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890713" y="2420888"/>
            <a:ext cx="5362575" cy="4257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584" y="44624"/>
            <a:ext cx="7219950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3AF1F5C-4277-43DB-9AF8-B32BCF04A38D}"/>
              </a:ext>
            </a:extLst>
          </p:cNvPr>
          <p:cNvSpPr txBox="1"/>
          <p:nvPr/>
        </p:nvSpPr>
        <p:spPr>
          <a:xfrm>
            <a:off x="7884368" y="5877272"/>
            <a:ext cx="73129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sz="1400" dirty="0"/>
              <a:t>Fig.1.3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D2DA59AE-56B9-4036-B4AC-EB3BB230C8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7544" y="116632"/>
            <a:ext cx="8352928" cy="65619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7146012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8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38213" y="1085850"/>
            <a:ext cx="7267575" cy="468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CasellaDiTesto 1">
            <a:extLst>
              <a:ext uri="{FF2B5EF4-FFF2-40B4-BE49-F238E27FC236}">
                <a16:creationId xmlns:a16="http://schemas.microsoft.com/office/drawing/2014/main" id="{0A9A3453-FCA7-4A11-8237-F2BC11CF1A92}"/>
              </a:ext>
            </a:extLst>
          </p:cNvPr>
          <p:cNvSpPr txBox="1"/>
          <p:nvPr/>
        </p:nvSpPr>
        <p:spPr>
          <a:xfrm>
            <a:off x="1331640" y="548680"/>
            <a:ext cx="33009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Il libro spiega passo per passo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8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977" y="1772816"/>
            <a:ext cx="8132662" cy="29563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55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62025" y="1114425"/>
            <a:ext cx="7219950" cy="4629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8">
            <a:extLst>
              <a:ext uri="{FF2B5EF4-FFF2-40B4-BE49-F238E27FC236}">
                <a16:creationId xmlns:a16="http://schemas.microsoft.com/office/drawing/2014/main" id="{936C8A4D-45BB-4C35-AC8E-14171D7401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4005064"/>
            <a:ext cx="6743700" cy="1578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B835EF7B-017D-4F29-BD3B-DA90836860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80" y="1163671"/>
            <a:ext cx="8921040" cy="1335122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F8A1A97E-D349-4C4A-BF9C-B7A1643517DF}"/>
              </a:ext>
            </a:extLst>
          </p:cNvPr>
          <p:cNvSpPr txBox="1"/>
          <p:nvPr/>
        </p:nvSpPr>
        <p:spPr>
          <a:xfrm>
            <a:off x="643116" y="2996952"/>
            <a:ext cx="23930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a)   P(MMMM)</a:t>
            </a:r>
          </a:p>
        </p:txBody>
      </p:sp>
    </p:spTree>
    <p:extLst>
      <p:ext uri="{BB962C8B-B14F-4D97-AF65-F5344CB8AC3E}">
        <p14:creationId xmlns:p14="http://schemas.microsoft.com/office/powerpoint/2010/main" val="3021140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B658FAF3-7B9A-46D7-8FAA-6D968E732BF4}"/>
              </a:ext>
            </a:extLst>
          </p:cNvPr>
          <p:cNvSpPr txBox="1"/>
          <p:nvPr/>
        </p:nvSpPr>
        <p:spPr>
          <a:xfrm>
            <a:off x="1078554" y="2592492"/>
            <a:ext cx="1981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a)   P(MMMM) =</a:t>
            </a: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ECEBD8B-8FB1-4106-8E4E-FC84A869D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500" y="1423202"/>
            <a:ext cx="8078097" cy="67516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FFAF1BF1-C382-4634-A939-A07B76AA4F7E}"/>
                  </a:ext>
                </a:extLst>
              </p:cNvPr>
              <p:cNvSpPr txBox="1"/>
              <p:nvPr/>
            </p:nvSpPr>
            <p:spPr>
              <a:xfrm>
                <a:off x="2932127" y="2484296"/>
                <a:ext cx="1639873" cy="5259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FFAF1BF1-C382-4634-A939-A07B76AA4F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32127" y="2484296"/>
                <a:ext cx="1639873" cy="52597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magine 5">
            <a:extLst>
              <a:ext uri="{FF2B5EF4-FFF2-40B4-BE49-F238E27FC236}">
                <a16:creationId xmlns:a16="http://schemas.microsoft.com/office/drawing/2014/main" id="{E2AD8F81-282A-408F-89AD-E1445D079F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555" y="3325416"/>
            <a:ext cx="1837242" cy="267739"/>
          </a:xfrm>
          <a:prstGeom prst="rect">
            <a:avLst/>
          </a:prstGeom>
        </p:spPr>
      </p:pic>
      <p:sp>
        <p:nvSpPr>
          <p:cNvPr id="8" name="CasellaDiTesto 7">
            <a:extLst>
              <a:ext uri="{FF2B5EF4-FFF2-40B4-BE49-F238E27FC236}">
                <a16:creationId xmlns:a16="http://schemas.microsoft.com/office/drawing/2014/main" id="{D8B2F7FD-4B30-473D-998B-CE130A5F893B}"/>
              </a:ext>
            </a:extLst>
          </p:cNvPr>
          <p:cNvSpPr txBox="1"/>
          <p:nvPr/>
        </p:nvSpPr>
        <p:spPr>
          <a:xfrm>
            <a:off x="1077557" y="4224613"/>
            <a:ext cx="13436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P(FFFF)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A3F0E05C-7C14-4DA5-8E8D-BBD9918073A3}"/>
                  </a:ext>
                </a:extLst>
              </p:cNvPr>
              <p:cNvSpPr txBox="1"/>
              <p:nvPr/>
            </p:nvSpPr>
            <p:spPr>
              <a:xfrm>
                <a:off x="2498049" y="4149080"/>
                <a:ext cx="1639873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9" name="CasellaDiTesto 8">
                <a:extLst>
                  <a:ext uri="{FF2B5EF4-FFF2-40B4-BE49-F238E27FC236}">
                    <a16:creationId xmlns:a16="http://schemas.microsoft.com/office/drawing/2014/main" id="{A3F0E05C-7C14-4DA5-8E8D-BBD9918073A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8049" y="4149080"/>
                <a:ext cx="1639873" cy="52039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4205885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9E600E64-56D1-49B0-9847-115A91A61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631" y="1338770"/>
            <a:ext cx="8825302" cy="59095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B2D82EA8-812C-4DEA-9CC0-A30DCA05D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578" y="1983759"/>
            <a:ext cx="2436019" cy="278606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97D4DA73-7749-4A26-8A13-34BB5E90C223}"/>
              </a:ext>
            </a:extLst>
          </p:cNvPr>
          <p:cNvSpPr txBox="1"/>
          <p:nvPr/>
        </p:nvSpPr>
        <p:spPr>
          <a:xfrm>
            <a:off x="4499992" y="4162288"/>
            <a:ext cx="2362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Quindi: P(2Fe2M)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34D5D6C9-86E6-41AB-904D-3225F3419E3A}"/>
                  </a:ext>
                </a:extLst>
              </p:cNvPr>
              <p:cNvSpPr txBox="1"/>
              <p:nvPr/>
            </p:nvSpPr>
            <p:spPr>
              <a:xfrm>
                <a:off x="2465962" y="2500483"/>
                <a:ext cx="1768113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  <m:r>
                        <a:rPr lang="it-IT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8</m:t>
                          </m:r>
                        </m:den>
                      </m:f>
                      <m:r>
                        <a:rPr lang="it-IT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7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5" name="CasellaDiTesto 4">
                <a:extLst>
                  <a:ext uri="{FF2B5EF4-FFF2-40B4-BE49-F238E27FC236}">
                    <a16:creationId xmlns:a16="http://schemas.microsoft.com/office/drawing/2014/main" id="{34D5D6C9-86E6-41AB-904D-3225F3419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962" y="2500483"/>
                <a:ext cx="1768113" cy="52046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CasellaDiTesto 6">
            <a:extLst>
              <a:ext uri="{FF2B5EF4-FFF2-40B4-BE49-F238E27FC236}">
                <a16:creationId xmlns:a16="http://schemas.microsoft.com/office/drawing/2014/main" id="{54FC74E7-A072-48FF-AEF8-04FB8DC734CA}"/>
              </a:ext>
            </a:extLst>
          </p:cNvPr>
          <p:cNvSpPr txBox="1"/>
          <p:nvPr/>
        </p:nvSpPr>
        <p:spPr>
          <a:xfrm>
            <a:off x="968681" y="3019637"/>
            <a:ext cx="14903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    P(MMFF)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7BFB0771-F5DF-4D56-989E-4BE884BD8678}"/>
                  </a:ext>
                </a:extLst>
              </p:cNvPr>
              <p:cNvSpPr txBox="1"/>
              <p:nvPr/>
            </p:nvSpPr>
            <p:spPr>
              <a:xfrm>
                <a:off x="2465962" y="3177184"/>
                <a:ext cx="320601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8" name="CasellaDiTesto 7">
                <a:extLst>
                  <a:ext uri="{FF2B5EF4-FFF2-40B4-BE49-F238E27FC236}">
                    <a16:creationId xmlns:a16="http://schemas.microsoft.com/office/drawing/2014/main" id="{7BFB0771-F5DF-4D56-989E-4BE884BD86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962" y="3177184"/>
                <a:ext cx="320601" cy="52046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CasellaDiTesto 9">
            <a:extLst>
              <a:ext uri="{FF2B5EF4-FFF2-40B4-BE49-F238E27FC236}">
                <a16:creationId xmlns:a16="http://schemas.microsoft.com/office/drawing/2014/main" id="{6414F09A-AF56-4306-88EC-02F289E4502C}"/>
              </a:ext>
            </a:extLst>
          </p:cNvPr>
          <p:cNvSpPr txBox="1"/>
          <p:nvPr/>
        </p:nvSpPr>
        <p:spPr>
          <a:xfrm>
            <a:off x="975577" y="3591705"/>
            <a:ext cx="1526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    P(MFMF) = 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8960238-09AB-45E2-9EC3-3AB840CDAF22}"/>
              </a:ext>
            </a:extLst>
          </p:cNvPr>
          <p:cNvSpPr txBox="1"/>
          <p:nvPr/>
        </p:nvSpPr>
        <p:spPr>
          <a:xfrm>
            <a:off x="950441" y="4118956"/>
            <a:ext cx="1526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    P(FMMF) = </a:t>
            </a: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CA0D0C04-4F25-472C-8898-E02C07B13580}"/>
              </a:ext>
            </a:extLst>
          </p:cNvPr>
          <p:cNvSpPr txBox="1"/>
          <p:nvPr/>
        </p:nvSpPr>
        <p:spPr>
          <a:xfrm>
            <a:off x="939099" y="4614126"/>
            <a:ext cx="1526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    P(FMFM) = </a:t>
            </a: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A5628870-5799-4A61-AFF7-121916FEB9CA}"/>
              </a:ext>
            </a:extLst>
          </p:cNvPr>
          <p:cNvSpPr txBox="1"/>
          <p:nvPr/>
        </p:nvSpPr>
        <p:spPr>
          <a:xfrm>
            <a:off x="975578" y="5346106"/>
            <a:ext cx="15268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      P(MFFM) 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8BCF5698-2252-4852-9456-495C52C9BEB9}"/>
                  </a:ext>
                </a:extLst>
              </p:cNvPr>
              <p:cNvSpPr txBox="1"/>
              <p:nvPr/>
            </p:nvSpPr>
            <p:spPr>
              <a:xfrm>
                <a:off x="2465962" y="3732923"/>
                <a:ext cx="320601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4" name="CasellaDiTesto 13">
                <a:extLst>
                  <a:ext uri="{FF2B5EF4-FFF2-40B4-BE49-F238E27FC236}">
                    <a16:creationId xmlns:a16="http://schemas.microsoft.com/office/drawing/2014/main" id="{8BCF5698-2252-4852-9456-495C52C9BE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5962" y="3732923"/>
                <a:ext cx="320601" cy="520463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8AD624C2-3341-4350-A516-059524A90A86}"/>
                  </a:ext>
                </a:extLst>
              </p:cNvPr>
              <p:cNvSpPr txBox="1"/>
              <p:nvPr/>
            </p:nvSpPr>
            <p:spPr>
              <a:xfrm>
                <a:off x="2420759" y="4316515"/>
                <a:ext cx="320601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5" name="CasellaDiTesto 14">
                <a:extLst>
                  <a:ext uri="{FF2B5EF4-FFF2-40B4-BE49-F238E27FC236}">
                    <a16:creationId xmlns:a16="http://schemas.microsoft.com/office/drawing/2014/main" id="{8AD624C2-3341-4350-A516-059524A90A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20759" y="4316515"/>
                <a:ext cx="320601" cy="52046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E0A40F7F-FEAD-41AC-8294-0F2DD0816CE1}"/>
                  </a:ext>
                </a:extLst>
              </p:cNvPr>
              <p:cNvSpPr txBox="1"/>
              <p:nvPr/>
            </p:nvSpPr>
            <p:spPr>
              <a:xfrm>
                <a:off x="2376475" y="4843650"/>
                <a:ext cx="320601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6" name="CasellaDiTesto 15">
                <a:extLst>
                  <a:ext uri="{FF2B5EF4-FFF2-40B4-BE49-F238E27FC236}">
                    <a16:creationId xmlns:a16="http://schemas.microsoft.com/office/drawing/2014/main" id="{E0A40F7F-FEAD-41AC-8294-0F2DD0816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76475" y="4843650"/>
                <a:ext cx="320601" cy="52046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AC2CC7FB-9FE4-48C7-AD10-1B0CCE455E52}"/>
                  </a:ext>
                </a:extLst>
              </p:cNvPr>
              <p:cNvSpPr txBox="1"/>
              <p:nvPr/>
            </p:nvSpPr>
            <p:spPr>
              <a:xfrm>
                <a:off x="2317003" y="5495395"/>
                <a:ext cx="320601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7" name="CasellaDiTesto 16">
                <a:extLst>
                  <a:ext uri="{FF2B5EF4-FFF2-40B4-BE49-F238E27FC236}">
                    <a16:creationId xmlns:a16="http://schemas.microsoft.com/office/drawing/2014/main" id="{AC2CC7FB-9FE4-48C7-AD10-1B0CCE455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7003" y="5495395"/>
                <a:ext cx="320601" cy="52046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8A0BF94E-6F5D-4DB7-A906-2ECFDFEB1824}"/>
              </a:ext>
            </a:extLst>
          </p:cNvPr>
          <p:cNvSpPr txBox="1"/>
          <p:nvPr/>
        </p:nvSpPr>
        <p:spPr>
          <a:xfrm>
            <a:off x="768663" y="2546649"/>
            <a:ext cx="1768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c)   P(FFMM) 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8C39FE28-9FCB-4032-9008-C82D49C972D4}"/>
                  </a:ext>
                </a:extLst>
              </p:cNvPr>
              <p:cNvSpPr txBox="1"/>
              <p:nvPr/>
            </p:nvSpPr>
            <p:spPr>
              <a:xfrm>
                <a:off x="6862439" y="4056283"/>
                <a:ext cx="878446" cy="52046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45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it-IT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19" name="CasellaDiTesto 18">
                <a:extLst>
                  <a:ext uri="{FF2B5EF4-FFF2-40B4-BE49-F238E27FC236}">
                    <a16:creationId xmlns:a16="http://schemas.microsoft.com/office/drawing/2014/main" id="{8C39FE28-9FCB-4032-9008-C82D49C97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62439" y="4056283"/>
                <a:ext cx="878446" cy="52046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D8CB91DB-4E2D-431E-B5F3-19F73A9A1A80}"/>
              </a:ext>
            </a:extLst>
          </p:cNvPr>
          <p:cNvSpPr txBox="1"/>
          <p:nvPr/>
        </p:nvSpPr>
        <p:spPr>
          <a:xfrm>
            <a:off x="4134452" y="4962686"/>
            <a:ext cx="33121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Permutazioni con ripetizione </a:t>
            </a:r>
            <a:r>
              <a:rPr lang="it-IT" sz="1500" dirty="0"/>
              <a:t>=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1FA60939-BDC8-422D-81FB-8610453BBF02}"/>
                  </a:ext>
                </a:extLst>
              </p:cNvPr>
              <p:cNvSpPr txBox="1"/>
              <p:nvPr/>
            </p:nvSpPr>
            <p:spPr>
              <a:xfrm>
                <a:off x="7333121" y="4895263"/>
                <a:ext cx="920124" cy="5175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it-IT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4!</m:t>
                          </m:r>
                        </m:num>
                        <m:den>
                          <m:r>
                            <a:rPr lang="it-IT" b="0" i="1" smtClean="0">
                              <a:latin typeface="Cambria Math" panose="02040503050406030204" pitchFamily="18" charset="0"/>
                            </a:rPr>
                            <m:t>2!2!</m:t>
                          </m:r>
                        </m:den>
                      </m:f>
                      <m:r>
                        <a:rPr lang="it-IT" b="0" i="1" smtClean="0">
                          <a:latin typeface="Cambria Math" panose="02040503050406030204" pitchFamily="18" charset="0"/>
                        </a:rPr>
                        <m:t>=6</m:t>
                      </m:r>
                    </m:oMath>
                  </m:oMathPara>
                </a14:m>
                <a:endParaRPr lang="it-IT" dirty="0"/>
              </a:p>
            </p:txBody>
          </p:sp>
        </mc:Choice>
        <mc:Fallback xmlns="">
          <p:sp>
            <p:nvSpPr>
              <p:cNvPr id="21" name="CasellaDiTesto 20">
                <a:extLst>
                  <a:ext uri="{FF2B5EF4-FFF2-40B4-BE49-F238E27FC236}">
                    <a16:creationId xmlns:a16="http://schemas.microsoft.com/office/drawing/2014/main" id="{1FA60939-BDC8-422D-81FB-8610453BB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33121" y="4895263"/>
                <a:ext cx="920124" cy="51757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035786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6DE44954-E5A0-4CEB-AD0D-0851A9C7E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700013"/>
            <a:ext cx="7150082" cy="1089027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54F21758-7694-42C6-B583-86C6FE1B7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379" y="1081549"/>
            <a:ext cx="8558213" cy="1171575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0CEB91B6-033F-4BBF-A4A6-D64C425234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4048" y="3895176"/>
            <a:ext cx="2589358" cy="297818"/>
          </a:xfrm>
          <a:prstGeom prst="rect">
            <a:avLst/>
          </a:prstGeom>
        </p:spPr>
      </p:pic>
      <p:sp>
        <p:nvSpPr>
          <p:cNvPr id="6" name="Rettangolo 5">
            <a:extLst>
              <a:ext uri="{FF2B5EF4-FFF2-40B4-BE49-F238E27FC236}">
                <a16:creationId xmlns:a16="http://schemas.microsoft.com/office/drawing/2014/main" id="{797B120B-3C57-4D5D-B79A-EB28D09662F0}"/>
              </a:ext>
            </a:extLst>
          </p:cNvPr>
          <p:cNvSpPr/>
          <p:nvPr/>
        </p:nvSpPr>
        <p:spPr>
          <a:xfrm>
            <a:off x="3868445" y="3593791"/>
            <a:ext cx="759041" cy="532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C57846AC-B2DD-4CE4-8589-47A5559AED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0360" y="490302"/>
            <a:ext cx="5171790" cy="28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3346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4F21758-7694-42C6-B583-86C6FE1B7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79" y="1081549"/>
            <a:ext cx="8558213" cy="1171575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57846AC-B2DD-4CE4-8589-47A5559AED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0360" y="490302"/>
            <a:ext cx="5171790" cy="28871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CBF38B12-EC54-4C44-AC42-4337B78223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228" y="2414127"/>
            <a:ext cx="818197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40647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54F21758-7694-42C6-B583-86C6FE1B7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79" y="1081549"/>
            <a:ext cx="8558213" cy="1171575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A12DE38A-BD20-4600-AD8D-41AE6174D7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7704" y="3356992"/>
            <a:ext cx="3650679" cy="171237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C57846AC-B2DD-4CE4-8589-47A5559AED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0360" y="490302"/>
            <a:ext cx="5171790" cy="288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9975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B53F3C6D-B49D-4713-9DA7-61C60C902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67" y="1196752"/>
            <a:ext cx="8649786" cy="1637999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8C644B7A-7DCF-4DB4-897F-66FDEE6525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632" y="3429000"/>
            <a:ext cx="2900150" cy="136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98235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AF68AC4A-4142-4C8F-92F6-6AF9DC106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561" y="1988840"/>
            <a:ext cx="8564271" cy="194421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C3795F2A-2798-4CC9-A0AB-935105E78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616" y="908720"/>
            <a:ext cx="4972301" cy="344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0493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AF68AC4A-4142-4C8F-92F6-6AF9DC106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85" y="476672"/>
            <a:ext cx="8594877" cy="1951164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FBBFA398-48C7-4282-A6BD-0ABB289DBC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9650" y="3157537"/>
            <a:ext cx="5434558" cy="414131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36614C42-408C-4EE7-8954-17217885C0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4077072"/>
            <a:ext cx="6753225" cy="126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9292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08B853B-0FF6-41EC-8C64-B5A69DD9E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637" y="332656"/>
            <a:ext cx="5873849" cy="362583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CA3E2CE3-80A6-4CDD-84C8-9D0E722B18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584" y="980728"/>
            <a:ext cx="732472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48193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A08B853B-0FF6-41EC-8C64-B5A69DD9E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307" y="980728"/>
            <a:ext cx="5873849" cy="362583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D65854DA-9C5F-4D9E-9507-78458695F4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195512"/>
            <a:ext cx="7924800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9055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AF68AC4A-4142-4C8F-92F6-6AF9DC106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885" y="476672"/>
            <a:ext cx="8594877" cy="1951164"/>
          </a:xfrm>
          <a:prstGeom prst="rect">
            <a:avLst/>
          </a:prstGeom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7D3C46CD-123D-44C4-A44E-A3BC34F7B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560" y="2564904"/>
            <a:ext cx="4659040" cy="283183"/>
          </a:xfrm>
          <a:prstGeom prst="rect">
            <a:avLst/>
          </a:prstGeom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D22835A2-06F8-4855-8242-51CD1C207BD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317" y="3372890"/>
            <a:ext cx="6096000" cy="2114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3754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616C4276-88A7-4472-AA69-3707BF499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911" y="1340768"/>
            <a:ext cx="9144000" cy="1413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433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322513"/>
            <a:ext cx="8134350" cy="22098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spcAft>
                <a:spcPct val="50000"/>
              </a:spcAft>
            </a:pPr>
            <a:r>
              <a:rPr lang="it-IT" altLang="it-IT" sz="2800" b="1" dirty="0">
                <a:solidFill>
                  <a:srgbClr val="FF3300"/>
                </a:solidFill>
                <a:latin typeface="Tahoma" pitchFamily="34" charset="0"/>
                <a:cs typeface="Tahoma" pitchFamily="34" charset="0"/>
              </a:rPr>
              <a:t>INDIPENDENZA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3234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6675" y="504825"/>
            <a:ext cx="9010650" cy="5848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258" name="Rectangle 1026"/>
          <p:cNvSpPr>
            <a:spLocks noChangeArrowheads="1"/>
          </p:cNvSpPr>
          <p:nvPr/>
        </p:nvSpPr>
        <p:spPr bwMode="auto">
          <a:xfrm>
            <a:off x="0" y="171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224259" name="Picture 1027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7088" y="1196975"/>
            <a:ext cx="7489825" cy="1012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4260" name="Picture 1028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27088" y="4835525"/>
            <a:ext cx="7489825" cy="95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4261" name="Picture 1029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04825" y="3527425"/>
            <a:ext cx="8135938" cy="1044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28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963" y="1395413"/>
            <a:ext cx="8982075" cy="4067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0" y="-14668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t-IT" altLang="it-IT">
              <a:solidFill>
                <a:srgbClr val="000000"/>
              </a:solidFill>
            </a:endParaRP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755650" y="1000125"/>
            <a:ext cx="7632700" cy="249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495300" indent="-495300" algn="ctr" eaLnBrk="1" hangingPunct="1"/>
            <a:r>
              <a:rPr lang="it-IT" altLang="it-IT" sz="2600">
                <a:solidFill>
                  <a:srgbClr val="000000"/>
                </a:solidFill>
                <a:latin typeface="Times New Roman" pitchFamily="18" charset="0"/>
              </a:rPr>
              <a:t>Si</a:t>
            </a:r>
            <a:r>
              <a:rPr lang="it-IT" altLang="it-IT" sz="2600" b="1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it-IT" altLang="it-IT" sz="2600">
                <a:solidFill>
                  <a:srgbClr val="000000"/>
                </a:solidFill>
                <a:latin typeface="Times New Roman" pitchFamily="18" charset="0"/>
              </a:rPr>
              <a:t>lancia una moneta 7 volte.</a:t>
            </a:r>
          </a:p>
          <a:p>
            <a:pPr marL="495300" indent="-495300" algn="ctr" eaLnBrk="1" hangingPunct="1"/>
            <a:r>
              <a:rPr lang="it-IT" altLang="it-IT" sz="2600">
                <a:solidFill>
                  <a:srgbClr val="000000"/>
                </a:solidFill>
                <a:latin typeface="Times New Roman" pitchFamily="18" charset="0"/>
              </a:rPr>
              <a:t>Su quale di queste sequenze scommettete?</a:t>
            </a:r>
          </a:p>
          <a:p>
            <a:pPr marL="495300" indent="-495300" algn="ctr" eaLnBrk="1" hangingPunct="1"/>
            <a:endParaRPr lang="it-IT" altLang="it-IT" sz="2600">
              <a:solidFill>
                <a:srgbClr val="000000"/>
              </a:solidFill>
              <a:latin typeface="Times New Roman" pitchFamily="18" charset="0"/>
            </a:endParaRPr>
          </a:p>
          <a:p>
            <a:pPr marL="1866900" lvl="3" indent="-495300" eaLnBrk="1" hangingPunct="1">
              <a:buFontTx/>
              <a:buAutoNum type="arabicParenR"/>
            </a:pPr>
            <a:r>
              <a:rPr lang="it-IT" altLang="it-IT" sz="2600" b="1">
                <a:solidFill>
                  <a:srgbClr val="000000"/>
                </a:solidFill>
                <a:latin typeface="Times New Roman" pitchFamily="18" charset="0"/>
              </a:rPr>
              <a:t>T T T T C C C </a:t>
            </a:r>
          </a:p>
          <a:p>
            <a:pPr marL="1866900" lvl="3" indent="-495300" eaLnBrk="1" hangingPunct="1">
              <a:buFontTx/>
              <a:buAutoNum type="arabicParenR"/>
            </a:pPr>
            <a:r>
              <a:rPr lang="it-IT" altLang="it-IT" sz="2600" b="1">
                <a:solidFill>
                  <a:srgbClr val="000000"/>
                </a:solidFill>
                <a:latin typeface="Times New Roman" pitchFamily="18" charset="0"/>
              </a:rPr>
              <a:t>C T T C T C C</a:t>
            </a:r>
          </a:p>
          <a:p>
            <a:pPr marL="1866900" lvl="3" indent="-495300" eaLnBrk="1" hangingPunct="1">
              <a:buFontTx/>
              <a:buAutoNum type="arabicParenR"/>
            </a:pPr>
            <a:r>
              <a:rPr lang="it-IT" altLang="it-IT" sz="2600" b="1">
                <a:solidFill>
                  <a:srgbClr val="000000"/>
                </a:solidFill>
                <a:latin typeface="Times New Roman" pitchFamily="18" charset="0"/>
              </a:rPr>
              <a:t>C C C C C C C</a:t>
            </a:r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4478338" y="2538413"/>
            <a:ext cx="1841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60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2"/>
          <p:cNvSpPr>
            <a:spLocks noChangeArrowheads="1"/>
          </p:cNvSpPr>
          <p:nvPr/>
        </p:nvSpPr>
        <p:spPr bwMode="auto">
          <a:xfrm>
            <a:off x="0" y="-14668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t-IT" altLang="it-IT">
              <a:solidFill>
                <a:srgbClr val="000000"/>
              </a:solidFill>
            </a:endParaRPr>
          </a:p>
        </p:txBody>
      </p:sp>
      <p:sp>
        <p:nvSpPr>
          <p:cNvPr id="13316" name="Rectangle 3"/>
          <p:cNvSpPr>
            <a:spLocks noChangeArrowheads="1"/>
          </p:cNvSpPr>
          <p:nvPr/>
        </p:nvSpPr>
        <p:spPr bwMode="auto">
          <a:xfrm>
            <a:off x="755650" y="1000125"/>
            <a:ext cx="7632700" cy="2492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495300" indent="-495300" algn="ctr" eaLnBrk="1" hangingPunct="1"/>
            <a:r>
              <a:rPr lang="it-IT" altLang="it-IT" sz="2600">
                <a:solidFill>
                  <a:srgbClr val="000000"/>
                </a:solidFill>
                <a:latin typeface="Times New Roman" pitchFamily="18" charset="0"/>
              </a:rPr>
              <a:t>Si</a:t>
            </a:r>
            <a:r>
              <a:rPr lang="it-IT" altLang="it-IT" sz="2600" b="1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it-IT" altLang="it-IT" sz="2600">
                <a:solidFill>
                  <a:srgbClr val="000000"/>
                </a:solidFill>
                <a:latin typeface="Times New Roman" pitchFamily="18" charset="0"/>
              </a:rPr>
              <a:t>lancia una moneta 7 volte.</a:t>
            </a:r>
          </a:p>
          <a:p>
            <a:pPr marL="495300" indent="-495300" algn="ctr" eaLnBrk="1" hangingPunct="1"/>
            <a:r>
              <a:rPr lang="it-IT" altLang="it-IT" sz="2600">
                <a:solidFill>
                  <a:srgbClr val="000000"/>
                </a:solidFill>
                <a:latin typeface="Times New Roman" pitchFamily="18" charset="0"/>
              </a:rPr>
              <a:t>Su quale di queste sequenze scommettete?</a:t>
            </a:r>
          </a:p>
          <a:p>
            <a:pPr marL="495300" indent="-495300" algn="ctr" eaLnBrk="1" hangingPunct="1"/>
            <a:endParaRPr lang="it-IT" altLang="it-IT" sz="2600">
              <a:solidFill>
                <a:srgbClr val="000000"/>
              </a:solidFill>
              <a:latin typeface="Times New Roman" pitchFamily="18" charset="0"/>
            </a:endParaRPr>
          </a:p>
          <a:p>
            <a:pPr marL="1866900" lvl="3" indent="-495300" eaLnBrk="1" hangingPunct="1">
              <a:buFontTx/>
              <a:buAutoNum type="arabicParenR"/>
            </a:pPr>
            <a:r>
              <a:rPr lang="it-IT" altLang="it-IT" sz="2600" b="1">
                <a:solidFill>
                  <a:srgbClr val="000000"/>
                </a:solidFill>
                <a:latin typeface="Times New Roman" pitchFamily="18" charset="0"/>
              </a:rPr>
              <a:t>T T T T C C C </a:t>
            </a:r>
          </a:p>
          <a:p>
            <a:pPr marL="1866900" lvl="3" indent="-495300" eaLnBrk="1" hangingPunct="1">
              <a:buFontTx/>
              <a:buAutoNum type="arabicParenR"/>
            </a:pPr>
            <a:r>
              <a:rPr lang="it-IT" altLang="it-IT" sz="2600" b="1">
                <a:solidFill>
                  <a:srgbClr val="000000"/>
                </a:solidFill>
                <a:latin typeface="Times New Roman" pitchFamily="18" charset="0"/>
              </a:rPr>
              <a:t>C T T C T C C</a:t>
            </a:r>
          </a:p>
          <a:p>
            <a:pPr marL="1866900" lvl="3" indent="-495300" eaLnBrk="1" hangingPunct="1">
              <a:buFontTx/>
              <a:buAutoNum type="arabicParenR"/>
            </a:pPr>
            <a:r>
              <a:rPr lang="it-IT" altLang="it-IT" sz="2600" b="1">
                <a:solidFill>
                  <a:srgbClr val="000000"/>
                </a:solidFill>
                <a:latin typeface="Times New Roman" pitchFamily="18" charset="0"/>
              </a:rPr>
              <a:t>C C C C C C C</a:t>
            </a:r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4478338" y="2538413"/>
            <a:ext cx="184150" cy="488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60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976313" y="3621088"/>
            <a:ext cx="7772400" cy="1331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it-IT" sz="2400" kern="0" dirty="0">
                <a:solidFill>
                  <a:srgbClr val="000000"/>
                </a:solidFill>
                <a:latin typeface="Arial"/>
              </a:rPr>
              <a:t>	</a:t>
            </a:r>
          </a:p>
          <a:p>
            <a:pPr marL="342900" indent="-342900" eaLnBrk="1" hangingPunct="1">
              <a:lnSpc>
                <a:spcPct val="90000"/>
              </a:lnSpc>
              <a:spcBef>
                <a:spcPct val="20000"/>
              </a:spcBef>
              <a:defRPr/>
            </a:pPr>
            <a:r>
              <a:rPr lang="it-IT" sz="2400" kern="0" dirty="0">
                <a:solidFill>
                  <a:srgbClr val="000000"/>
                </a:solidFill>
                <a:latin typeface="Arial"/>
              </a:rPr>
              <a:t>	Il calcolo delle probabilità ci dice che qualunque sequenza di sette lanci ha la stessa probabilità.</a:t>
            </a:r>
          </a:p>
        </p:txBody>
      </p:sp>
      <p:graphicFrame>
        <p:nvGraphicFramePr>
          <p:cNvPr id="13314" name="Object 24"/>
          <p:cNvGraphicFramePr>
            <a:graphicFrameLocks noChangeAspect="1"/>
          </p:cNvGraphicFramePr>
          <p:nvPr/>
        </p:nvGraphicFramePr>
        <p:xfrm>
          <a:off x="2124075" y="5037138"/>
          <a:ext cx="5110163" cy="966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6" name="Equazione" r:id="rId4" imgW="2501900" imgH="469900" progId="">
                  <p:embed/>
                </p:oleObj>
              </mc:Choice>
              <mc:Fallback>
                <p:oleObj name="Equazione" r:id="rId4" imgW="2501900" imgH="469900" progId="">
                  <p:embed/>
                  <p:pic>
                    <p:nvPicPr>
                      <p:cNvPr id="13314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5037138"/>
                        <a:ext cx="5110163" cy="9667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377433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ChangeArrowheads="1"/>
          </p:cNvSpPr>
          <p:nvPr/>
        </p:nvSpPr>
        <p:spPr bwMode="auto">
          <a:xfrm>
            <a:off x="0" y="-17573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t-IT" altLang="it-IT">
              <a:solidFill>
                <a:srgbClr val="000000"/>
              </a:solidFill>
            </a:endParaRPr>
          </a:p>
        </p:txBody>
      </p:sp>
      <p:sp>
        <p:nvSpPr>
          <p:cNvPr id="226308" name="Rectangle 4"/>
          <p:cNvSpPr>
            <a:spLocks noChangeArrowheads="1"/>
          </p:cNvSpPr>
          <p:nvPr/>
        </p:nvSpPr>
        <p:spPr bwMode="auto">
          <a:xfrm>
            <a:off x="971600" y="1340768"/>
            <a:ext cx="7091363" cy="2654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495300" indent="-495300" eaLnBrk="1" hangingPunct="1"/>
            <a:r>
              <a:rPr lang="it-IT" altLang="it-IT" sz="3000" dirty="0">
                <a:solidFill>
                  <a:srgbClr val="000000"/>
                </a:solidFill>
                <a:latin typeface="Times New Roman" pitchFamily="18" charset="0"/>
              </a:rPr>
              <a:t>Un dado ha quattro facce verdi e due rosse.</a:t>
            </a:r>
          </a:p>
          <a:p>
            <a:pPr marL="495300" indent="-495300" eaLnBrk="1" hangingPunct="1"/>
            <a:r>
              <a:rPr lang="it-IT" altLang="it-IT" sz="3000" dirty="0">
                <a:solidFill>
                  <a:srgbClr val="000000"/>
                </a:solidFill>
                <a:latin typeface="Times New Roman" pitchFamily="18" charset="0"/>
              </a:rPr>
              <a:t>Su quale di queste sequenze scommettete?</a:t>
            </a:r>
          </a:p>
          <a:p>
            <a:pPr marL="495300" indent="-495300" eaLnBrk="1" hangingPunct="1"/>
            <a:endParaRPr lang="it-IT" altLang="it-IT" sz="3000" dirty="0">
              <a:solidFill>
                <a:srgbClr val="000000"/>
              </a:solidFill>
              <a:latin typeface="Times New Roman" pitchFamily="18" charset="0"/>
            </a:endParaRPr>
          </a:p>
          <a:p>
            <a:pPr marL="514350" indent="-514350" eaLnBrk="1" hangingPunct="1">
              <a:buFont typeface="+mj-lt"/>
              <a:buAutoNum type="arabicPeriod"/>
            </a:pPr>
            <a:r>
              <a:rPr lang="it-IT" altLang="it-IT" sz="2600" b="1" dirty="0">
                <a:solidFill>
                  <a:srgbClr val="000000"/>
                </a:solidFill>
                <a:latin typeface="Times New Roman" pitchFamily="18" charset="0"/>
              </a:rPr>
              <a:t>R V R </a:t>
            </a:r>
            <a:r>
              <a:rPr lang="it-IT" altLang="it-IT" sz="2600" b="1" dirty="0" err="1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it-IT" altLang="it-IT" sz="26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it-IT" altLang="it-IT" sz="2600" b="1" dirty="0" err="1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it-IT" altLang="it-IT" sz="2600" b="1" dirty="0">
                <a:solidFill>
                  <a:srgbClr val="000000"/>
                </a:solidFill>
                <a:latin typeface="Times New Roman" pitchFamily="18" charset="0"/>
              </a:rPr>
              <a:t>  </a:t>
            </a:r>
          </a:p>
          <a:p>
            <a:pPr marL="514350" indent="-514350" eaLnBrk="1" hangingPunct="1">
              <a:buFont typeface="+mj-lt"/>
              <a:buAutoNum type="arabicPeriod" startAt="2"/>
            </a:pPr>
            <a:r>
              <a:rPr lang="it-IT" altLang="it-IT" sz="2600" b="1" dirty="0">
                <a:solidFill>
                  <a:srgbClr val="000000"/>
                </a:solidFill>
                <a:latin typeface="Times New Roman" pitchFamily="18" charset="0"/>
              </a:rPr>
              <a:t>V R V R </a:t>
            </a:r>
            <a:r>
              <a:rPr lang="it-IT" altLang="it-IT" sz="2600" b="1" dirty="0" err="1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it-IT" altLang="it-IT" sz="26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it-IT" altLang="it-IT" sz="2600" b="1" dirty="0" err="1">
                <a:solidFill>
                  <a:srgbClr val="000000"/>
                </a:solidFill>
                <a:latin typeface="Times New Roman" pitchFamily="18" charset="0"/>
              </a:rPr>
              <a:t>R</a:t>
            </a:r>
            <a:endParaRPr lang="it-IT" altLang="it-IT" sz="2600" b="1" dirty="0">
              <a:solidFill>
                <a:srgbClr val="000000"/>
              </a:solidFill>
              <a:latin typeface="Times New Roman" pitchFamily="18" charset="0"/>
            </a:endParaRPr>
          </a:p>
          <a:p>
            <a:pPr marL="514350" indent="-514350" eaLnBrk="1" hangingPunct="1">
              <a:buFont typeface="+mj-lt"/>
              <a:buAutoNum type="arabicPeriod" startAt="3"/>
            </a:pPr>
            <a:r>
              <a:rPr lang="it-IT" altLang="it-IT" sz="2600" b="1" dirty="0">
                <a:solidFill>
                  <a:srgbClr val="000000"/>
                </a:solidFill>
                <a:latin typeface="Times New Roman" pitchFamily="18" charset="0"/>
              </a:rPr>
              <a:t>V R </a:t>
            </a:r>
            <a:r>
              <a:rPr lang="it-IT" altLang="it-IT" sz="2600" b="1" dirty="0" err="1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it-IT" altLang="it-IT" sz="26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it-IT" altLang="it-IT" sz="2600" b="1" dirty="0" err="1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it-IT" altLang="it-IT" sz="26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it-IT" altLang="it-IT" sz="2600" b="1" dirty="0" err="1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it-IT" altLang="it-IT" sz="2600" b="1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r>
              <a:rPr lang="it-IT" altLang="it-IT" sz="2600" b="1" dirty="0" err="1">
                <a:solidFill>
                  <a:srgbClr val="000000"/>
                </a:solidFill>
                <a:latin typeface="Times New Roman" pitchFamily="18" charset="0"/>
              </a:rPr>
              <a:t>R</a:t>
            </a:r>
            <a:r>
              <a:rPr lang="it-IT" altLang="it-IT" sz="2400" dirty="0">
                <a:solidFill>
                  <a:srgbClr val="000000"/>
                </a:solidFill>
                <a:latin typeface="Times New Roman" pitchFamily="18" charset="0"/>
              </a:rPr>
              <a:t> </a:t>
            </a:r>
            <a:endParaRPr lang="it-IT" altLang="it-IT" sz="2600" dirty="0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ChangeArrowheads="1"/>
          </p:cNvSpPr>
          <p:nvPr/>
        </p:nvSpPr>
        <p:spPr bwMode="auto">
          <a:xfrm>
            <a:off x="0" y="-17573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t-IT" altLang="it-IT">
              <a:solidFill>
                <a:srgbClr val="000000"/>
              </a:solidFill>
            </a:endParaRPr>
          </a:p>
        </p:txBody>
      </p:sp>
      <p:grpSp>
        <p:nvGrpSpPr>
          <p:cNvPr id="226307" name="Gruppo 5"/>
          <p:cNvGrpSpPr>
            <a:grpSpLocks/>
          </p:cNvGrpSpPr>
          <p:nvPr/>
        </p:nvGrpSpPr>
        <p:grpSpPr bwMode="auto">
          <a:xfrm>
            <a:off x="1023938" y="173038"/>
            <a:ext cx="7508875" cy="6496050"/>
            <a:chOff x="1023938" y="246063"/>
            <a:chExt cx="7508875" cy="6496050"/>
          </a:xfrm>
        </p:grpSpPr>
        <p:sp>
          <p:nvSpPr>
            <p:cNvPr id="226308" name="Rectangle 4"/>
            <p:cNvSpPr>
              <a:spLocks noChangeArrowheads="1"/>
            </p:cNvSpPr>
            <p:nvPr/>
          </p:nvSpPr>
          <p:spPr bwMode="auto">
            <a:xfrm>
              <a:off x="1025525" y="246063"/>
              <a:ext cx="7091363" cy="26543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marL="495300" indent="-495300" eaLnBrk="1" hangingPunct="1"/>
              <a:r>
                <a:rPr lang="it-IT" altLang="it-IT" sz="3000" dirty="0">
                  <a:solidFill>
                    <a:srgbClr val="000000"/>
                  </a:solidFill>
                  <a:latin typeface="Times New Roman" pitchFamily="18" charset="0"/>
                </a:rPr>
                <a:t>Un dado ha quattro facce verdi e due rosse.</a:t>
              </a:r>
            </a:p>
            <a:p>
              <a:pPr marL="495300" indent="-495300" eaLnBrk="1" hangingPunct="1"/>
              <a:r>
                <a:rPr lang="it-IT" altLang="it-IT" sz="3000" dirty="0">
                  <a:solidFill>
                    <a:srgbClr val="000000"/>
                  </a:solidFill>
                  <a:latin typeface="Times New Roman" pitchFamily="18" charset="0"/>
                </a:rPr>
                <a:t>Su quale di queste sequenze scommettete?</a:t>
              </a:r>
            </a:p>
            <a:p>
              <a:pPr marL="495300" indent="-495300" eaLnBrk="1" hangingPunct="1"/>
              <a:endParaRPr lang="it-IT" altLang="it-IT" sz="3000" dirty="0">
                <a:solidFill>
                  <a:srgbClr val="000000"/>
                </a:solidFill>
                <a:latin typeface="Times New Roman" pitchFamily="18" charset="0"/>
              </a:endParaRPr>
            </a:p>
            <a:p>
              <a:pPr marL="514350" indent="-514350" eaLnBrk="1" hangingPunct="1">
                <a:buFont typeface="+mj-lt"/>
                <a:buAutoNum type="arabicPeriod"/>
              </a:pPr>
              <a:r>
                <a:rPr lang="it-IT" altLang="it-IT" sz="2600" b="1" dirty="0">
                  <a:solidFill>
                    <a:srgbClr val="000000"/>
                  </a:solidFill>
                  <a:latin typeface="Times New Roman" pitchFamily="18" charset="0"/>
                </a:rPr>
                <a:t>R V R </a:t>
              </a:r>
              <a:r>
                <a:rPr lang="it-IT" altLang="it-IT" sz="2600" b="1" dirty="0" err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r>
                <a:rPr lang="it-IT" altLang="it-IT" sz="2600" b="1" dirty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it-IT" altLang="it-IT" sz="2600" b="1" dirty="0" err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r>
                <a:rPr lang="it-IT" altLang="it-IT" sz="2600" b="1" dirty="0">
                  <a:solidFill>
                    <a:srgbClr val="000000"/>
                  </a:solidFill>
                  <a:latin typeface="Times New Roman" pitchFamily="18" charset="0"/>
                </a:rPr>
                <a:t>  </a:t>
              </a:r>
            </a:p>
            <a:p>
              <a:pPr marL="514350" indent="-514350" eaLnBrk="1" hangingPunct="1">
                <a:buFont typeface="+mj-lt"/>
                <a:buAutoNum type="arabicPeriod" startAt="2"/>
              </a:pPr>
              <a:r>
                <a:rPr lang="it-IT" altLang="it-IT" sz="2600" b="1" dirty="0">
                  <a:solidFill>
                    <a:srgbClr val="000000"/>
                  </a:solidFill>
                  <a:latin typeface="Times New Roman" pitchFamily="18" charset="0"/>
                </a:rPr>
                <a:t>V R V R </a:t>
              </a:r>
              <a:r>
                <a:rPr lang="it-IT" altLang="it-IT" sz="2600" b="1" dirty="0" err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r>
                <a:rPr lang="it-IT" altLang="it-IT" sz="2600" b="1" dirty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it-IT" altLang="it-IT" sz="2600" b="1" dirty="0" err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endParaRPr lang="it-IT" altLang="it-IT" sz="2600" b="1" dirty="0">
                <a:solidFill>
                  <a:srgbClr val="000000"/>
                </a:solidFill>
                <a:latin typeface="Times New Roman" pitchFamily="18" charset="0"/>
              </a:endParaRPr>
            </a:p>
            <a:p>
              <a:pPr marL="514350" indent="-514350" eaLnBrk="1" hangingPunct="1">
                <a:buFont typeface="+mj-lt"/>
                <a:buAutoNum type="arabicPeriod" startAt="3"/>
              </a:pPr>
              <a:r>
                <a:rPr lang="it-IT" altLang="it-IT" sz="2600" b="1" dirty="0">
                  <a:solidFill>
                    <a:srgbClr val="000000"/>
                  </a:solidFill>
                  <a:latin typeface="Times New Roman" pitchFamily="18" charset="0"/>
                </a:rPr>
                <a:t>V R </a:t>
              </a:r>
              <a:r>
                <a:rPr lang="it-IT" altLang="it-IT" sz="2600" b="1" dirty="0" err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r>
                <a:rPr lang="it-IT" altLang="it-IT" sz="2600" b="1" dirty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it-IT" altLang="it-IT" sz="2600" b="1" dirty="0" err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r>
                <a:rPr lang="it-IT" altLang="it-IT" sz="2600" b="1" dirty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it-IT" altLang="it-IT" sz="2600" b="1" dirty="0" err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r>
                <a:rPr lang="it-IT" altLang="it-IT" sz="2600" b="1" dirty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r>
                <a:rPr lang="it-IT" altLang="it-IT" sz="2600" b="1" dirty="0" err="1">
                  <a:solidFill>
                    <a:srgbClr val="000000"/>
                  </a:solidFill>
                  <a:latin typeface="Times New Roman" pitchFamily="18" charset="0"/>
                </a:rPr>
                <a:t>R</a:t>
              </a:r>
              <a:r>
                <a:rPr lang="it-IT" altLang="it-IT" sz="2400" dirty="0">
                  <a:solidFill>
                    <a:srgbClr val="000000"/>
                  </a:solidFill>
                  <a:latin typeface="Times New Roman" pitchFamily="18" charset="0"/>
                </a:rPr>
                <a:t> </a:t>
              </a:r>
              <a:endParaRPr lang="it-IT" altLang="it-IT" sz="2600" dirty="0">
                <a:solidFill>
                  <a:srgbClr val="000000"/>
                </a:solidFill>
                <a:latin typeface="Times New Roman" pitchFamily="18" charset="0"/>
              </a:endParaRPr>
            </a:p>
          </p:txBody>
        </p:sp>
        <p:sp>
          <p:nvSpPr>
            <p:cNvPr id="226309" name="Text Box 3"/>
            <p:cNvSpPr txBox="1">
              <a:spLocks noChangeArrowheads="1"/>
            </p:cNvSpPr>
            <p:nvPr/>
          </p:nvSpPr>
          <p:spPr bwMode="auto">
            <a:xfrm>
              <a:off x="1023938" y="2992438"/>
              <a:ext cx="7508875" cy="37496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eaLnBrk="1" hangingPunct="1"/>
              <a:r>
                <a:rPr lang="it-IT" altLang="it-IT" sz="3000" dirty="0">
                  <a:solidFill>
                    <a:srgbClr val="000000"/>
                  </a:solidFill>
                  <a:latin typeface="Times New Roman" pitchFamily="18" charset="0"/>
                </a:rPr>
                <a:t>Le preferenze usualmente espresse sono nell’ordine:</a:t>
              </a:r>
              <a:br>
                <a:rPr lang="it-IT" altLang="it-IT" sz="3000" dirty="0">
                  <a:solidFill>
                    <a:srgbClr val="000000"/>
                  </a:solidFill>
                  <a:latin typeface="Times New Roman" pitchFamily="18" charset="0"/>
                </a:rPr>
              </a:br>
              <a:r>
                <a:rPr lang="it-IT" altLang="it-IT" sz="3000" dirty="0">
                  <a:solidFill>
                    <a:srgbClr val="000000"/>
                  </a:solidFill>
                  <a:latin typeface="Times New Roman" pitchFamily="18" charset="0"/>
                </a:rPr>
                <a:t>2)</a:t>
              </a:r>
              <a:br>
                <a:rPr lang="it-IT" altLang="it-IT" sz="3000" dirty="0">
                  <a:solidFill>
                    <a:srgbClr val="000000"/>
                  </a:solidFill>
                  <a:latin typeface="Times New Roman" pitchFamily="18" charset="0"/>
                </a:rPr>
              </a:br>
              <a:r>
                <a:rPr lang="it-IT" altLang="it-IT" sz="3000" dirty="0">
                  <a:solidFill>
                    <a:srgbClr val="000000"/>
                  </a:solidFill>
                  <a:latin typeface="Times New Roman" pitchFamily="18" charset="0"/>
                </a:rPr>
                <a:t>1)</a:t>
              </a:r>
              <a:br>
                <a:rPr lang="it-IT" altLang="it-IT" sz="3000" dirty="0">
                  <a:solidFill>
                    <a:srgbClr val="000000"/>
                  </a:solidFill>
                  <a:latin typeface="Times New Roman" pitchFamily="18" charset="0"/>
                </a:rPr>
              </a:br>
              <a:r>
                <a:rPr lang="it-IT" altLang="it-IT" sz="3000" dirty="0">
                  <a:solidFill>
                    <a:srgbClr val="000000"/>
                  </a:solidFill>
                  <a:latin typeface="Times New Roman" pitchFamily="18" charset="0"/>
                </a:rPr>
                <a:t>3)</a:t>
              </a:r>
              <a:br>
                <a:rPr lang="it-IT" altLang="it-IT" sz="3000" dirty="0">
                  <a:solidFill>
                    <a:srgbClr val="000000"/>
                  </a:solidFill>
                  <a:latin typeface="Times New Roman" pitchFamily="18" charset="0"/>
                </a:rPr>
              </a:br>
              <a:r>
                <a:rPr lang="it-IT" altLang="it-IT" sz="3000" dirty="0">
                  <a:solidFill>
                    <a:srgbClr val="000000"/>
                  </a:solidFill>
                  <a:latin typeface="Times New Roman" pitchFamily="18" charset="0"/>
                </a:rPr>
                <a:t>Le sequenze sono sbilanciate sul rosso</a:t>
              </a:r>
              <a:r>
                <a:rPr lang="it-IT" altLang="it-IT" sz="3000" b="1" dirty="0">
                  <a:solidFill>
                    <a:srgbClr val="000000"/>
                  </a:solidFill>
                  <a:latin typeface="Times New Roman" pitchFamily="18" charset="0"/>
                </a:rPr>
                <a:t>!</a:t>
              </a:r>
              <a:br>
                <a:rPr lang="it-IT" altLang="it-IT" sz="3000" dirty="0">
                  <a:solidFill>
                    <a:srgbClr val="000000"/>
                  </a:solidFill>
                  <a:latin typeface="Times New Roman" pitchFamily="18" charset="0"/>
                </a:rPr>
              </a:br>
              <a:r>
                <a:rPr lang="it-IT" altLang="it-IT" sz="3000" dirty="0">
                  <a:solidFill>
                    <a:srgbClr val="000000"/>
                  </a:solidFill>
                  <a:latin typeface="Times New Roman" pitchFamily="18" charset="0"/>
                </a:rPr>
                <a:t>La sequenza </a:t>
              </a:r>
              <a:r>
                <a:rPr lang="it-IT" altLang="it-IT" sz="3000" b="1" dirty="0">
                  <a:solidFill>
                    <a:srgbClr val="000000"/>
                  </a:solidFill>
                  <a:latin typeface="Times New Roman" pitchFamily="18" charset="0"/>
                </a:rPr>
                <a:t>2)</a:t>
              </a:r>
              <a:r>
                <a:rPr lang="it-IT" altLang="it-IT" sz="3000" dirty="0">
                  <a:solidFill>
                    <a:srgbClr val="000000"/>
                  </a:solidFill>
                  <a:latin typeface="Times New Roman" pitchFamily="18" charset="0"/>
                </a:rPr>
                <a:t> dà l’impressione di essere più bilanciata e quindi più probabile.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3121022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4338" name="Object 2"/>
          <p:cNvGraphicFramePr>
            <a:graphicFrameLocks noChangeAspect="1"/>
          </p:cNvGraphicFramePr>
          <p:nvPr/>
        </p:nvGraphicFramePr>
        <p:xfrm>
          <a:off x="323850" y="333375"/>
          <a:ext cx="5562600" cy="4899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2" name="Foglio di lavoro" r:id="rId3" imgW="3105000" imgH="2733840" progId="Excel.Sheet.8">
                  <p:embed/>
                </p:oleObj>
              </mc:Choice>
              <mc:Fallback>
                <p:oleObj name="Foglio di lavoro" r:id="rId3" imgW="3105000" imgH="2733840" progId="Excel.Sheet.8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" y="333375"/>
                        <a:ext cx="5562600" cy="4899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40" name="Line 3"/>
          <p:cNvSpPr>
            <a:spLocks noChangeShapeType="1"/>
          </p:cNvSpPr>
          <p:nvPr/>
        </p:nvSpPr>
        <p:spPr bwMode="auto">
          <a:xfrm flipH="1">
            <a:off x="2247900" y="1611313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4341" name="Line 4"/>
          <p:cNvSpPr>
            <a:spLocks noChangeShapeType="1"/>
          </p:cNvSpPr>
          <p:nvPr/>
        </p:nvSpPr>
        <p:spPr bwMode="auto">
          <a:xfrm flipH="1">
            <a:off x="3238500" y="2601913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4342" name="Line 5"/>
          <p:cNvSpPr>
            <a:spLocks noChangeShapeType="1"/>
          </p:cNvSpPr>
          <p:nvPr/>
        </p:nvSpPr>
        <p:spPr bwMode="auto">
          <a:xfrm flipH="1">
            <a:off x="2171700" y="3440113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4343" name="Line 6"/>
          <p:cNvSpPr>
            <a:spLocks noChangeShapeType="1"/>
          </p:cNvSpPr>
          <p:nvPr/>
        </p:nvSpPr>
        <p:spPr bwMode="auto">
          <a:xfrm flipH="1">
            <a:off x="1181100" y="4354513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4344" name="Line 7"/>
          <p:cNvSpPr>
            <a:spLocks noChangeShapeType="1"/>
          </p:cNvSpPr>
          <p:nvPr/>
        </p:nvSpPr>
        <p:spPr bwMode="auto">
          <a:xfrm flipH="1">
            <a:off x="3238500" y="696913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4345" name="Line 8"/>
          <p:cNvSpPr>
            <a:spLocks noChangeShapeType="1"/>
          </p:cNvSpPr>
          <p:nvPr/>
        </p:nvSpPr>
        <p:spPr bwMode="auto">
          <a:xfrm>
            <a:off x="4152900" y="2601913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4346" name="Line 9"/>
          <p:cNvSpPr>
            <a:spLocks noChangeShapeType="1"/>
          </p:cNvSpPr>
          <p:nvPr/>
        </p:nvSpPr>
        <p:spPr bwMode="auto">
          <a:xfrm>
            <a:off x="4152900" y="696913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4347" name="Line 10"/>
          <p:cNvSpPr>
            <a:spLocks noChangeShapeType="1"/>
          </p:cNvSpPr>
          <p:nvPr/>
        </p:nvSpPr>
        <p:spPr bwMode="auto">
          <a:xfrm>
            <a:off x="3162300" y="1611313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4348" name="Line 11"/>
          <p:cNvSpPr>
            <a:spLocks noChangeShapeType="1"/>
          </p:cNvSpPr>
          <p:nvPr/>
        </p:nvSpPr>
        <p:spPr bwMode="auto">
          <a:xfrm>
            <a:off x="3238500" y="3440113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4349" name="Line 12"/>
          <p:cNvSpPr>
            <a:spLocks noChangeShapeType="1"/>
          </p:cNvSpPr>
          <p:nvPr/>
        </p:nvSpPr>
        <p:spPr bwMode="auto">
          <a:xfrm>
            <a:off x="2171700" y="4354513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4350" name="Text Box 13"/>
          <p:cNvSpPr txBox="1">
            <a:spLocks noChangeArrowheads="1"/>
          </p:cNvSpPr>
          <p:nvPr/>
        </p:nvSpPr>
        <p:spPr bwMode="auto">
          <a:xfrm>
            <a:off x="3162300" y="7112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1/3</a:t>
            </a:r>
          </a:p>
        </p:txBody>
      </p:sp>
      <p:sp>
        <p:nvSpPr>
          <p:cNvPr id="14351" name="Text Box 14"/>
          <p:cNvSpPr txBox="1">
            <a:spLocks noChangeArrowheads="1"/>
          </p:cNvSpPr>
          <p:nvPr/>
        </p:nvSpPr>
        <p:spPr bwMode="auto">
          <a:xfrm>
            <a:off x="2247900" y="1611313"/>
            <a:ext cx="685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1/3</a:t>
            </a:r>
          </a:p>
        </p:txBody>
      </p:sp>
      <p:sp>
        <p:nvSpPr>
          <p:cNvPr id="14352" name="Text Box 15"/>
          <p:cNvSpPr txBox="1">
            <a:spLocks noChangeArrowheads="1"/>
          </p:cNvSpPr>
          <p:nvPr/>
        </p:nvSpPr>
        <p:spPr bwMode="auto">
          <a:xfrm>
            <a:off x="3238500" y="26162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1/3</a:t>
            </a:r>
          </a:p>
        </p:txBody>
      </p:sp>
      <p:sp>
        <p:nvSpPr>
          <p:cNvPr id="14353" name="Text Box 16"/>
          <p:cNvSpPr txBox="1">
            <a:spLocks noChangeArrowheads="1"/>
          </p:cNvSpPr>
          <p:nvPr/>
        </p:nvSpPr>
        <p:spPr bwMode="auto">
          <a:xfrm>
            <a:off x="2171700" y="33782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1/3</a:t>
            </a:r>
          </a:p>
        </p:txBody>
      </p:sp>
      <p:sp>
        <p:nvSpPr>
          <p:cNvPr id="14354" name="Text Box 17"/>
          <p:cNvSpPr txBox="1">
            <a:spLocks noChangeArrowheads="1"/>
          </p:cNvSpPr>
          <p:nvPr/>
        </p:nvSpPr>
        <p:spPr bwMode="auto">
          <a:xfrm>
            <a:off x="1104900" y="4354513"/>
            <a:ext cx="685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1/3</a:t>
            </a:r>
          </a:p>
        </p:txBody>
      </p:sp>
      <p:sp>
        <p:nvSpPr>
          <p:cNvPr id="14355" name="Text Box 18"/>
          <p:cNvSpPr txBox="1">
            <a:spLocks noChangeArrowheads="1"/>
          </p:cNvSpPr>
          <p:nvPr/>
        </p:nvSpPr>
        <p:spPr bwMode="auto">
          <a:xfrm>
            <a:off x="4533900" y="6350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2/3</a:t>
            </a:r>
          </a:p>
        </p:txBody>
      </p:sp>
      <p:sp>
        <p:nvSpPr>
          <p:cNvPr id="14356" name="Text Box 19"/>
          <p:cNvSpPr txBox="1">
            <a:spLocks noChangeArrowheads="1"/>
          </p:cNvSpPr>
          <p:nvPr/>
        </p:nvSpPr>
        <p:spPr bwMode="auto">
          <a:xfrm>
            <a:off x="3543300" y="1535113"/>
            <a:ext cx="685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2/3</a:t>
            </a:r>
          </a:p>
        </p:txBody>
      </p:sp>
      <p:sp>
        <p:nvSpPr>
          <p:cNvPr id="14357" name="Text Box 20"/>
          <p:cNvSpPr txBox="1">
            <a:spLocks noChangeArrowheads="1"/>
          </p:cNvSpPr>
          <p:nvPr/>
        </p:nvSpPr>
        <p:spPr bwMode="auto">
          <a:xfrm>
            <a:off x="4533900" y="25400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2/3</a:t>
            </a:r>
          </a:p>
        </p:txBody>
      </p:sp>
      <p:sp>
        <p:nvSpPr>
          <p:cNvPr id="14358" name="Text Box 21"/>
          <p:cNvSpPr txBox="1">
            <a:spLocks noChangeArrowheads="1"/>
          </p:cNvSpPr>
          <p:nvPr/>
        </p:nvSpPr>
        <p:spPr bwMode="auto">
          <a:xfrm>
            <a:off x="3543300" y="33020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2/3</a:t>
            </a:r>
          </a:p>
        </p:txBody>
      </p:sp>
      <p:sp>
        <p:nvSpPr>
          <p:cNvPr id="14359" name="Text Box 22"/>
          <p:cNvSpPr txBox="1">
            <a:spLocks noChangeArrowheads="1"/>
          </p:cNvSpPr>
          <p:nvPr/>
        </p:nvSpPr>
        <p:spPr bwMode="auto">
          <a:xfrm>
            <a:off x="2552700" y="4278313"/>
            <a:ext cx="685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2/3</a:t>
            </a:r>
          </a:p>
        </p:txBody>
      </p:sp>
      <p:sp>
        <p:nvSpPr>
          <p:cNvPr id="14360" name="Rectangle 23"/>
          <p:cNvSpPr>
            <a:spLocks noChangeArrowheads="1"/>
          </p:cNvSpPr>
          <p:nvPr/>
        </p:nvSpPr>
        <p:spPr bwMode="auto">
          <a:xfrm>
            <a:off x="3551238" y="323056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endParaRPr lang="it-IT" altLang="it-IT">
              <a:solidFill>
                <a:srgbClr val="000000"/>
              </a:solidFill>
            </a:endParaRPr>
          </a:p>
        </p:txBody>
      </p:sp>
      <p:graphicFrame>
        <p:nvGraphicFramePr>
          <p:cNvPr id="98328" name="Object 24"/>
          <p:cNvGraphicFramePr>
            <a:graphicFrameLocks noChangeAspect="1"/>
          </p:cNvGraphicFramePr>
          <p:nvPr/>
        </p:nvGraphicFramePr>
        <p:xfrm>
          <a:off x="5003800" y="6002338"/>
          <a:ext cx="401955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23" name="Equazione" r:id="rId5" imgW="1968500" imgH="393700" progId="">
                  <p:embed/>
                </p:oleObj>
              </mc:Choice>
              <mc:Fallback>
                <p:oleObj name="Equazione" r:id="rId5" imgW="1968500" imgH="393700" progId="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03800" y="6002338"/>
                        <a:ext cx="4019550" cy="811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61" name="Rectangle 2"/>
          <p:cNvSpPr txBox="1">
            <a:spLocks noChangeArrowheads="1"/>
          </p:cNvSpPr>
          <p:nvPr/>
        </p:nvSpPr>
        <p:spPr bwMode="auto">
          <a:xfrm>
            <a:off x="5435600" y="549275"/>
            <a:ext cx="3168650" cy="1655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838200" indent="-838200" eaLnBrk="1" hangingPunct="1"/>
            <a:r>
              <a:rPr lang="it-IT" altLang="it-IT" sz="2400" b="1" dirty="0">
                <a:solidFill>
                  <a:srgbClr val="000000"/>
                </a:solidFill>
              </a:rPr>
              <a:t>	1) R V R </a:t>
            </a:r>
            <a:r>
              <a:rPr lang="it-IT" altLang="it-IT" sz="2400" b="1" dirty="0" err="1">
                <a:solidFill>
                  <a:srgbClr val="000000"/>
                </a:solidFill>
              </a:rPr>
              <a:t>R</a:t>
            </a:r>
            <a:r>
              <a:rPr lang="it-IT" altLang="it-IT" sz="2400" b="1" dirty="0">
                <a:solidFill>
                  <a:srgbClr val="000000"/>
                </a:solidFill>
              </a:rPr>
              <a:t> </a:t>
            </a:r>
            <a:r>
              <a:rPr lang="it-IT" altLang="it-IT" sz="2400" b="1" dirty="0" err="1">
                <a:solidFill>
                  <a:srgbClr val="000000"/>
                </a:solidFill>
              </a:rPr>
              <a:t>R</a:t>
            </a:r>
            <a:r>
              <a:rPr lang="it-IT" altLang="it-IT" sz="2400" b="1" dirty="0">
                <a:solidFill>
                  <a:srgbClr val="000000"/>
                </a:solidFill>
              </a:rPr>
              <a:t>  </a:t>
            </a:r>
            <a:br>
              <a:rPr lang="it-IT" altLang="it-IT" sz="2400" b="1" dirty="0">
                <a:solidFill>
                  <a:srgbClr val="000000"/>
                </a:solidFill>
              </a:rPr>
            </a:br>
            <a:endParaRPr lang="it-IT" altLang="it-IT" sz="2400" dirty="0">
              <a:solidFill>
                <a:srgbClr val="0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25" y="44450"/>
            <a:ext cx="6226175" cy="681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364" name="Line 9"/>
          <p:cNvSpPr>
            <a:spLocks noChangeShapeType="1"/>
          </p:cNvSpPr>
          <p:nvPr/>
        </p:nvSpPr>
        <p:spPr bwMode="auto">
          <a:xfrm>
            <a:off x="3779838" y="69215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5365" name="Line 9"/>
          <p:cNvSpPr>
            <a:spLocks noChangeShapeType="1"/>
          </p:cNvSpPr>
          <p:nvPr/>
        </p:nvSpPr>
        <p:spPr bwMode="auto">
          <a:xfrm>
            <a:off x="3805238" y="2708275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5366" name="Line 3"/>
          <p:cNvSpPr>
            <a:spLocks noChangeShapeType="1"/>
          </p:cNvSpPr>
          <p:nvPr/>
        </p:nvSpPr>
        <p:spPr bwMode="auto">
          <a:xfrm flipH="1">
            <a:off x="3878263" y="1628775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5367" name="Line 3"/>
          <p:cNvSpPr>
            <a:spLocks noChangeShapeType="1"/>
          </p:cNvSpPr>
          <p:nvPr/>
        </p:nvSpPr>
        <p:spPr bwMode="auto">
          <a:xfrm flipH="1">
            <a:off x="3924300" y="3716338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5368" name="Line 3"/>
          <p:cNvSpPr>
            <a:spLocks noChangeShapeType="1"/>
          </p:cNvSpPr>
          <p:nvPr/>
        </p:nvSpPr>
        <p:spPr bwMode="auto">
          <a:xfrm flipH="1">
            <a:off x="2771775" y="4767263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5369" name="Line 3"/>
          <p:cNvSpPr>
            <a:spLocks noChangeShapeType="1"/>
          </p:cNvSpPr>
          <p:nvPr/>
        </p:nvSpPr>
        <p:spPr bwMode="auto">
          <a:xfrm flipH="1">
            <a:off x="1646238" y="5775325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5370" name="Text Box 18"/>
          <p:cNvSpPr txBox="1">
            <a:spLocks noChangeArrowheads="1"/>
          </p:cNvSpPr>
          <p:nvPr/>
        </p:nvSpPr>
        <p:spPr bwMode="auto">
          <a:xfrm>
            <a:off x="4140200" y="620713"/>
            <a:ext cx="685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2/3</a:t>
            </a:r>
          </a:p>
        </p:txBody>
      </p:sp>
      <p:sp>
        <p:nvSpPr>
          <p:cNvPr id="15371" name="Text Box 18"/>
          <p:cNvSpPr txBox="1">
            <a:spLocks noChangeArrowheads="1"/>
          </p:cNvSpPr>
          <p:nvPr/>
        </p:nvSpPr>
        <p:spPr bwMode="auto">
          <a:xfrm>
            <a:off x="4140200" y="2630488"/>
            <a:ext cx="685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2/3</a:t>
            </a:r>
          </a:p>
        </p:txBody>
      </p:sp>
      <p:sp>
        <p:nvSpPr>
          <p:cNvPr id="15372" name="Text Box 18"/>
          <p:cNvSpPr txBox="1">
            <a:spLocks noChangeArrowheads="1"/>
          </p:cNvSpPr>
          <p:nvPr/>
        </p:nvSpPr>
        <p:spPr bwMode="auto">
          <a:xfrm>
            <a:off x="3924300" y="15494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1/3</a:t>
            </a:r>
          </a:p>
        </p:txBody>
      </p:sp>
      <p:sp>
        <p:nvSpPr>
          <p:cNvPr id="15373" name="Text Box 18"/>
          <p:cNvSpPr txBox="1">
            <a:spLocks noChangeArrowheads="1"/>
          </p:cNvSpPr>
          <p:nvPr/>
        </p:nvSpPr>
        <p:spPr bwMode="auto">
          <a:xfrm>
            <a:off x="3995738" y="363855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1/3</a:t>
            </a:r>
          </a:p>
        </p:txBody>
      </p:sp>
      <p:sp>
        <p:nvSpPr>
          <p:cNvPr id="15374" name="Text Box 18"/>
          <p:cNvSpPr txBox="1">
            <a:spLocks noChangeArrowheads="1"/>
          </p:cNvSpPr>
          <p:nvPr/>
        </p:nvSpPr>
        <p:spPr bwMode="auto">
          <a:xfrm>
            <a:off x="2771775" y="47244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1/3</a:t>
            </a:r>
          </a:p>
        </p:txBody>
      </p:sp>
      <p:sp>
        <p:nvSpPr>
          <p:cNvPr id="15375" name="Text Box 18"/>
          <p:cNvSpPr txBox="1">
            <a:spLocks noChangeArrowheads="1"/>
          </p:cNvSpPr>
          <p:nvPr/>
        </p:nvSpPr>
        <p:spPr bwMode="auto">
          <a:xfrm>
            <a:off x="1582738" y="573405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1/3</a:t>
            </a:r>
          </a:p>
        </p:txBody>
      </p:sp>
      <p:sp>
        <p:nvSpPr>
          <p:cNvPr id="15376" name="Rectangle 2"/>
          <p:cNvSpPr txBox="1">
            <a:spLocks noChangeArrowheads="1"/>
          </p:cNvSpPr>
          <p:nvPr/>
        </p:nvSpPr>
        <p:spPr bwMode="auto">
          <a:xfrm>
            <a:off x="6118225" y="431800"/>
            <a:ext cx="2341563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838200" indent="-838200" eaLnBrk="1" hangingPunct="1"/>
            <a:r>
              <a:rPr lang="it-IT" altLang="it-IT" sz="2400" b="1" dirty="0">
                <a:solidFill>
                  <a:srgbClr val="000000"/>
                </a:solidFill>
              </a:rPr>
              <a:t>2) V R V R </a:t>
            </a:r>
            <a:r>
              <a:rPr lang="it-IT" altLang="it-IT" sz="2400" b="1" dirty="0" err="1">
                <a:solidFill>
                  <a:srgbClr val="000000"/>
                </a:solidFill>
              </a:rPr>
              <a:t>R</a:t>
            </a:r>
            <a:r>
              <a:rPr lang="it-IT" altLang="it-IT" sz="2400" b="1" dirty="0">
                <a:solidFill>
                  <a:srgbClr val="000000"/>
                </a:solidFill>
              </a:rPr>
              <a:t> </a:t>
            </a:r>
            <a:r>
              <a:rPr lang="it-IT" altLang="it-IT" sz="2400" b="1" dirty="0" err="1">
                <a:solidFill>
                  <a:srgbClr val="000000"/>
                </a:solidFill>
              </a:rPr>
              <a:t>R</a:t>
            </a:r>
            <a:endParaRPr lang="it-IT" altLang="it-IT" sz="2400" dirty="0">
              <a:solidFill>
                <a:srgbClr val="000000"/>
              </a:solidFill>
            </a:endParaRPr>
          </a:p>
        </p:txBody>
      </p:sp>
      <p:graphicFrame>
        <p:nvGraphicFramePr>
          <p:cNvPr id="98328" name="Object 24"/>
          <p:cNvGraphicFramePr>
            <a:graphicFrameLocks noChangeAspect="1"/>
          </p:cNvGraphicFramePr>
          <p:nvPr/>
        </p:nvGraphicFramePr>
        <p:xfrm>
          <a:off x="4573588" y="6002338"/>
          <a:ext cx="4462462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4" name="Equazione" r:id="rId4" imgW="2184400" imgH="393700" progId="">
                  <p:embed/>
                </p:oleObj>
              </mc:Choice>
              <mc:Fallback>
                <p:oleObj name="Equazione" r:id="rId4" imgW="2184400" imgH="393700" progId="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3588" y="6002338"/>
                        <a:ext cx="4462462" cy="811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ttangolo 1">
            <a:extLst>
              <a:ext uri="{FF2B5EF4-FFF2-40B4-BE49-F238E27FC236}">
                <a16:creationId xmlns:a16="http://schemas.microsoft.com/office/drawing/2014/main" id="{C925E12D-B863-4F95-875F-27348D4F467C}"/>
              </a:ext>
            </a:extLst>
          </p:cNvPr>
          <p:cNvSpPr/>
          <p:nvPr/>
        </p:nvSpPr>
        <p:spPr>
          <a:xfrm>
            <a:off x="3347864" y="44450"/>
            <a:ext cx="792336" cy="5762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7" name="Picture 36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25" y="44450"/>
            <a:ext cx="7273925" cy="6738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388" name="Line 3"/>
          <p:cNvSpPr>
            <a:spLocks noChangeShapeType="1"/>
          </p:cNvSpPr>
          <p:nvPr/>
        </p:nvSpPr>
        <p:spPr bwMode="auto">
          <a:xfrm flipH="1">
            <a:off x="4957763" y="1671638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6389" name="Line 3"/>
          <p:cNvSpPr>
            <a:spLocks noChangeShapeType="1"/>
          </p:cNvSpPr>
          <p:nvPr/>
        </p:nvSpPr>
        <p:spPr bwMode="auto">
          <a:xfrm flipH="1">
            <a:off x="3878263" y="2608263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6390" name="Line 3"/>
          <p:cNvSpPr>
            <a:spLocks noChangeShapeType="1"/>
          </p:cNvSpPr>
          <p:nvPr/>
        </p:nvSpPr>
        <p:spPr bwMode="auto">
          <a:xfrm flipH="1">
            <a:off x="2700338" y="3687763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6391" name="Line 3"/>
          <p:cNvSpPr>
            <a:spLocks noChangeShapeType="1"/>
          </p:cNvSpPr>
          <p:nvPr/>
        </p:nvSpPr>
        <p:spPr bwMode="auto">
          <a:xfrm flipH="1">
            <a:off x="1646238" y="4695825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6392" name="Line 3"/>
          <p:cNvSpPr>
            <a:spLocks noChangeShapeType="1"/>
          </p:cNvSpPr>
          <p:nvPr/>
        </p:nvSpPr>
        <p:spPr bwMode="auto">
          <a:xfrm flipH="1">
            <a:off x="493713" y="5734050"/>
            <a:ext cx="838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6393" name="Line 9"/>
          <p:cNvSpPr>
            <a:spLocks noChangeShapeType="1"/>
          </p:cNvSpPr>
          <p:nvPr/>
        </p:nvSpPr>
        <p:spPr bwMode="auto">
          <a:xfrm>
            <a:off x="4957763" y="620713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/>
          <a:lstStyle/>
          <a:p>
            <a:endParaRPr lang="it-IT"/>
          </a:p>
        </p:txBody>
      </p:sp>
      <p:sp>
        <p:nvSpPr>
          <p:cNvPr id="16394" name="Text Box 18"/>
          <p:cNvSpPr txBox="1">
            <a:spLocks noChangeArrowheads="1"/>
          </p:cNvSpPr>
          <p:nvPr/>
        </p:nvSpPr>
        <p:spPr bwMode="auto">
          <a:xfrm>
            <a:off x="5326063" y="541338"/>
            <a:ext cx="685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2/3</a:t>
            </a:r>
          </a:p>
        </p:txBody>
      </p:sp>
      <p:sp>
        <p:nvSpPr>
          <p:cNvPr id="16395" name="Text Box 18"/>
          <p:cNvSpPr txBox="1">
            <a:spLocks noChangeArrowheads="1"/>
          </p:cNvSpPr>
          <p:nvPr/>
        </p:nvSpPr>
        <p:spPr bwMode="auto">
          <a:xfrm>
            <a:off x="5003800" y="1622425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1/3</a:t>
            </a:r>
          </a:p>
        </p:txBody>
      </p:sp>
      <p:sp>
        <p:nvSpPr>
          <p:cNvPr id="16396" name="Text Box 18"/>
          <p:cNvSpPr txBox="1">
            <a:spLocks noChangeArrowheads="1"/>
          </p:cNvSpPr>
          <p:nvPr/>
        </p:nvSpPr>
        <p:spPr bwMode="auto">
          <a:xfrm>
            <a:off x="3924300" y="2557463"/>
            <a:ext cx="685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1/3</a:t>
            </a:r>
          </a:p>
        </p:txBody>
      </p:sp>
      <p:sp>
        <p:nvSpPr>
          <p:cNvPr id="16397" name="Text Box 18"/>
          <p:cNvSpPr txBox="1">
            <a:spLocks noChangeArrowheads="1"/>
          </p:cNvSpPr>
          <p:nvPr/>
        </p:nvSpPr>
        <p:spPr bwMode="auto">
          <a:xfrm>
            <a:off x="2662238" y="3644900"/>
            <a:ext cx="685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1/3</a:t>
            </a:r>
          </a:p>
        </p:txBody>
      </p:sp>
      <p:sp>
        <p:nvSpPr>
          <p:cNvPr id="16398" name="Text Box 18"/>
          <p:cNvSpPr txBox="1">
            <a:spLocks noChangeArrowheads="1"/>
          </p:cNvSpPr>
          <p:nvPr/>
        </p:nvSpPr>
        <p:spPr bwMode="auto">
          <a:xfrm>
            <a:off x="1619250" y="4646613"/>
            <a:ext cx="685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1/3</a:t>
            </a:r>
          </a:p>
        </p:txBody>
      </p:sp>
      <p:sp>
        <p:nvSpPr>
          <p:cNvPr id="16399" name="Text Box 18"/>
          <p:cNvSpPr txBox="1">
            <a:spLocks noChangeArrowheads="1"/>
          </p:cNvSpPr>
          <p:nvPr/>
        </p:nvSpPr>
        <p:spPr bwMode="auto">
          <a:xfrm>
            <a:off x="395288" y="5726113"/>
            <a:ext cx="68580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it-IT" altLang="it-IT">
                <a:solidFill>
                  <a:srgbClr val="000000"/>
                </a:solidFill>
              </a:rPr>
              <a:t>1/3</a:t>
            </a:r>
          </a:p>
        </p:txBody>
      </p:sp>
      <p:graphicFrame>
        <p:nvGraphicFramePr>
          <p:cNvPr id="98328" name="Object 24"/>
          <p:cNvGraphicFramePr>
            <a:graphicFrameLocks noChangeAspect="1"/>
          </p:cNvGraphicFramePr>
          <p:nvPr/>
        </p:nvGraphicFramePr>
        <p:xfrm>
          <a:off x="4572000" y="6002338"/>
          <a:ext cx="4460875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28" name="Equazione" r:id="rId4" imgW="2184400" imgH="393700" progId="">
                  <p:embed/>
                </p:oleObj>
              </mc:Choice>
              <mc:Fallback>
                <p:oleObj name="Equazione" r:id="rId4" imgW="2184400" imgH="393700" progId="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6002338"/>
                        <a:ext cx="4460875" cy="811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00" name="Rectangle 2"/>
          <p:cNvSpPr txBox="1">
            <a:spLocks noChangeArrowheads="1"/>
          </p:cNvSpPr>
          <p:nvPr/>
        </p:nvSpPr>
        <p:spPr bwMode="auto">
          <a:xfrm>
            <a:off x="6407150" y="404813"/>
            <a:ext cx="2341563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838200" indent="-838200" eaLnBrk="1" hangingPunct="1"/>
            <a:r>
              <a:rPr lang="it-IT" altLang="it-IT" sz="2400" b="1" dirty="0">
                <a:solidFill>
                  <a:srgbClr val="000000"/>
                </a:solidFill>
              </a:rPr>
              <a:t>3) V R </a:t>
            </a:r>
            <a:r>
              <a:rPr lang="it-IT" altLang="it-IT" sz="2400" b="1" dirty="0" err="1">
                <a:solidFill>
                  <a:srgbClr val="000000"/>
                </a:solidFill>
              </a:rPr>
              <a:t>R</a:t>
            </a:r>
            <a:r>
              <a:rPr lang="it-IT" altLang="it-IT" sz="2400" b="1" dirty="0">
                <a:solidFill>
                  <a:srgbClr val="000000"/>
                </a:solidFill>
              </a:rPr>
              <a:t> </a:t>
            </a:r>
            <a:r>
              <a:rPr lang="it-IT" altLang="it-IT" sz="2400" b="1" dirty="0" err="1">
                <a:solidFill>
                  <a:srgbClr val="000000"/>
                </a:solidFill>
              </a:rPr>
              <a:t>R</a:t>
            </a:r>
            <a:r>
              <a:rPr lang="it-IT" altLang="it-IT" sz="2400" b="1" dirty="0">
                <a:solidFill>
                  <a:srgbClr val="000000"/>
                </a:solidFill>
              </a:rPr>
              <a:t> </a:t>
            </a:r>
            <a:r>
              <a:rPr lang="it-IT" altLang="it-IT" sz="2400" b="1" dirty="0" err="1">
                <a:solidFill>
                  <a:srgbClr val="000000"/>
                </a:solidFill>
              </a:rPr>
              <a:t>R</a:t>
            </a:r>
            <a:r>
              <a:rPr lang="it-IT" altLang="it-IT" sz="2400" b="1" dirty="0">
                <a:solidFill>
                  <a:srgbClr val="000000"/>
                </a:solidFill>
              </a:rPr>
              <a:t> </a:t>
            </a:r>
            <a:r>
              <a:rPr lang="it-IT" altLang="it-IT" sz="2400" b="1" dirty="0" err="1">
                <a:solidFill>
                  <a:srgbClr val="000000"/>
                </a:solidFill>
              </a:rPr>
              <a:t>R</a:t>
            </a:r>
            <a:endParaRPr lang="it-IT" altLang="it-IT" sz="2400" dirty="0">
              <a:solidFill>
                <a:srgbClr val="000000"/>
              </a:solidFill>
            </a:endParaRPr>
          </a:p>
        </p:txBody>
      </p:sp>
      <p:sp>
        <p:nvSpPr>
          <p:cNvPr id="2" name="Rettangolo 1">
            <a:extLst>
              <a:ext uri="{FF2B5EF4-FFF2-40B4-BE49-F238E27FC236}">
                <a16:creationId xmlns:a16="http://schemas.microsoft.com/office/drawing/2014/main" id="{F3413AC4-DE02-4B5E-A135-1B26EA0C6CB6}"/>
              </a:ext>
            </a:extLst>
          </p:cNvPr>
          <p:cNvSpPr/>
          <p:nvPr/>
        </p:nvSpPr>
        <p:spPr>
          <a:xfrm>
            <a:off x="4427984" y="0"/>
            <a:ext cx="685800" cy="59055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8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"/>
          <p:cNvSpPr>
            <a:spLocks noChangeArrowheads="1"/>
          </p:cNvSpPr>
          <p:nvPr/>
        </p:nvSpPr>
        <p:spPr bwMode="auto">
          <a:xfrm>
            <a:off x="719137" y="820601"/>
            <a:ext cx="7705725" cy="58327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eaLnBrk="1" hangingPunct="1"/>
            <a:r>
              <a:rPr lang="it-IT" altLang="it-IT" sz="2800" b="1" dirty="0">
                <a:solidFill>
                  <a:srgbClr val="000000"/>
                </a:solidFill>
              </a:rPr>
              <a:t>1) R V R </a:t>
            </a:r>
            <a:r>
              <a:rPr lang="it-IT" altLang="it-IT" sz="2800" b="1" dirty="0" err="1">
                <a:solidFill>
                  <a:srgbClr val="000000"/>
                </a:solidFill>
              </a:rPr>
              <a:t>R</a:t>
            </a:r>
            <a:r>
              <a:rPr lang="it-IT" altLang="it-IT" sz="2800" b="1" dirty="0">
                <a:solidFill>
                  <a:srgbClr val="000000"/>
                </a:solidFill>
              </a:rPr>
              <a:t> </a:t>
            </a:r>
            <a:r>
              <a:rPr lang="it-IT" altLang="it-IT" sz="2800" b="1" dirty="0" err="1">
                <a:solidFill>
                  <a:srgbClr val="000000"/>
                </a:solidFill>
              </a:rPr>
              <a:t>R</a:t>
            </a:r>
            <a:r>
              <a:rPr lang="it-IT" altLang="it-IT" sz="2800" b="1" dirty="0">
                <a:solidFill>
                  <a:srgbClr val="000000"/>
                </a:solidFill>
              </a:rPr>
              <a:t>  </a:t>
            </a:r>
            <a:br>
              <a:rPr lang="it-IT" altLang="it-IT" sz="2800" b="1" dirty="0">
                <a:solidFill>
                  <a:srgbClr val="000000"/>
                </a:solidFill>
              </a:rPr>
            </a:br>
            <a:br>
              <a:rPr lang="it-IT" altLang="it-IT" sz="2800" b="1" dirty="0">
                <a:solidFill>
                  <a:srgbClr val="000000"/>
                </a:solidFill>
              </a:rPr>
            </a:br>
            <a:br>
              <a:rPr lang="it-IT" altLang="it-IT" sz="2800" b="1" dirty="0">
                <a:solidFill>
                  <a:srgbClr val="000000"/>
                </a:solidFill>
              </a:rPr>
            </a:br>
            <a:r>
              <a:rPr lang="it-IT" altLang="it-IT" sz="2800" b="1" dirty="0">
                <a:solidFill>
                  <a:srgbClr val="000000"/>
                </a:solidFill>
              </a:rPr>
              <a:t>2) V R V R </a:t>
            </a:r>
            <a:r>
              <a:rPr lang="it-IT" altLang="it-IT" sz="2800" b="1" dirty="0" err="1">
                <a:solidFill>
                  <a:srgbClr val="000000"/>
                </a:solidFill>
              </a:rPr>
              <a:t>R</a:t>
            </a:r>
            <a:r>
              <a:rPr lang="it-IT" altLang="it-IT" sz="2800" b="1" dirty="0">
                <a:solidFill>
                  <a:srgbClr val="000000"/>
                </a:solidFill>
              </a:rPr>
              <a:t> </a:t>
            </a:r>
            <a:r>
              <a:rPr lang="it-IT" altLang="it-IT" sz="2800" b="1" dirty="0" err="1">
                <a:solidFill>
                  <a:srgbClr val="000000"/>
                </a:solidFill>
              </a:rPr>
              <a:t>R</a:t>
            </a:r>
            <a:br>
              <a:rPr lang="it-IT" altLang="it-IT" sz="2800" b="1" dirty="0">
                <a:solidFill>
                  <a:srgbClr val="000000"/>
                </a:solidFill>
              </a:rPr>
            </a:br>
            <a:br>
              <a:rPr lang="it-IT" altLang="it-IT" sz="2800" b="1" dirty="0">
                <a:solidFill>
                  <a:srgbClr val="000000"/>
                </a:solidFill>
              </a:rPr>
            </a:br>
            <a:br>
              <a:rPr lang="it-IT" altLang="it-IT" sz="2800" b="1" dirty="0">
                <a:solidFill>
                  <a:srgbClr val="000000"/>
                </a:solidFill>
              </a:rPr>
            </a:br>
            <a:r>
              <a:rPr lang="it-IT" altLang="it-IT" sz="2800" b="1" dirty="0">
                <a:solidFill>
                  <a:srgbClr val="000000"/>
                </a:solidFill>
              </a:rPr>
              <a:t>3) V R </a:t>
            </a:r>
            <a:r>
              <a:rPr lang="it-IT" altLang="it-IT" sz="2800" b="1" dirty="0" err="1">
                <a:solidFill>
                  <a:srgbClr val="000000"/>
                </a:solidFill>
              </a:rPr>
              <a:t>R</a:t>
            </a:r>
            <a:r>
              <a:rPr lang="it-IT" altLang="it-IT" sz="2800" b="1" dirty="0">
                <a:solidFill>
                  <a:srgbClr val="000000"/>
                </a:solidFill>
              </a:rPr>
              <a:t> </a:t>
            </a:r>
            <a:r>
              <a:rPr lang="it-IT" altLang="it-IT" sz="2800" b="1" dirty="0" err="1">
                <a:solidFill>
                  <a:srgbClr val="000000"/>
                </a:solidFill>
              </a:rPr>
              <a:t>R</a:t>
            </a:r>
            <a:r>
              <a:rPr lang="it-IT" altLang="it-IT" sz="2800" b="1" dirty="0">
                <a:solidFill>
                  <a:srgbClr val="000000"/>
                </a:solidFill>
              </a:rPr>
              <a:t> </a:t>
            </a:r>
            <a:r>
              <a:rPr lang="it-IT" altLang="it-IT" sz="2800" b="1" dirty="0" err="1">
                <a:solidFill>
                  <a:srgbClr val="000000"/>
                </a:solidFill>
              </a:rPr>
              <a:t>R</a:t>
            </a:r>
            <a:r>
              <a:rPr lang="it-IT" altLang="it-IT" sz="2800" b="1" dirty="0">
                <a:solidFill>
                  <a:srgbClr val="000000"/>
                </a:solidFill>
              </a:rPr>
              <a:t> </a:t>
            </a:r>
            <a:r>
              <a:rPr lang="it-IT" altLang="it-IT" sz="2800" b="1" dirty="0" err="1">
                <a:solidFill>
                  <a:srgbClr val="000000"/>
                </a:solidFill>
              </a:rPr>
              <a:t>R</a:t>
            </a:r>
            <a:r>
              <a:rPr lang="it-IT" altLang="it-IT" sz="2800" dirty="0">
                <a:solidFill>
                  <a:srgbClr val="000000"/>
                </a:solidFill>
              </a:rPr>
              <a:t> </a:t>
            </a:r>
            <a:br>
              <a:rPr lang="it-IT" altLang="it-IT" sz="2800" dirty="0">
                <a:solidFill>
                  <a:srgbClr val="000000"/>
                </a:solidFill>
              </a:rPr>
            </a:br>
            <a:br>
              <a:rPr lang="it-IT" altLang="it-IT" sz="2800" dirty="0">
                <a:solidFill>
                  <a:srgbClr val="000000"/>
                </a:solidFill>
              </a:rPr>
            </a:br>
            <a:endParaRPr lang="it-IT" altLang="it-IT" sz="2800" dirty="0">
              <a:solidFill>
                <a:srgbClr val="000000"/>
              </a:solidFill>
            </a:endParaRPr>
          </a:p>
        </p:txBody>
      </p:sp>
      <p:graphicFrame>
        <p:nvGraphicFramePr>
          <p:cNvPr id="17410" name="Object 2"/>
          <p:cNvGraphicFramePr>
            <a:graphicFrameLocks noChangeAspect="1"/>
          </p:cNvGraphicFramePr>
          <p:nvPr/>
        </p:nvGraphicFramePr>
        <p:xfrm>
          <a:off x="3660775" y="1628775"/>
          <a:ext cx="4149725" cy="811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6" name="Equation" r:id="rId3" imgW="2032000" imgH="393700" progId="">
                  <p:embed/>
                </p:oleObj>
              </mc:Choice>
              <mc:Fallback>
                <p:oleObj name="Equation" r:id="rId3" imgW="2032000" imgH="3937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60775" y="1628775"/>
                        <a:ext cx="4149725" cy="811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3"/>
          <p:cNvGraphicFramePr>
            <a:graphicFrameLocks noChangeAspect="1"/>
          </p:cNvGraphicFramePr>
          <p:nvPr/>
        </p:nvGraphicFramePr>
        <p:xfrm>
          <a:off x="3698875" y="2925763"/>
          <a:ext cx="461645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7" name="Equation" r:id="rId5" imgW="2260600" imgH="393700" progId="">
                  <p:embed/>
                </p:oleObj>
              </mc:Choice>
              <mc:Fallback>
                <p:oleObj name="Equation" r:id="rId5" imgW="2260600" imgH="3937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98875" y="2925763"/>
                        <a:ext cx="4616450" cy="811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3706813" y="4221163"/>
          <a:ext cx="4591050" cy="811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538" name="Equation" r:id="rId7" imgW="2247900" imgH="393700" progId="">
                  <p:embed/>
                </p:oleObj>
              </mc:Choice>
              <mc:Fallback>
                <p:oleObj name="Equation" r:id="rId7" imgW="2247900" imgH="3937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6813" y="4221163"/>
                        <a:ext cx="4591050" cy="8112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Ovale 5"/>
          <p:cNvSpPr/>
          <p:nvPr/>
        </p:nvSpPr>
        <p:spPr>
          <a:xfrm>
            <a:off x="3419475" y="1412875"/>
            <a:ext cx="2376488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>
              <a:solidFill>
                <a:srgbClr val="FFFFFF"/>
              </a:solidFill>
            </a:endParaRPr>
          </a:p>
        </p:txBody>
      </p:sp>
      <p:sp>
        <p:nvSpPr>
          <p:cNvPr id="7" name="Ovale 6"/>
          <p:cNvSpPr/>
          <p:nvPr/>
        </p:nvSpPr>
        <p:spPr>
          <a:xfrm>
            <a:off x="3995738" y="2708275"/>
            <a:ext cx="2376487" cy="122555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>
              <a:solidFill>
                <a:srgbClr val="FFFFFF"/>
              </a:solidFill>
            </a:endParaRPr>
          </a:p>
        </p:txBody>
      </p:sp>
      <p:sp>
        <p:nvSpPr>
          <p:cNvPr id="8" name="Ovale 7"/>
          <p:cNvSpPr/>
          <p:nvPr/>
        </p:nvSpPr>
        <p:spPr>
          <a:xfrm>
            <a:off x="3563938" y="4005263"/>
            <a:ext cx="2376487" cy="12954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it-IT">
              <a:solidFill>
                <a:srgbClr val="FFFFFF"/>
              </a:solidFill>
            </a:endParaRP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08A275B8-75E5-4AE9-BC84-D5FF2697938C}"/>
              </a:ext>
            </a:extLst>
          </p:cNvPr>
          <p:cNvSpPr txBox="1"/>
          <p:nvPr/>
        </p:nvSpPr>
        <p:spPr>
          <a:xfrm>
            <a:off x="305549" y="5836721"/>
            <a:ext cx="84433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Pagina 45: non è necessario eseguire i calcoli, basta accorgersi che le sequenze</a:t>
            </a:r>
          </a:p>
          <a:p>
            <a:r>
              <a:rPr lang="it-IT" dirty="0"/>
              <a:t> 2 e 3 contengono la sequenza 1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359F745B-8650-4792-861B-D22DA1212D44}"/>
              </a:ext>
            </a:extLst>
          </p:cNvPr>
          <p:cNvSpPr txBox="1"/>
          <p:nvPr/>
        </p:nvSpPr>
        <p:spPr>
          <a:xfrm>
            <a:off x="2987824" y="1700808"/>
            <a:ext cx="7104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t-IT" dirty="0"/>
              <a:t>FINE</a:t>
            </a:r>
          </a:p>
        </p:txBody>
      </p:sp>
    </p:spTree>
    <p:extLst>
      <p:ext uri="{BB962C8B-B14F-4D97-AF65-F5344CB8AC3E}">
        <p14:creationId xmlns:p14="http://schemas.microsoft.com/office/powerpoint/2010/main" val="3160062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2644" name="Rectangle 4"/>
              <p:cNvSpPr>
                <a:spLocks noChangeArrowheads="1"/>
              </p:cNvSpPr>
              <p:nvPr/>
            </p:nvSpPr>
            <p:spPr bwMode="auto">
              <a:xfrm>
                <a:off x="468313" y="1443328"/>
                <a:ext cx="8064500" cy="39713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anchor="ctr">
                <a:spAutoFit/>
              </a:bodyPr>
              <a:lstStyle/>
              <a:p>
                <a:pPr eaLnBrk="1" hangingPunct="1">
                  <a:defRPr/>
                </a:pPr>
                <a:r>
                  <a:rPr lang="it-IT" sz="2400" b="1" dirty="0">
                    <a:solidFill>
                      <a:srgbClr val="000000"/>
                    </a:solidFill>
                    <a:latin typeface="Tahoma" pitchFamily="34" charset="0"/>
                  </a:rPr>
                  <a:t>Esercizio 3.4. </a:t>
                </a:r>
                <a:r>
                  <a:rPr lang="it-IT" sz="2400" dirty="0">
                    <a:solidFill>
                      <a:srgbClr val="000000"/>
                    </a:solidFill>
                    <a:latin typeface="Tahoma" pitchFamily="34" charset="0"/>
                  </a:rPr>
                  <a:t>Un’urna contiene una pallina verde (V) ed una pallina blu (B). Una seconda urna è composta ancora da due palline delle quali una verde e la restante rossa (R). Si procede ad estrarre a caso una pallina da ciascuna urna.</a:t>
                </a:r>
              </a:p>
              <a:p>
                <a:pPr eaLnBrk="1" hangingPunct="1">
                  <a:defRPr/>
                </a:pPr>
                <a:endParaRPr lang="it-IT" sz="2400" dirty="0">
                  <a:solidFill>
                    <a:srgbClr val="000000"/>
                  </a:solidFill>
                  <a:latin typeface="Tahoma" pitchFamily="34" charset="0"/>
                </a:endParaRPr>
              </a:p>
              <a:p>
                <a:pPr eaLnBrk="1" hangingPunct="1">
                  <a:defRPr/>
                </a:pPr>
                <a:r>
                  <a:rPr lang="it-IT" sz="2400" dirty="0">
                    <a:solidFill>
                      <a:srgbClr val="000000"/>
                    </a:solidFill>
                    <a:latin typeface="Tahoma" pitchFamily="34" charset="0"/>
                  </a:rPr>
                  <a:t>Si calcoli la probabilità che entrambe le palline siano dello stesso colore. </a:t>
                </a:r>
              </a:p>
              <a:p>
                <a:pPr eaLnBrk="1" hangingPunct="1">
                  <a:defRPr/>
                </a:pPr>
                <a:endParaRPr lang="it-IT" sz="2400" b="1" dirty="0">
                  <a:solidFill>
                    <a:srgbClr val="000000"/>
                  </a:solidFill>
                  <a:latin typeface="Tahoma" pitchFamily="34" charset="0"/>
                </a:endParaRPr>
              </a:p>
              <a:p>
                <a:pPr eaLnBrk="1" hangingPunct="1">
                  <a:defRPr/>
                </a:pPr>
                <a:r>
                  <a:rPr lang="it-IT" sz="2400" dirty="0">
                    <a:solidFill>
                      <a:srgbClr val="000000"/>
                    </a:solidFill>
                    <a:latin typeface="Tahoma" pitchFamily="34" charset="0"/>
                  </a:rPr>
                  <a:t>P(VV)=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f>
                      <m:fPr>
                        <m:ctrlPr>
                          <a:rPr lang="it-IT" sz="240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it-IT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it-IT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it-IT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4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it-IT" sz="24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it-IT" sz="2400" dirty="0">
                    <a:solidFill>
                      <a:srgbClr val="FF0000"/>
                    </a:solidFill>
                    <a:latin typeface="Tahoma" pitchFamily="34" charset="0"/>
                  </a:rPr>
                  <a:t>0.25</a:t>
                </a:r>
              </a:p>
            </p:txBody>
          </p:sp>
        </mc:Choice>
        <mc:Fallback xmlns="">
          <p:sp>
            <p:nvSpPr>
              <p:cNvPr id="112644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8313" y="1443328"/>
                <a:ext cx="8064500" cy="3971344"/>
              </a:xfrm>
              <a:prstGeom prst="rect">
                <a:avLst/>
              </a:prstGeom>
              <a:blipFill>
                <a:blip r:embed="rId2"/>
                <a:stretch>
                  <a:fillRect l="-978" r="-602"/>
                </a:stretch>
              </a:blipFill>
              <a:ln w="9525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35170" name="Rectangle 2"/>
              <p:cNvSpPr>
                <a:spLocks noChangeArrowheads="1"/>
              </p:cNvSpPr>
              <p:nvPr/>
            </p:nvSpPr>
            <p:spPr bwMode="auto">
              <a:xfrm>
                <a:off x="467544" y="19363"/>
                <a:ext cx="8064500" cy="635648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 anchor="ctr">
                <a:spAutoFit/>
              </a:bodyPr>
              <a:lstStyle/>
              <a:p>
                <a:pPr marL="457200" indent="-457200" algn="just" eaLnBrk="1" hangingPunct="1">
                  <a:defRPr/>
                </a:pPr>
                <a:r>
                  <a:rPr lang="it-IT" b="1" dirty="0">
                    <a:solidFill>
                      <a:srgbClr val="000000"/>
                    </a:solidFill>
                    <a:latin typeface="Tahoma" pitchFamily="34" charset="0"/>
                    <a:cs typeface="Times New Roman" pitchFamily="18" charset="0"/>
                  </a:rPr>
                  <a:t>Esercizio 3.8.</a:t>
                </a:r>
                <a:r>
                  <a:rPr lang="it-IT" dirty="0">
                    <a:solidFill>
                      <a:srgbClr val="000000"/>
                    </a:solidFill>
                    <a:latin typeface="Tahoma" pitchFamily="34" charset="0"/>
                    <a:cs typeface="Times New Roman" pitchFamily="18" charset="0"/>
                  </a:rPr>
                  <a:t> </a:t>
                </a:r>
                <a:r>
                  <a:rPr lang="it-IT" sz="2200" dirty="0">
                    <a:solidFill>
                      <a:srgbClr val="000000"/>
                    </a:solidFill>
                    <a:latin typeface="Tahoma" pitchFamily="34" charset="0"/>
                    <a:cs typeface="Times New Roman" pitchFamily="18" charset="0"/>
                  </a:rPr>
                  <a:t>Un’urna contiene tre palline rosse (</a:t>
                </a:r>
                <a:r>
                  <a:rPr lang="it-IT" sz="2200" i="1" dirty="0">
                    <a:solidFill>
                      <a:srgbClr val="000000"/>
                    </a:solidFill>
                    <a:latin typeface="Tahoma" pitchFamily="34" charset="0"/>
                    <a:cs typeface="Times New Roman" pitchFamily="18" charset="0"/>
                  </a:rPr>
                  <a:t>R</a:t>
                </a:r>
                <a:r>
                  <a:rPr lang="it-IT" sz="2200" dirty="0">
                    <a:solidFill>
                      <a:srgbClr val="000000"/>
                    </a:solidFill>
                    <a:latin typeface="Tahoma" pitchFamily="34" charset="0"/>
                    <a:cs typeface="Times New Roman" pitchFamily="18" charset="0"/>
                  </a:rPr>
                  <a:t>), due bianche (</a:t>
                </a:r>
                <a:r>
                  <a:rPr lang="it-IT" sz="2200" i="1" dirty="0">
                    <a:solidFill>
                      <a:srgbClr val="000000"/>
                    </a:solidFill>
                    <a:latin typeface="Tahoma" pitchFamily="34" charset="0"/>
                    <a:cs typeface="Times New Roman" pitchFamily="18" charset="0"/>
                  </a:rPr>
                  <a:t>B</a:t>
                </a:r>
                <a:r>
                  <a:rPr lang="it-IT" sz="2200" dirty="0">
                    <a:solidFill>
                      <a:srgbClr val="000000"/>
                    </a:solidFill>
                    <a:latin typeface="Tahoma" pitchFamily="34" charset="0"/>
                    <a:cs typeface="Times New Roman" pitchFamily="18" charset="0"/>
                  </a:rPr>
                  <a:t>) ed una blu (</a:t>
                </a:r>
                <a:r>
                  <a:rPr lang="it-IT" sz="2200" i="1" dirty="0">
                    <a:solidFill>
                      <a:srgbClr val="000000"/>
                    </a:solidFill>
                    <a:latin typeface="Tahoma" pitchFamily="34" charset="0"/>
                    <a:cs typeface="Times New Roman" pitchFamily="18" charset="0"/>
                  </a:rPr>
                  <a:t>BL</a:t>
                </a:r>
                <a:r>
                  <a:rPr lang="it-IT" sz="2200" dirty="0">
                    <a:solidFill>
                      <a:srgbClr val="000000"/>
                    </a:solidFill>
                    <a:latin typeface="Tahoma" pitchFamily="34" charset="0"/>
                    <a:cs typeface="Times New Roman" pitchFamily="18" charset="0"/>
                  </a:rPr>
                  <a:t>). Una seconda urna contiene una palla rossa, due bianche e tre blu. </a:t>
                </a:r>
              </a:p>
              <a:p>
                <a:pPr marL="457200" indent="-457200" algn="just" eaLnBrk="1" hangingPunct="1">
                  <a:defRPr/>
                </a:pPr>
                <a:r>
                  <a:rPr lang="it-IT" sz="2200" dirty="0">
                    <a:solidFill>
                      <a:srgbClr val="000000"/>
                    </a:solidFill>
                    <a:latin typeface="Tahoma" pitchFamily="34" charset="0"/>
                    <a:cs typeface="Times New Roman" pitchFamily="18" charset="0"/>
                  </a:rPr>
                  <a:t>     Si estrae a caso una pallina da ogni urna:</a:t>
                </a:r>
              </a:p>
              <a:p>
                <a:pPr marL="457200" indent="-457200" algn="just" eaLnBrk="1" hangingPunct="1">
                  <a:buFont typeface="Wingdings" pitchFamily="2" charset="2"/>
                  <a:buChar char="Ø"/>
                  <a:defRPr/>
                </a:pPr>
                <a:r>
                  <a:rPr lang="it-IT" sz="2200" dirty="0">
                    <a:solidFill>
                      <a:srgbClr val="000000"/>
                    </a:solidFill>
                    <a:latin typeface="Tahoma" pitchFamily="34" charset="0"/>
                    <a:cs typeface="Times New Roman" pitchFamily="18" charset="0"/>
                  </a:rPr>
                  <a:t>calcolare la probabilità che entrambe le palline siano dello stesso colore; </a:t>
                </a:r>
                <a:r>
                  <a:rPr lang="it-IT" b="1" dirty="0">
                    <a:solidFill>
                      <a:srgbClr val="FF0000"/>
                    </a:solidFill>
                    <a:latin typeface="Tahoma" pitchFamily="34" charset="0"/>
                    <a:cs typeface="Times New Roman" pitchFamily="18" charset="0"/>
                  </a:rPr>
                  <a:t>(0.2778)</a:t>
                </a:r>
              </a:p>
              <a:p>
                <a:pPr marL="457200" indent="-457200" algn="just" eaLnBrk="1" hangingPunct="1">
                  <a:buFont typeface="Wingdings" pitchFamily="2" charset="2"/>
                  <a:buChar char="Ø"/>
                  <a:defRPr/>
                </a:pPr>
                <a:endParaRPr lang="it-IT" sz="2200" b="1" dirty="0">
                  <a:solidFill>
                    <a:srgbClr val="FF0000"/>
                  </a:solidFill>
                  <a:latin typeface="Tahoma" pitchFamily="34" charset="0"/>
                  <a:cs typeface="Times New Roman" pitchFamily="18" charset="0"/>
                </a:endParaRPr>
              </a:p>
              <a:p>
                <a:pPr algn="just" eaLnBrk="1" hangingPunct="1">
                  <a:defRPr/>
                </a:pPr>
                <a:r>
                  <a:rPr lang="it-IT" sz="2200" dirty="0">
                    <a:latin typeface="Tahoma" pitchFamily="34" charset="0"/>
                    <a:cs typeface="Times New Roman" pitchFamily="18" charset="0"/>
                  </a:rPr>
                  <a:t>A=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it-IT" sz="2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it-IT" sz="220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it-IT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𝑅</m:t>
                            </m:r>
                            <m:r>
                              <a:rPr lang="it-IT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it-IT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d>
                          <m:dPr>
                            <m:ctrlPr>
                              <a:rPr lang="it-IT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it-IT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𝐵</m:t>
                            </m:r>
                            <m:r>
                              <a:rPr lang="it-IT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it-IT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;</m:t>
                        </m:r>
                        <m:d>
                          <m:dPr>
                            <m:ctrlP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𝐵</m:t>
                            </m:r>
                            <m:r>
                              <a:rPr lang="it-IT" sz="2200" b="0" i="1" smtClean="0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𝐿</m:t>
                            </m:r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𝐵𝐿</m:t>
                            </m:r>
                          </m:e>
                        </m:d>
                      </m:e>
                    </m:d>
                  </m:oMath>
                </a14:m>
                <a:endParaRPr lang="it-IT" sz="2200" dirty="0">
                  <a:latin typeface="Tahoma" pitchFamily="34" charset="0"/>
                  <a:cs typeface="Times New Roman" pitchFamily="18" charset="0"/>
                </a:endParaRPr>
              </a:p>
              <a:p>
                <a:pPr algn="just" eaLnBrk="1" hangingPunct="1">
                  <a:defRPr/>
                </a:pPr>
                <a:endParaRPr lang="it-IT" sz="2200" dirty="0">
                  <a:latin typeface="Tahoma" pitchFamily="34" charset="0"/>
                  <a:cs typeface="Times New Roman" pitchFamily="18" charset="0"/>
                </a:endParaRPr>
              </a:p>
              <a:p>
                <a:pPr algn="just" eaLnBrk="1" hangingPunct="1">
                  <a:defRPr/>
                </a:pPr>
                <a:r>
                  <a:rPr lang="it-IT" sz="2200" dirty="0">
                    <a:latin typeface="Tahoma" pitchFamily="34" charset="0"/>
                    <a:cs typeface="Times New Roman" pitchFamily="18" charset="0"/>
                  </a:rPr>
                  <a:t>P(A)=P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t-IT" sz="2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𝑅</m:t>
                            </m:r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𝑅</m:t>
                            </m:r>
                          </m:e>
                        </m:d>
                        <m:r>
                          <a:rPr lang="it-IT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∪</m:t>
                        </m:r>
                        <m:d>
                          <m:dPr>
                            <m:ctrlP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𝐵</m:t>
                            </m:r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𝐵</m:t>
                            </m:r>
                          </m:e>
                        </m:d>
                        <m:r>
                          <a:rPr lang="it-IT" sz="22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itchFamily="18" charset="0"/>
                          </a:rPr>
                          <m:t>∪</m:t>
                        </m:r>
                        <m:d>
                          <m:dPr>
                            <m:ctrlP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𝐵𝐿</m:t>
                            </m:r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𝐵𝐿</m:t>
                            </m:r>
                          </m:e>
                        </m:d>
                      </m:e>
                    </m:d>
                  </m:oMath>
                </a14:m>
                <a:endParaRPr lang="it-IT" sz="2200" dirty="0">
                  <a:latin typeface="Tahoma" pitchFamily="34" charset="0"/>
                  <a:cs typeface="Times New Roman" pitchFamily="18" charset="0"/>
                </a:endParaRPr>
              </a:p>
              <a:p>
                <a:pPr algn="just" eaLnBrk="1" hangingPunct="1">
                  <a:defRPr/>
                </a:pPr>
                <a:endParaRPr lang="it-IT" sz="2200" dirty="0">
                  <a:latin typeface="Tahoma" pitchFamily="34" charset="0"/>
                  <a:cs typeface="Times New Roman" pitchFamily="18" charset="0"/>
                </a:endParaRPr>
              </a:p>
              <a:p>
                <a:pPr algn="just" eaLnBrk="1" hangingPunct="1">
                  <a:defRPr/>
                </a:pPr>
                <a:r>
                  <a:rPr lang="it-IT" sz="2200" dirty="0">
                    <a:latin typeface="Tahoma" pitchFamily="34" charset="0"/>
                    <a:cs typeface="Times New Roman" pitchFamily="18" charset="0"/>
                  </a:rPr>
                  <a:t>per l’incompatibilità:</a:t>
                </a:r>
              </a:p>
              <a:p>
                <a:pPr algn="just" eaLnBrk="1" hangingPunct="1">
                  <a:defRPr/>
                </a:pPr>
                <a:r>
                  <a:rPr lang="it-IT" sz="2200" dirty="0">
                    <a:latin typeface="Tahoma" pitchFamily="34" charset="0"/>
                    <a:cs typeface="Times New Roman" pitchFamily="18" charset="0"/>
                  </a:rPr>
                  <a:t>P(A)=P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t-IT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𝑅</m:t>
                            </m:r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𝑅</m:t>
                            </m:r>
                          </m:e>
                        </m:d>
                      </m:e>
                    </m:d>
                  </m:oMath>
                </a14:m>
                <a:r>
                  <a:rPr lang="it-IT" sz="2200" dirty="0">
                    <a:latin typeface="Tahoma" pitchFamily="34" charset="0"/>
                    <a:cs typeface="Times New Roman" pitchFamily="18" charset="0"/>
                  </a:rPr>
                  <a:t>+ P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t-IT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𝐵</m:t>
                            </m:r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𝐵</m:t>
                            </m:r>
                          </m:e>
                        </m:d>
                      </m:e>
                    </m:d>
                  </m:oMath>
                </a14:m>
                <a:r>
                  <a:rPr lang="it-IT" sz="2200" dirty="0">
                    <a:latin typeface="Tahoma" pitchFamily="34" charset="0"/>
                    <a:cs typeface="Times New Roman" pitchFamily="18" charset="0"/>
                  </a:rPr>
                  <a:t>+ P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t-IT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𝐵𝐿</m:t>
                            </m:r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,</m:t>
                            </m:r>
                            <m:r>
                              <a:rPr lang="it-IT" sz="2200" i="1">
                                <a:latin typeface="Cambria Math" panose="02040503050406030204" pitchFamily="18" charset="0"/>
                                <a:cs typeface="Times New Roman" pitchFamily="18" charset="0"/>
                              </a:rPr>
                              <m:t>𝐵𝐿</m:t>
                            </m:r>
                          </m:e>
                        </m:d>
                      </m:e>
                    </m:d>
                  </m:oMath>
                </a14:m>
                <a:endParaRPr lang="it-IT" sz="2200" dirty="0">
                  <a:latin typeface="Tahoma" pitchFamily="34" charset="0"/>
                  <a:cs typeface="Times New Roman" pitchFamily="18" charset="0"/>
                </a:endParaRPr>
              </a:p>
              <a:p>
                <a:pPr algn="just" eaLnBrk="1" hangingPunct="1">
                  <a:defRPr/>
                </a:pPr>
                <a:endParaRPr lang="it-IT" sz="2200" dirty="0">
                  <a:latin typeface="Tahoma" pitchFamily="34" charset="0"/>
                  <a:cs typeface="Times New Roman" pitchFamily="18" charset="0"/>
                </a:endParaRPr>
              </a:p>
              <a:p>
                <a:pPr algn="just" eaLnBrk="1" hangingPunct="1">
                  <a:defRPr/>
                </a:pPr>
                <a:r>
                  <a:rPr lang="it-IT" sz="2200" dirty="0">
                    <a:latin typeface="Tahoma" pitchFamily="34" charset="0"/>
                    <a:cs typeface="Times New Roman" pitchFamily="18" charset="0"/>
                  </a:rPr>
                  <a:t>per l’indipendenza:</a:t>
                </a:r>
              </a:p>
              <a:p>
                <a:pPr algn="just" eaLnBrk="1" hangingPunct="1">
                  <a:defRPr/>
                </a:pPr>
                <a:r>
                  <a:rPr lang="it-IT" sz="2200" dirty="0">
                    <a:latin typeface="Tahoma" pitchFamily="34" charset="0"/>
                    <a:cs typeface="Times New Roman" pitchFamily="18" charset="0"/>
                  </a:rPr>
                  <a:t>P(A)=P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t-IT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it-IT" sz="2200" dirty="0">
                    <a:latin typeface="Tahoma" pitchFamily="34" charset="0"/>
                    <a:cs typeface="Times New Roman" pitchFamily="18" charset="0"/>
                  </a:rPr>
                  <a:t> P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t-IT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it-IT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𝑅</m:t>
                        </m:r>
                      </m:e>
                    </m:d>
                  </m:oMath>
                </a14:m>
                <a:r>
                  <a:rPr lang="it-IT" sz="2200" dirty="0">
                    <a:latin typeface="Tahoma" pitchFamily="34" charset="0"/>
                    <a:cs typeface="Times New Roman" pitchFamily="18" charset="0"/>
                  </a:rPr>
                  <a:t> + P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t-IT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𝐵</m:t>
                        </m:r>
                      </m:e>
                    </m:d>
                  </m:oMath>
                </a14:m>
                <a:r>
                  <a:rPr lang="it-IT" sz="2200" dirty="0">
                    <a:latin typeface="Tahoma" pitchFamily="34" charset="0"/>
                    <a:cs typeface="Times New Roman" pitchFamily="18" charset="0"/>
                  </a:rPr>
                  <a:t> P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t-IT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it-IT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𝐵</m:t>
                        </m:r>
                      </m:e>
                    </m:d>
                    <m:r>
                      <a:rPr lang="it-IT" sz="2200" i="1">
                        <a:latin typeface="Cambria Math" panose="02040503050406030204" pitchFamily="18" charset="0"/>
                        <a:cs typeface="Times New Roman" pitchFamily="18" charset="0"/>
                      </a:rPr>
                      <m:t> </m:t>
                    </m:r>
                  </m:oMath>
                </a14:m>
                <a:r>
                  <a:rPr lang="it-IT" sz="2200" dirty="0">
                    <a:latin typeface="Tahoma" pitchFamily="34" charset="0"/>
                    <a:cs typeface="Times New Roman" pitchFamily="18" charset="0"/>
                  </a:rPr>
                  <a:t>+ P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t-IT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𝐵𝐿</m:t>
                        </m:r>
                      </m:e>
                    </m:d>
                  </m:oMath>
                </a14:m>
                <a:r>
                  <a:rPr lang="it-IT" sz="2200" dirty="0">
                    <a:latin typeface="Tahoma" pitchFamily="34" charset="0"/>
                    <a:cs typeface="Times New Roman" pitchFamily="18" charset="0"/>
                  </a:rPr>
                  <a:t> P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it-IT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dPr>
                      <m:e>
                        <m:r>
                          <a:rPr lang="it-IT" sz="2200" i="1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𝐵𝐿</m:t>
                        </m:r>
                      </m:e>
                    </m:d>
                  </m:oMath>
                </a14:m>
                <a:endParaRPr lang="it-IT" sz="2200" dirty="0">
                  <a:latin typeface="Tahoma" pitchFamily="34" charset="0"/>
                  <a:cs typeface="Times New Roman" pitchFamily="18" charset="0"/>
                </a:endParaRPr>
              </a:p>
              <a:p>
                <a:pPr algn="just" eaLnBrk="1" hangingPunct="1">
                  <a:defRPr/>
                </a:pPr>
                <a:endParaRPr lang="it-IT" sz="2200" dirty="0">
                  <a:latin typeface="Tahoma" pitchFamily="34" charset="0"/>
                  <a:cs typeface="Times New Roman" pitchFamily="18" charset="0"/>
                </a:endParaRPr>
              </a:p>
              <a:p>
                <a:pPr algn="just" eaLnBrk="1" hangingPunct="1">
                  <a:defRPr/>
                </a:pPr>
                <a:r>
                  <a:rPr lang="it-IT" sz="2200" dirty="0">
                    <a:latin typeface="Tahoma" pitchFamily="34" charset="0"/>
                    <a:cs typeface="Times New Roman" pitchFamily="18" charset="0"/>
                  </a:rPr>
                  <a:t>    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it-IT" sz="2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num>
                      <m:den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6</m:t>
                        </m:r>
                      </m:den>
                    </m:f>
                    <m:f>
                      <m:fPr>
                        <m:ctrlPr>
                          <a:rPr lang="it-IT" sz="220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6</m:t>
                        </m:r>
                      </m:den>
                    </m:f>
                    <m:r>
                      <a:rPr lang="it-IT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+ </m:t>
                    </m:r>
                    <m:f>
                      <m:fPr>
                        <m:ctrlP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num>
                      <m:den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6</m:t>
                        </m:r>
                      </m:den>
                    </m:f>
                    <m:f>
                      <m:fPr>
                        <m:ctrlP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2</m:t>
                        </m:r>
                      </m:num>
                      <m:den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6</m:t>
                        </m:r>
                      </m:den>
                    </m:f>
                    <m:r>
                      <a:rPr lang="it-IT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 + </m:t>
                    </m:r>
                    <m:f>
                      <m:fPr>
                        <m:ctrlP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</m:t>
                        </m:r>
                      </m:num>
                      <m:den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6</m:t>
                        </m:r>
                      </m:den>
                    </m:f>
                    <m:f>
                      <m:fPr>
                        <m:ctrlP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</m:t>
                        </m:r>
                      </m:num>
                      <m:den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6</m:t>
                        </m:r>
                      </m:den>
                    </m:f>
                    <m:r>
                      <a:rPr lang="it-IT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10</m:t>
                        </m:r>
                      </m:num>
                      <m:den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36</m:t>
                        </m:r>
                      </m:den>
                    </m:f>
                    <m:r>
                      <a:rPr lang="it-IT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  <m:f>
                      <m:fPr>
                        <m:ctrlP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</m:ctrlPr>
                      </m:fPr>
                      <m:num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5</m:t>
                        </m:r>
                      </m:num>
                      <m:den>
                        <m:r>
                          <a:rPr lang="it-IT" sz="2200" b="0" i="1" smtClean="0">
                            <a:latin typeface="Cambria Math" panose="02040503050406030204" pitchFamily="18" charset="0"/>
                            <a:cs typeface="Times New Roman" pitchFamily="18" charset="0"/>
                          </a:rPr>
                          <m:t>18</m:t>
                        </m:r>
                      </m:den>
                    </m:f>
                    <m:r>
                      <a:rPr lang="it-IT" sz="2200" b="0" i="1" smtClean="0">
                        <a:latin typeface="Cambria Math" panose="02040503050406030204" pitchFamily="18" charset="0"/>
                        <a:cs typeface="Times New Roman" pitchFamily="18" charset="0"/>
                      </a:rPr>
                      <m:t>=</m:t>
                    </m:r>
                  </m:oMath>
                </a14:m>
                <a:r>
                  <a:rPr lang="it-IT" sz="1600" dirty="0">
                    <a:latin typeface="Tahoma" pitchFamily="34" charset="0"/>
                    <a:cs typeface="Times New Roman" pitchFamily="18" charset="0"/>
                  </a:rPr>
                  <a:t>0.2778</a:t>
                </a:r>
              </a:p>
            </p:txBody>
          </p:sp>
        </mc:Choice>
        <mc:Fallback xmlns="">
          <p:sp>
            <p:nvSpPr>
              <p:cNvPr id="135170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67544" y="19363"/>
                <a:ext cx="8064500" cy="6356484"/>
              </a:xfrm>
              <a:prstGeom prst="rect">
                <a:avLst/>
              </a:prstGeom>
              <a:blipFill>
                <a:blip r:embed="rId2"/>
                <a:stretch>
                  <a:fillRect l="-752" r="-752"/>
                </a:stretch>
              </a:blipFill>
              <a:ln w="9525">
                <a:noFill/>
                <a:miter lim="800000"/>
                <a:headEnd/>
                <a:tailEnd/>
              </a:ln>
              <a:effectLst>
                <a:prstShdw prst="shdw17" dist="17961" dir="2700000">
                  <a:schemeClr val="accent1">
                    <a:gamma/>
                    <a:shade val="60000"/>
                    <a:invGamma/>
                  </a:schemeClr>
                </a:prstShdw>
              </a:effectLst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170" name="Rectangle 2"/>
          <p:cNvSpPr>
            <a:spLocks noChangeArrowheads="1"/>
          </p:cNvSpPr>
          <p:nvPr/>
        </p:nvSpPr>
        <p:spPr bwMode="auto">
          <a:xfrm>
            <a:off x="468313" y="2274838"/>
            <a:ext cx="8064500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457200" indent="-457200" algn="just" eaLnBrk="1" hangingPunct="1">
              <a:defRPr/>
            </a:pPr>
            <a:r>
              <a:rPr lang="it-IT" sz="2400" b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Esercizio 3.8.</a:t>
            </a: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Un’urna contiene tre palline rosse (</a:t>
            </a:r>
            <a:r>
              <a:rPr lang="it-IT" sz="2400" i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R</a:t>
            </a: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), due bianche (</a:t>
            </a:r>
            <a:r>
              <a:rPr lang="it-IT" sz="2400" i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B</a:t>
            </a: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) ed una blu (</a:t>
            </a:r>
            <a:r>
              <a:rPr lang="it-IT" sz="2400" i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BL</a:t>
            </a: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). Una seconda urna contiene una palla rossa, due bianche e tre blu. la probabilità di estrarre due palline rosse è maggiore di quella di estrarre due palline bianche? </a:t>
            </a:r>
            <a:r>
              <a:rPr lang="it-IT" sz="2400" b="1" dirty="0">
                <a:solidFill>
                  <a:srgbClr val="FF0000"/>
                </a:solidFill>
                <a:latin typeface="Tahoma" pitchFamily="34" charset="0"/>
                <a:cs typeface="Times New Roman" pitchFamily="18" charset="0"/>
              </a:rPr>
              <a:t>(3/36 vs 4/36) </a:t>
            </a: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44839823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06" name="Rectangle 2"/>
          <p:cNvSpPr>
            <a:spLocks noChangeArrowheads="1"/>
          </p:cNvSpPr>
          <p:nvPr/>
        </p:nvSpPr>
        <p:spPr bwMode="auto">
          <a:xfrm>
            <a:off x="468313" y="1536174"/>
            <a:ext cx="8064500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457200" indent="-457200" algn="just"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    Un’urna contiene tre palline rosse (</a:t>
            </a:r>
            <a:r>
              <a:rPr lang="it-IT" sz="2400" i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R</a:t>
            </a: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), due bianche (</a:t>
            </a:r>
            <a:r>
              <a:rPr lang="it-IT" sz="2400" i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B</a:t>
            </a: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) ed una blu (</a:t>
            </a:r>
            <a:r>
              <a:rPr lang="it-IT" sz="2400" i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BL</a:t>
            </a: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). Una seconda urna contiene una palla rossa, due bianche e tre blu. </a:t>
            </a:r>
          </a:p>
          <a:p>
            <a:pPr marL="457200" indent="-457200" algn="just" eaLnBrk="1" hangingPunct="1">
              <a:defRPr/>
            </a:pPr>
            <a:endParaRPr lang="it-IT" sz="2400" dirty="0">
              <a:solidFill>
                <a:srgbClr val="000000"/>
              </a:solidFill>
              <a:latin typeface="Tahoma" pitchFamily="34" charset="0"/>
              <a:cs typeface="Times New Roman" pitchFamily="18" charset="0"/>
            </a:endParaRPr>
          </a:p>
          <a:p>
            <a:pPr algn="just"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Si mescolano assieme in una stessa urna tutte le palline e quindi si procede ad estrarre un campione di tre palline. Calcolare la probabilità che siano rappresentati tutti e tre i colori se l’estrazione avviene</a:t>
            </a:r>
          </a:p>
          <a:p>
            <a:pPr marL="457200" indent="-457200" algn="just"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	i)	con reimmissione; </a:t>
            </a:r>
            <a:r>
              <a:rPr lang="it-IT" sz="2400" b="1" dirty="0">
                <a:solidFill>
                  <a:srgbClr val="FF0000"/>
                </a:solidFill>
                <a:latin typeface="Tahoma" pitchFamily="34" charset="0"/>
                <a:cs typeface="Times New Roman" pitchFamily="18" charset="0"/>
              </a:rPr>
              <a:t>(0.222)</a:t>
            </a:r>
          </a:p>
          <a:p>
            <a:pPr marL="457200" indent="-457200" algn="just"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	ii)	senza reimmissione. </a:t>
            </a:r>
            <a:r>
              <a:rPr lang="it-IT" sz="2400" b="1" dirty="0">
                <a:solidFill>
                  <a:srgbClr val="FF0000"/>
                </a:solidFill>
                <a:latin typeface="Tahoma" pitchFamily="34" charset="0"/>
                <a:cs typeface="Times New Roman" pitchFamily="18" charset="0"/>
              </a:rPr>
              <a:t>(0.291)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434" name="Object 2"/>
          <p:cNvGraphicFramePr>
            <a:graphicFrameLocks noChangeAspect="1"/>
          </p:cNvGraphicFramePr>
          <p:nvPr/>
        </p:nvGraphicFramePr>
        <p:xfrm>
          <a:off x="1550988" y="1500188"/>
          <a:ext cx="5673725" cy="1320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6" name="Equazione" r:id="rId3" imgW="1854200" imgH="431800" progId="">
                  <p:embed/>
                </p:oleObj>
              </mc:Choice>
              <mc:Fallback>
                <p:oleObj name="Equazione" r:id="rId3" imgW="1854200" imgH="431800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0988" y="1500188"/>
                        <a:ext cx="5673725" cy="1320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35" name="Object 3"/>
          <p:cNvGraphicFramePr>
            <a:graphicFrameLocks noChangeAspect="1"/>
          </p:cNvGraphicFramePr>
          <p:nvPr/>
        </p:nvGraphicFramePr>
        <p:xfrm>
          <a:off x="1503363" y="4110038"/>
          <a:ext cx="5789612" cy="1322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517" name="Equazione" r:id="rId5" imgW="1892300" imgH="431800" progId="">
                  <p:embed/>
                </p:oleObj>
              </mc:Choice>
              <mc:Fallback>
                <p:oleObj name="Equazione" r:id="rId5" imgW="1892300" imgH="431800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3363" y="4110038"/>
                        <a:ext cx="5789612" cy="13223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6" name="CasellaDiTesto 3"/>
          <p:cNvSpPr txBox="1">
            <a:spLocks noChangeArrowheads="1"/>
          </p:cNvSpPr>
          <p:nvPr/>
        </p:nvSpPr>
        <p:spPr bwMode="auto">
          <a:xfrm>
            <a:off x="1835150" y="765175"/>
            <a:ext cx="54006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it-IT" altLang="it-IT" sz="36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con reimmissione</a:t>
            </a:r>
          </a:p>
        </p:txBody>
      </p:sp>
      <p:sp>
        <p:nvSpPr>
          <p:cNvPr id="18437" name="CasellaDiTesto 4"/>
          <p:cNvSpPr txBox="1">
            <a:spLocks noChangeArrowheads="1"/>
          </p:cNvSpPr>
          <p:nvPr/>
        </p:nvSpPr>
        <p:spPr bwMode="auto">
          <a:xfrm>
            <a:off x="1835150" y="3359150"/>
            <a:ext cx="5400675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/>
            <a:r>
              <a:rPr lang="it-IT" altLang="it-IT" sz="36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senza reimmissione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3"/>
          <p:cNvGraphicFramePr>
            <a:graphicFrameLocks noChangeAspect="1"/>
          </p:cNvGraphicFramePr>
          <p:nvPr/>
        </p:nvGraphicFramePr>
        <p:xfrm>
          <a:off x="3192463" y="5032375"/>
          <a:ext cx="2408237" cy="1204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0" name="Equazione" r:id="rId3" imgW="787058" imgH="393529" progId="">
                  <p:embed/>
                </p:oleObj>
              </mc:Choice>
              <mc:Fallback>
                <p:oleObj name="Equazione" r:id="rId3" imgW="787058" imgH="393529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2463" y="5032375"/>
                        <a:ext cx="2408237" cy="12049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CasellaDiTesto 3"/>
          <p:cNvSpPr txBox="1">
            <a:spLocks noChangeArrowheads="1"/>
          </p:cNvSpPr>
          <p:nvPr/>
        </p:nvSpPr>
        <p:spPr bwMode="auto">
          <a:xfrm>
            <a:off x="684213" y="620713"/>
            <a:ext cx="80645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it-IT" altLang="it-IT" sz="24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Nel caso (i), cioè quando la pallina estratta viene rimessa nell’urna, possiamo osservare che qualsiasi sequenza ha sempre la stessa probabilità</a:t>
            </a:r>
          </a:p>
        </p:txBody>
      </p:sp>
      <p:graphicFrame>
        <p:nvGraphicFramePr>
          <p:cNvPr id="19459" name="Object 4"/>
          <p:cNvGraphicFramePr>
            <a:graphicFrameLocks noChangeAspect="1"/>
          </p:cNvGraphicFramePr>
          <p:nvPr/>
        </p:nvGraphicFramePr>
        <p:xfrm>
          <a:off x="2695575" y="2008188"/>
          <a:ext cx="3382963" cy="1204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41" name="Equazione" r:id="rId5" imgW="1104900" imgH="393700" progId="">
                  <p:embed/>
                </p:oleObj>
              </mc:Choice>
              <mc:Fallback>
                <p:oleObj name="Equazione" r:id="rId5" imgW="1104900" imgH="3937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95575" y="2008188"/>
                        <a:ext cx="3382963" cy="12049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1" name="CasellaDiTesto 6"/>
          <p:cNvSpPr txBox="1">
            <a:spLocks noChangeArrowheads="1"/>
          </p:cNvSpPr>
          <p:nvPr/>
        </p:nvSpPr>
        <p:spPr bwMode="auto">
          <a:xfrm>
            <a:off x="684213" y="3740150"/>
            <a:ext cx="8064500" cy="1201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it-IT" altLang="it-IT" sz="2400">
                <a:solidFill>
                  <a:srgbClr val="000000"/>
                </a:solidFill>
                <a:latin typeface="Tahoma" pitchFamily="34" charset="0"/>
                <a:cs typeface="Tahoma" pitchFamily="34" charset="0"/>
              </a:rPr>
              <a:t>In questo caso possiamo (anche) calcolare la probabilità cercata impiegando la definizione “classica” di probabilità come rapporto fra i casi favorevoli e i casi possibili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ChangeArrowheads="1"/>
          </p:cNvSpPr>
          <p:nvPr/>
        </p:nvSpPr>
        <p:spPr bwMode="auto">
          <a:xfrm>
            <a:off x="468313" y="2090738"/>
            <a:ext cx="8064500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457200" indent="-457200" eaLnBrk="1" hangingPunct="1">
              <a:defRPr/>
            </a:pPr>
            <a:r>
              <a:rPr lang="it-IT" sz="2400" b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Esercizio 3.15. </a:t>
            </a: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Si lancia per tre volte una moneta non truccata. Calcolare la probabilità</a:t>
            </a:r>
          </a:p>
          <a:p>
            <a:pPr marL="457200" indent="-457200" algn="just" eaLnBrk="1" hangingPunct="1">
              <a:defRPr/>
            </a:pPr>
            <a:endParaRPr lang="it-IT" sz="2400" dirty="0">
              <a:solidFill>
                <a:srgbClr val="000000"/>
              </a:solidFill>
              <a:latin typeface="Tahoma" pitchFamily="34" charset="0"/>
              <a:cs typeface="Times New Roman" pitchFamily="18" charset="0"/>
            </a:endParaRPr>
          </a:p>
          <a:p>
            <a:pPr marL="457200" indent="-457200" algn="just" eaLnBrk="1" hangingPunct="1">
              <a:buFontTx/>
              <a:buAutoNum type="alphaLcParenR"/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di ottenere tre volte testa;</a:t>
            </a:r>
            <a:endParaRPr lang="it-IT" sz="2400" b="1" dirty="0">
              <a:solidFill>
                <a:srgbClr val="FF0000"/>
              </a:solidFill>
              <a:latin typeface="Tahoma" pitchFamily="34" charset="0"/>
              <a:cs typeface="Times New Roman" pitchFamily="18" charset="0"/>
            </a:endParaRPr>
          </a:p>
          <a:p>
            <a:pPr marL="457200" indent="-457200" algn="just" eaLnBrk="1" hangingPunct="1">
              <a:buFontTx/>
              <a:buAutoNum type="alphaLcParenR"/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di non ottenere tre volte testa; </a:t>
            </a:r>
          </a:p>
          <a:p>
            <a:pPr marL="457200" indent="-457200" algn="just" eaLnBrk="1" hangingPunct="1">
              <a:buFontTx/>
              <a:buAutoNum type="alphaLcParenR"/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di ottenere almeno una volte croce;</a:t>
            </a:r>
          </a:p>
          <a:p>
            <a:pPr marL="457200" indent="-457200" algn="just" eaLnBrk="1" hangingPunct="1">
              <a:buFontTx/>
              <a:buAutoNum type="alphaLcParenR"/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di ottenere almeno una volta testa.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66" name="Rectangle 2"/>
          <p:cNvSpPr>
            <a:spLocks noChangeArrowheads="1"/>
          </p:cNvSpPr>
          <p:nvPr/>
        </p:nvSpPr>
        <p:spPr bwMode="auto">
          <a:xfrm>
            <a:off x="468313" y="2090738"/>
            <a:ext cx="8064500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457200" indent="-457200" eaLnBrk="1" hangingPunct="1">
              <a:defRPr/>
            </a:pPr>
            <a:r>
              <a:rPr lang="it-IT" sz="2400" b="1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Esercizio 3.15. </a:t>
            </a: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Si lancia per tre volte una moneta non truccata. Calcolare la probabilità</a:t>
            </a:r>
          </a:p>
          <a:p>
            <a:pPr marL="457200" indent="-457200" algn="just" eaLnBrk="1" hangingPunct="1">
              <a:defRPr/>
            </a:pPr>
            <a:endParaRPr lang="it-IT" sz="2400" dirty="0">
              <a:solidFill>
                <a:srgbClr val="000000"/>
              </a:solidFill>
              <a:latin typeface="Tahoma" pitchFamily="34" charset="0"/>
              <a:cs typeface="Times New Roman" pitchFamily="18" charset="0"/>
            </a:endParaRPr>
          </a:p>
          <a:p>
            <a:pPr marL="457200" indent="-457200" algn="just" eaLnBrk="1" hangingPunct="1">
              <a:buFontTx/>
              <a:buAutoNum type="alphaLcParenR"/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di ottenere tre volte testa; </a:t>
            </a:r>
            <a:r>
              <a:rPr lang="it-IT" sz="2400" b="1" dirty="0">
                <a:solidFill>
                  <a:srgbClr val="FF0000"/>
                </a:solidFill>
                <a:latin typeface="Tahoma" pitchFamily="34" charset="0"/>
                <a:cs typeface="Times New Roman" pitchFamily="18" charset="0"/>
              </a:rPr>
              <a:t>(0.125)</a:t>
            </a:r>
          </a:p>
          <a:p>
            <a:pPr marL="457200" indent="-457200" algn="just" eaLnBrk="1" hangingPunct="1">
              <a:buFontTx/>
              <a:buAutoNum type="alphaLcParenR"/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di non ottenere tre volte testa; </a:t>
            </a:r>
            <a:r>
              <a:rPr lang="it-IT" sz="2400" b="1" dirty="0">
                <a:solidFill>
                  <a:srgbClr val="FF0000"/>
                </a:solidFill>
                <a:latin typeface="Tahoma" pitchFamily="34" charset="0"/>
                <a:cs typeface="Times New Roman" pitchFamily="18" charset="0"/>
              </a:rPr>
              <a:t>(0.875)</a:t>
            </a:r>
            <a:endParaRPr lang="it-IT" sz="2400" dirty="0">
              <a:solidFill>
                <a:srgbClr val="000000"/>
              </a:solidFill>
              <a:latin typeface="Tahoma" pitchFamily="34" charset="0"/>
              <a:cs typeface="Times New Roman" pitchFamily="18" charset="0"/>
            </a:endParaRPr>
          </a:p>
          <a:p>
            <a:pPr marL="457200" indent="-457200" algn="just" eaLnBrk="1" hangingPunct="1">
              <a:buFontTx/>
              <a:buAutoNum type="alphaLcParenR"/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di ottenere almeno una volte croce; </a:t>
            </a:r>
            <a:r>
              <a:rPr lang="it-IT" sz="2400" b="1" dirty="0">
                <a:solidFill>
                  <a:srgbClr val="FF0000"/>
                </a:solidFill>
                <a:latin typeface="Tahoma" pitchFamily="34" charset="0"/>
                <a:cs typeface="Times New Roman" pitchFamily="18" charset="0"/>
              </a:rPr>
              <a:t>(0.875)</a:t>
            </a:r>
            <a:endParaRPr lang="it-IT" sz="2400" dirty="0">
              <a:solidFill>
                <a:srgbClr val="000000"/>
              </a:solidFill>
              <a:latin typeface="Tahoma" pitchFamily="34" charset="0"/>
              <a:cs typeface="Times New Roman" pitchFamily="18" charset="0"/>
            </a:endParaRPr>
          </a:p>
          <a:p>
            <a:pPr marL="457200" indent="-457200" algn="just" eaLnBrk="1" hangingPunct="1">
              <a:buFontTx/>
              <a:buAutoNum type="alphaLcParenR"/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di ottenere almeno una volta testa. </a:t>
            </a:r>
            <a:r>
              <a:rPr lang="it-IT" sz="2400" b="1" dirty="0">
                <a:solidFill>
                  <a:srgbClr val="FF0000"/>
                </a:solidFill>
                <a:latin typeface="Tahoma" pitchFamily="34" charset="0"/>
                <a:cs typeface="Times New Roman" pitchFamily="18" charset="0"/>
              </a:rPr>
              <a:t>(0.875)</a:t>
            </a:r>
            <a:endParaRPr lang="it-IT" sz="2400" dirty="0">
              <a:solidFill>
                <a:srgbClr val="000000"/>
              </a:solidFill>
              <a:latin typeface="Tahoma" pitchFamily="34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47456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ChangeArrowheads="1"/>
          </p:cNvSpPr>
          <p:nvPr/>
        </p:nvSpPr>
        <p:spPr bwMode="auto">
          <a:xfrm>
            <a:off x="539750" y="2647950"/>
            <a:ext cx="8064500" cy="1568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</a:rPr>
              <a:t>Un’urna contiene 10 palline di cui 7 nere. Si prendono (</a:t>
            </a:r>
            <a:r>
              <a:rPr lang="it-IT" sz="2400" b="1" dirty="0">
                <a:solidFill>
                  <a:srgbClr val="000000"/>
                </a:solidFill>
                <a:latin typeface="Tahoma" pitchFamily="34" charset="0"/>
              </a:rPr>
              <a:t>con rimessa</a:t>
            </a:r>
            <a:r>
              <a:rPr lang="it-IT" sz="2400" dirty="0">
                <a:solidFill>
                  <a:srgbClr val="000000"/>
                </a:solidFill>
                <a:latin typeface="Tahoma" pitchFamily="34" charset="0"/>
              </a:rPr>
              <a:t>) 4 palline dall'urna. </a:t>
            </a:r>
          </a:p>
          <a:p>
            <a:pPr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</a:rPr>
              <a:t>Calcolare la probabilità di estrarre almeno una pallina nera. </a:t>
            </a:r>
            <a:r>
              <a:rPr lang="it-IT" sz="2400" b="1">
                <a:solidFill>
                  <a:srgbClr val="FF0000"/>
                </a:solidFill>
                <a:latin typeface="Tahoma" pitchFamily="34" charset="0"/>
                <a:cs typeface="Times New Roman" pitchFamily="18" charset="0"/>
              </a:rPr>
              <a:t>(0.9919)</a:t>
            </a:r>
            <a:endParaRPr lang="it-IT" sz="2400" dirty="0">
              <a:solidFill>
                <a:srgbClr val="000000"/>
              </a:solidFill>
              <a:latin typeface="Tahoma" pitchFamily="34" charset="0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226" name="Rectangle 2"/>
          <p:cNvSpPr>
            <a:spLocks noChangeArrowheads="1"/>
          </p:cNvSpPr>
          <p:nvPr/>
        </p:nvSpPr>
        <p:spPr bwMode="auto">
          <a:xfrm>
            <a:off x="467544" y="764704"/>
            <a:ext cx="8064500" cy="489364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</a:rPr>
              <a:t>Un’urna contiene 10 palline di cui 7 nere. Si prendono (</a:t>
            </a:r>
            <a:r>
              <a:rPr lang="it-IT" sz="2400" b="1" dirty="0">
                <a:solidFill>
                  <a:srgbClr val="000000"/>
                </a:solidFill>
                <a:latin typeface="Tahoma" pitchFamily="34" charset="0"/>
              </a:rPr>
              <a:t>con rimessa</a:t>
            </a:r>
            <a:r>
              <a:rPr lang="it-IT" sz="2400" dirty="0">
                <a:solidFill>
                  <a:srgbClr val="000000"/>
                </a:solidFill>
                <a:latin typeface="Tahoma" pitchFamily="34" charset="0"/>
              </a:rPr>
              <a:t>) 4 palline dall'urna. </a:t>
            </a:r>
          </a:p>
          <a:p>
            <a:pPr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</a:rPr>
              <a:t>Calcolare la probabilità di estrarre almeno una pallina nera.</a:t>
            </a:r>
          </a:p>
          <a:p>
            <a:pPr eaLnBrk="1" hangingPunct="1">
              <a:defRPr/>
            </a:pPr>
            <a:endParaRPr lang="it-IT" sz="2400" dirty="0">
              <a:solidFill>
                <a:srgbClr val="000000"/>
              </a:solidFill>
              <a:latin typeface="Tahoma" pitchFamily="34" charset="0"/>
            </a:endParaRPr>
          </a:p>
          <a:p>
            <a:pPr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</a:rPr>
              <a:t>&gt; 3^4</a:t>
            </a:r>
          </a:p>
          <a:p>
            <a:pPr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</a:rPr>
              <a:t>[1] 81</a:t>
            </a:r>
          </a:p>
          <a:p>
            <a:pPr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</a:rPr>
              <a:t>&gt; 10^4</a:t>
            </a:r>
          </a:p>
          <a:p>
            <a:pPr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</a:rPr>
              <a:t>[1] 10000</a:t>
            </a:r>
          </a:p>
          <a:p>
            <a:pPr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</a:rPr>
              <a:t>&gt; 81/10000</a:t>
            </a:r>
          </a:p>
          <a:p>
            <a:pPr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</a:rPr>
              <a:t>[1] 0.0081</a:t>
            </a:r>
          </a:p>
          <a:p>
            <a:pPr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</a:rPr>
              <a:t>&gt; 1-0.0081</a:t>
            </a:r>
          </a:p>
          <a:p>
            <a:pPr eaLnBrk="1" hangingPunct="1">
              <a:defRPr/>
            </a:pPr>
            <a:r>
              <a:rPr lang="it-IT" sz="2400" dirty="0">
                <a:solidFill>
                  <a:srgbClr val="000000"/>
                </a:solidFill>
                <a:latin typeface="Tahoma" pitchFamily="34" charset="0"/>
              </a:rPr>
              <a:t>[1] 0.9919</a:t>
            </a:r>
          </a:p>
        </p:txBody>
      </p:sp>
    </p:spTree>
    <p:extLst>
      <p:ext uri="{BB962C8B-B14F-4D97-AF65-F5344CB8AC3E}">
        <p14:creationId xmlns:p14="http://schemas.microsoft.com/office/powerpoint/2010/main" val="303096917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ChangeArrowheads="1"/>
          </p:cNvSpPr>
          <p:nvPr/>
        </p:nvSpPr>
        <p:spPr bwMode="auto">
          <a:xfrm>
            <a:off x="468313" y="703263"/>
            <a:ext cx="8064500" cy="545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609600" indent="-609600" eaLnBrk="1" hangingPunct="1">
              <a:defRPr/>
            </a:pPr>
            <a:r>
              <a:rPr lang="it-IT" sz="2200" b="1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Esercizio 3.26. </a:t>
            </a:r>
            <a:r>
              <a:rPr lang="it-IT" sz="22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Una catena di concessionarie di automobili valuta le performance delle automobili durante i loro primi 90 giorni di vita. Le automobili sono classificate secondo la nazionalità della casa produttrice (italiana/non italiana) e in base al fatto che la macchina abbia richiesto o meno una riparazione nel periodo di garanzia. In base ai dati osservati, si valuta pari a 0.06 la probabilità che l’automobile richieda una riparazione nel periodo di garanzia, pari a 0.6 la  probabilità che l’automobile sia prodotta in Italia e pari a 0.025 la probabilità che un’automobile richieda una riparazione nel periodo di garanzia e contemporaneamente sia stata prodotta in Italia.</a:t>
            </a:r>
          </a:p>
          <a:p>
            <a:pPr marL="609600" indent="-609600" eaLnBrk="1" hangingPunct="1">
              <a:buFontTx/>
              <a:buAutoNum type="romanLcPeriod"/>
              <a:defRPr/>
            </a:pPr>
            <a:r>
              <a:rPr lang="it-IT" sz="22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Sapendo che un’automobile è stata prodotta in Italia, qual è la probabilità che richieda una riparazione nel periodo di garanzia?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0" name="Rectangle 2"/>
          <p:cNvSpPr>
            <a:spLocks noChangeArrowheads="1"/>
          </p:cNvSpPr>
          <p:nvPr/>
        </p:nvSpPr>
        <p:spPr bwMode="auto">
          <a:xfrm>
            <a:off x="468313" y="703263"/>
            <a:ext cx="8064500" cy="545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609600" indent="-609600" eaLnBrk="1" hangingPunct="1">
              <a:defRPr/>
            </a:pPr>
            <a:r>
              <a:rPr lang="it-IT" sz="2200" b="1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Esercizio 3.26. </a:t>
            </a:r>
            <a:r>
              <a:rPr lang="it-IT" sz="22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Una catena di concessionarie di automobili valuta le performance delle automobili durante i loro primi 90 giorni di vita. Le automobili sono classificate secondo la nazionalità della casa produttrice (italiana/non italiana) e in base al fatto che la macchina abbia richiesto o meno una riparazione nel periodo di garanzia. In base ai dati osservati, si valuta pari a 0.06 la probabilità che l’automobile richieda una riparazione nel periodo di garanzia, pari a 0.6 la  probabilità che l’automobile sia prodotta in Italia e pari a 0.025 la probabilità che un’automobile richieda una riparazione nel periodo di garanzia e contemporaneamente sia stata prodotta in Italia.</a:t>
            </a:r>
          </a:p>
          <a:p>
            <a:pPr marL="609600" indent="-609600" eaLnBrk="1" hangingPunct="1">
              <a:buFontTx/>
              <a:buAutoNum type="romanLcPeriod" startAt="2"/>
              <a:defRPr/>
            </a:pPr>
            <a:r>
              <a:rPr lang="it-IT" sz="22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Sapendo che un’automobile non è stata prodotta in Italia, qual è la probabilità che non richieda una riparazione nel periodo di garanzia?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ChangeArrowheads="1"/>
          </p:cNvSpPr>
          <p:nvPr/>
        </p:nvSpPr>
        <p:spPr bwMode="auto">
          <a:xfrm>
            <a:off x="468313" y="871538"/>
            <a:ext cx="8064500" cy="5116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609600" indent="-609600" eaLnBrk="1" hangingPunct="1">
              <a:defRPr/>
            </a:pPr>
            <a:r>
              <a:rPr lang="it-IT" sz="2200" b="1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Esercizio 3.26. </a:t>
            </a:r>
            <a:r>
              <a:rPr lang="it-IT" sz="22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Una catena di concessionarie di automobili valuta le performance delle automobili durante i loro primi 90 giorni di vita. Le automobili sono classificate secondo la nazionalità della casa produttrice (italiana/non italiana) e in base al fatto che la macchina abbia richiesto o meno una riparazione nel periodo di garanzia. In base ai dati osservati, si valuta pari a 0.06 la probabilità che l’automobile richieda una riparazione nel periodo di garanzia, pari a 0.6 la  probabilità che l’automobile sia prodotta in Italia e pari a 0.025 la probabilità che un’automobile richieda una riparazione nel periodo di garanzia e contemporaneamente sia stata prodotta in Italia.</a:t>
            </a:r>
          </a:p>
          <a:p>
            <a:pPr marL="609600" indent="-609600" eaLnBrk="1" hangingPunct="1">
              <a:buFontTx/>
              <a:buAutoNum type="romanLcPeriod" startAt="3"/>
              <a:defRPr/>
            </a:pPr>
            <a:r>
              <a:rPr lang="it-IT" sz="22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La somma delle probabilità calcolate ai punti i) e ii) deve essere pari a 1? Perché?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78" name="Rectangle 2"/>
          <p:cNvSpPr>
            <a:spLocks noChangeArrowheads="1"/>
          </p:cNvSpPr>
          <p:nvPr/>
        </p:nvSpPr>
        <p:spPr bwMode="auto">
          <a:xfrm>
            <a:off x="468313" y="703263"/>
            <a:ext cx="8064500" cy="545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anchor="ctr">
            <a:spAutoFit/>
          </a:bodyPr>
          <a:lstStyle/>
          <a:p>
            <a:pPr marL="609600" indent="-609600" eaLnBrk="1" hangingPunct="1">
              <a:defRPr/>
            </a:pPr>
            <a:r>
              <a:rPr lang="it-IT" sz="2200" b="1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Esercizio 3.26. </a:t>
            </a:r>
            <a:r>
              <a:rPr lang="it-IT" sz="22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Una catena di concessionarie di automobili valuta le performance delle automobili durante i loro primi 90 giorni di vita. Le automobili sono classificate secondo la nazionalità della casa produttrice (italiana/non italiana) e in base al fatto che la macchina abbia richiesto o meno una riparazione nel periodo di garanzia. In base ai dati osservati, si valuta pari a 0.06 la probabilità che l’automobile richieda una riparazione nel periodo di garanzia, pari a 0.6 la  probabilità che l’automobile sia prodotta in Italia e pari a 0.025 la probabilità che un’automobile richieda una riparazione nel periodo di garanzia e contemporaneamente sia stata prodotta in Italia.</a:t>
            </a:r>
          </a:p>
          <a:p>
            <a:pPr marL="609600" indent="-609600" eaLnBrk="1" hangingPunct="1">
              <a:buFontTx/>
              <a:buAutoNum type="romanLcPeriod" startAt="4"/>
              <a:defRPr/>
            </a:pPr>
            <a:r>
              <a:rPr lang="it-IT" sz="2200">
                <a:solidFill>
                  <a:srgbClr val="000000"/>
                </a:solidFill>
                <a:latin typeface="Tahoma" pitchFamily="34" charset="0"/>
                <a:cs typeface="Times New Roman" pitchFamily="18" charset="0"/>
              </a:rPr>
              <a:t>Gli eventi “automobile che richiede una riparazione nel periodo di garanzia” e “automobile prodotta in Italia” sono indipendenti?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65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1600" y="2527300"/>
            <a:ext cx="8940800" cy="180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210" name="Rectangle 1026"/>
          <p:cNvSpPr>
            <a:spLocks noGrp="1" noChangeArrowheads="1"/>
          </p:cNvSpPr>
          <p:nvPr>
            <p:ph type="title" idx="4294967295"/>
          </p:nvPr>
        </p:nvSpPr>
        <p:spPr>
          <a:xfrm>
            <a:off x="685800" y="2322513"/>
            <a:ext cx="8134350" cy="2209800"/>
          </a:xfrm>
        </p:spPr>
        <p:txBody>
          <a:bodyPr/>
          <a:lstStyle/>
          <a:p>
            <a:pPr eaLnBrk="1" hangingPunct="1">
              <a:spcBef>
                <a:spcPct val="50000"/>
              </a:spcBef>
              <a:spcAft>
                <a:spcPct val="50000"/>
              </a:spcAft>
            </a:pPr>
            <a:r>
              <a:rPr lang="it-IT" altLang="it-IT" sz="3600" b="1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PROBABILITÀ “TOTALE”</a:t>
            </a:r>
            <a:br>
              <a:rPr lang="it-IT" altLang="it-IT" sz="3600" b="1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</a:br>
            <a:br>
              <a:rPr lang="it-IT" altLang="it-IT" sz="3600" b="1" dirty="0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</a:br>
            <a:r>
              <a:rPr lang="it-IT" altLang="it-IT" sz="3600" b="1">
                <a:solidFill>
                  <a:schemeClr val="tx1"/>
                </a:solidFill>
                <a:latin typeface="Tahoma" pitchFamily="34" charset="0"/>
                <a:cs typeface="Tahoma" pitchFamily="34" charset="0"/>
              </a:rPr>
              <a:t>Altra presentazione</a:t>
            </a:r>
            <a:endParaRPr lang="it-IT" altLang="it-IT" sz="3600" b="1" dirty="0">
              <a:solidFill>
                <a:schemeClr val="tx1"/>
              </a:solidFill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ChangeArrowheads="1"/>
          </p:cNvSpPr>
          <p:nvPr/>
        </p:nvSpPr>
        <p:spPr bwMode="auto">
          <a:xfrm>
            <a:off x="0" y="1158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hangingPunct="1"/>
            <a:endParaRPr lang="it-IT" altLang="it-IT" sz="2400">
              <a:solidFill>
                <a:srgbClr val="000000"/>
              </a:solidFill>
              <a:latin typeface="Times New Roman" pitchFamily="18" charset="0"/>
            </a:endParaRPr>
          </a:p>
        </p:txBody>
      </p:sp>
      <p:pic>
        <p:nvPicPr>
          <p:cNvPr id="23859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73225" y="1639888"/>
            <a:ext cx="5797550" cy="3475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38596" name="Line 4"/>
          <p:cNvSpPr>
            <a:spLocks noChangeShapeType="1"/>
          </p:cNvSpPr>
          <p:nvPr/>
        </p:nvSpPr>
        <p:spPr bwMode="auto">
          <a:xfrm>
            <a:off x="1835150" y="1860550"/>
            <a:ext cx="5616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38597" name="Line 5"/>
          <p:cNvSpPr>
            <a:spLocks noChangeShapeType="1"/>
          </p:cNvSpPr>
          <p:nvPr/>
        </p:nvSpPr>
        <p:spPr bwMode="auto">
          <a:xfrm>
            <a:off x="7451725" y="1860550"/>
            <a:ext cx="0" cy="3097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38598" name="Line 6"/>
          <p:cNvSpPr>
            <a:spLocks noChangeShapeType="1"/>
          </p:cNvSpPr>
          <p:nvPr/>
        </p:nvSpPr>
        <p:spPr bwMode="auto">
          <a:xfrm>
            <a:off x="1835150" y="4957763"/>
            <a:ext cx="5616575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38599" name="Line 7"/>
          <p:cNvSpPr>
            <a:spLocks noChangeShapeType="1"/>
          </p:cNvSpPr>
          <p:nvPr/>
        </p:nvSpPr>
        <p:spPr bwMode="auto">
          <a:xfrm>
            <a:off x="1835150" y="1860550"/>
            <a:ext cx="0" cy="309721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493A4E51-7CC8-466E-83C4-118FB8445BA8}"/>
              </a:ext>
            </a:extLst>
          </p:cNvPr>
          <p:cNvSpPr txBox="1"/>
          <p:nvPr/>
        </p:nvSpPr>
        <p:spPr>
          <a:xfrm>
            <a:off x="6974553" y="502961"/>
            <a:ext cx="9818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Pag. 48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618" name="Picture 6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25" y="280988"/>
            <a:ext cx="9048750" cy="629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4" name="Rectangle 2"/>
          <p:cNvSpPr>
            <a:spLocks noChangeArrowheads="1"/>
          </p:cNvSpPr>
          <p:nvPr/>
        </p:nvSpPr>
        <p:spPr bwMode="auto">
          <a:xfrm>
            <a:off x="0" y="171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85" name="Rectangle 9"/>
          <p:cNvSpPr>
            <a:spLocks noChangeArrowheads="1"/>
          </p:cNvSpPr>
          <p:nvPr/>
        </p:nvSpPr>
        <p:spPr bwMode="auto">
          <a:xfrm>
            <a:off x="0" y="37861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0486" name="Text Box 10"/>
          <p:cNvSpPr txBox="1">
            <a:spLocks noChangeArrowheads="1"/>
          </p:cNvSpPr>
          <p:nvPr/>
        </p:nvSpPr>
        <p:spPr bwMode="auto">
          <a:xfrm>
            <a:off x="190500" y="1219200"/>
            <a:ext cx="876300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it-IT" altLang="it-IT" sz="2400">
                <a:solidFill>
                  <a:srgbClr val="000000"/>
                </a:solidFill>
                <a:latin typeface="Times New Roman" pitchFamily="18" charset="0"/>
              </a:rPr>
              <a:t>Si lancia una moneta truccata: </a:t>
            </a:r>
            <a:r>
              <a:rPr lang="it-IT" altLang="it-IT" sz="2400" i="1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it-IT" altLang="it-IT" sz="2400">
                <a:solidFill>
                  <a:srgbClr val="000000"/>
                </a:solidFill>
                <a:latin typeface="Times New Roman" pitchFamily="18" charset="0"/>
              </a:rPr>
              <a:t>(T)=2/3 e </a:t>
            </a:r>
            <a:r>
              <a:rPr lang="it-IT" altLang="it-IT" sz="2400" i="1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it-IT" altLang="it-IT" sz="2400">
                <a:solidFill>
                  <a:srgbClr val="000000"/>
                </a:solidFill>
                <a:latin typeface="Times New Roman" pitchFamily="18" charset="0"/>
              </a:rPr>
              <a:t>(C)=1/3. Se esce T viene scelto a caso un numero tra 1 e 9; se esce C viene scelto a caso un numero tra 1 e 5. Si determini la probabilità che venga scelto un numero pari.</a:t>
            </a:r>
          </a:p>
        </p:txBody>
      </p:sp>
      <p:graphicFrame>
        <p:nvGraphicFramePr>
          <p:cNvPr id="20482" name="Object 1024"/>
          <p:cNvGraphicFramePr>
            <a:graphicFrameLocks noChangeAspect="1"/>
          </p:cNvGraphicFramePr>
          <p:nvPr/>
        </p:nvGraphicFramePr>
        <p:xfrm>
          <a:off x="1143000" y="3505200"/>
          <a:ext cx="68580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4" name="Equazione" r:id="rId4" imgW="2273300" imgH="203200" progId="">
                  <p:embed/>
                </p:oleObj>
              </mc:Choice>
              <mc:Fallback>
                <p:oleObj name="Equazione" r:id="rId4" imgW="2273300" imgH="203200" progId="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3505200"/>
                        <a:ext cx="6858000" cy="60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3" name="Object 1025"/>
          <p:cNvGraphicFramePr>
            <a:graphicFrameLocks noChangeAspect="1"/>
          </p:cNvGraphicFramePr>
          <p:nvPr/>
        </p:nvGraphicFramePr>
        <p:xfrm>
          <a:off x="969963" y="4800600"/>
          <a:ext cx="7202487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65" name="Equazione" r:id="rId6" imgW="2387600" imgH="203200" progId="">
                  <p:embed/>
                </p:oleObj>
              </mc:Choice>
              <mc:Fallback>
                <p:oleObj name="Equazione" r:id="rId6" imgW="2387600" imgH="203200" progId="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9963" y="4800600"/>
                        <a:ext cx="7202487" cy="6080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12" name="Rectangle 2"/>
          <p:cNvSpPr>
            <a:spLocks noChangeArrowheads="1"/>
          </p:cNvSpPr>
          <p:nvPr/>
        </p:nvSpPr>
        <p:spPr bwMode="auto">
          <a:xfrm>
            <a:off x="0" y="17145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1513" name="Rectangle 3"/>
          <p:cNvSpPr>
            <a:spLocks noChangeArrowheads="1"/>
          </p:cNvSpPr>
          <p:nvPr/>
        </p:nvSpPr>
        <p:spPr bwMode="auto">
          <a:xfrm>
            <a:off x="3084513" y="2057400"/>
            <a:ext cx="29765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r>
              <a:rPr lang="it-IT" altLang="it-IT" sz="2400" b="1">
                <a:solidFill>
                  <a:srgbClr val="000000"/>
                </a:solidFill>
                <a:latin typeface="Times New Roman" pitchFamily="18" charset="0"/>
              </a:rPr>
              <a:t>Diagrammi ad albero</a:t>
            </a:r>
          </a:p>
        </p:txBody>
      </p:sp>
      <p:pic>
        <p:nvPicPr>
          <p:cNvPr id="21514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3513" y="2286000"/>
            <a:ext cx="5399087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15" name="Rectangle 6"/>
          <p:cNvSpPr>
            <a:spLocks noChangeArrowheads="1"/>
          </p:cNvSpPr>
          <p:nvPr/>
        </p:nvSpPr>
        <p:spPr bwMode="auto">
          <a:xfrm>
            <a:off x="0" y="3071813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graphicFrame>
        <p:nvGraphicFramePr>
          <p:cNvPr id="445440" name="Object 0"/>
          <p:cNvGraphicFramePr>
            <a:graphicFrameLocks noChangeAspect="1"/>
          </p:cNvGraphicFramePr>
          <p:nvPr/>
        </p:nvGraphicFramePr>
        <p:xfrm>
          <a:off x="1616075" y="5410200"/>
          <a:ext cx="5913438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2" name="Equazione" r:id="rId5" imgW="2616200" imgH="393700" progId="">
                  <p:embed/>
                </p:oleObj>
              </mc:Choice>
              <mc:Fallback>
                <p:oleObj name="Equazione" r:id="rId5" imgW="2616200" imgH="393700" progId="">
                  <p:embed/>
                  <p:pic>
                    <p:nvPicPr>
                      <p:cNvPr id="0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6075" y="5410200"/>
                        <a:ext cx="5913438" cy="8747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6" name="Rectangle 8"/>
          <p:cNvSpPr>
            <a:spLocks noChangeArrowheads="1"/>
          </p:cNvSpPr>
          <p:nvPr/>
        </p:nvSpPr>
        <p:spPr bwMode="auto">
          <a:xfrm>
            <a:off x="0" y="3786188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1517" name="Text Box 9"/>
          <p:cNvSpPr txBox="1">
            <a:spLocks noChangeArrowheads="1"/>
          </p:cNvSpPr>
          <p:nvPr/>
        </p:nvSpPr>
        <p:spPr bwMode="auto">
          <a:xfrm>
            <a:off x="190500" y="200025"/>
            <a:ext cx="8763000" cy="155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spcBef>
                <a:spcPct val="50000"/>
              </a:spcBef>
            </a:pPr>
            <a:r>
              <a:rPr lang="it-IT" altLang="it-IT" sz="2400">
                <a:solidFill>
                  <a:srgbClr val="000000"/>
                </a:solidFill>
                <a:latin typeface="Times New Roman" pitchFamily="18" charset="0"/>
              </a:rPr>
              <a:t>Si lancia una moneta truccata: </a:t>
            </a:r>
            <a:r>
              <a:rPr lang="it-IT" altLang="it-IT" sz="2400" i="1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it-IT" altLang="it-IT" sz="2400">
                <a:solidFill>
                  <a:srgbClr val="000000"/>
                </a:solidFill>
                <a:latin typeface="Times New Roman" pitchFamily="18" charset="0"/>
              </a:rPr>
              <a:t>(T)=2/3 e </a:t>
            </a:r>
            <a:r>
              <a:rPr lang="it-IT" altLang="it-IT" sz="2400" i="1">
                <a:solidFill>
                  <a:srgbClr val="000000"/>
                </a:solidFill>
                <a:latin typeface="Times New Roman" pitchFamily="18" charset="0"/>
              </a:rPr>
              <a:t>P</a:t>
            </a:r>
            <a:r>
              <a:rPr lang="it-IT" altLang="it-IT" sz="2400">
                <a:solidFill>
                  <a:srgbClr val="000000"/>
                </a:solidFill>
                <a:latin typeface="Times New Roman" pitchFamily="18" charset="0"/>
              </a:rPr>
              <a:t>(C)=1/3. Se esce T viene scelto a caso un numero tra 1 e 9; se esce C viene scelto a caso un numero tra 1 e 5. Si determini la probabilità che venga scelto un numero pari.</a:t>
            </a:r>
          </a:p>
        </p:txBody>
      </p:sp>
      <p:graphicFrame>
        <p:nvGraphicFramePr>
          <p:cNvPr id="445441" name="Object 1"/>
          <p:cNvGraphicFramePr>
            <a:graphicFrameLocks noChangeAspect="1"/>
          </p:cNvGraphicFramePr>
          <p:nvPr/>
        </p:nvGraphicFramePr>
        <p:xfrm>
          <a:off x="4419600" y="2667000"/>
          <a:ext cx="990600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3" name="Equazione" r:id="rId7" imgW="710891" imgH="393529" progId="">
                  <p:embed/>
                </p:oleObj>
              </mc:Choice>
              <mc:Fallback>
                <p:oleObj name="Equazione" r:id="rId7" imgW="710891" imgH="393529" progId="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2667000"/>
                        <a:ext cx="990600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42" name="Object 2"/>
          <p:cNvGraphicFramePr>
            <a:graphicFrameLocks noChangeAspect="1"/>
          </p:cNvGraphicFramePr>
          <p:nvPr/>
        </p:nvGraphicFramePr>
        <p:xfrm>
          <a:off x="4419600" y="3338513"/>
          <a:ext cx="990600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4" name="Equazione" r:id="rId9" imgW="710891" imgH="393529" progId="">
                  <p:embed/>
                </p:oleObj>
              </mc:Choice>
              <mc:Fallback>
                <p:oleObj name="Equazione" r:id="rId9" imgW="710891" imgH="393529" progId="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19600" y="3338513"/>
                        <a:ext cx="990600" cy="547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43" name="Object 3"/>
          <p:cNvGraphicFramePr>
            <a:graphicFrameLocks noChangeAspect="1"/>
          </p:cNvGraphicFramePr>
          <p:nvPr/>
        </p:nvGraphicFramePr>
        <p:xfrm>
          <a:off x="4446588" y="3948113"/>
          <a:ext cx="935037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5" name="Equazione" r:id="rId11" imgW="672808" imgH="393529" progId="">
                  <p:embed/>
                </p:oleObj>
              </mc:Choice>
              <mc:Fallback>
                <p:oleObj name="Equazione" r:id="rId11" imgW="672808" imgH="393529" progId="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6588" y="3948113"/>
                        <a:ext cx="935037" cy="547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44" name="Object 4"/>
          <p:cNvGraphicFramePr>
            <a:graphicFrameLocks noChangeAspect="1"/>
          </p:cNvGraphicFramePr>
          <p:nvPr/>
        </p:nvGraphicFramePr>
        <p:xfrm>
          <a:off x="4437063" y="4557713"/>
          <a:ext cx="954087" cy="54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6" name="Equazione" r:id="rId13" imgW="685800" imgH="393700" progId="">
                  <p:embed/>
                </p:oleObj>
              </mc:Choice>
              <mc:Fallback>
                <p:oleObj name="Equazione" r:id="rId13" imgW="685800" imgH="393700" progId="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37063" y="4557713"/>
                        <a:ext cx="954087" cy="5476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5445" name="Object 5"/>
          <p:cNvGraphicFramePr>
            <a:graphicFrameLocks noChangeAspect="1"/>
          </p:cNvGraphicFramePr>
          <p:nvPr/>
        </p:nvGraphicFramePr>
        <p:xfrm>
          <a:off x="6019800" y="3657600"/>
          <a:ext cx="2263775" cy="54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57" name="Equation" r:id="rId15" imgW="1625600" imgH="393700" progId="">
                  <p:embed/>
                </p:oleObj>
              </mc:Choice>
              <mc:Fallback>
                <p:oleObj name="Equation" r:id="rId15" imgW="1625600" imgH="393700" progId="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3657600"/>
                        <a:ext cx="2263775" cy="5476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6786" name="AutoShape 18"/>
          <p:cNvSpPr>
            <a:spLocks/>
          </p:cNvSpPr>
          <p:nvPr/>
        </p:nvSpPr>
        <p:spPr bwMode="auto">
          <a:xfrm>
            <a:off x="5486400" y="2743200"/>
            <a:ext cx="304800" cy="2362200"/>
          </a:xfrm>
          <a:prstGeom prst="rightBrace">
            <a:avLst>
              <a:gd name="adj1" fmla="val 64583"/>
              <a:gd name="adj2" fmla="val 50000"/>
            </a:avLst>
          </a:prstGeom>
          <a:noFill/>
          <a:ln w="317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/>
          <a:p>
            <a:pPr algn="ctr" eaLnBrk="1" hangingPunct="1"/>
            <a:endParaRPr lang="it-IT" altLang="it-IT" sz="2400" b="1">
              <a:solidFill>
                <a:srgbClr val="000000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54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54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454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454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54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54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454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454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6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41678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41678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454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454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454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6786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8232873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642" name="Picture 1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925" y="2733675"/>
            <a:ext cx="9109075" cy="1503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57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750" y="0"/>
            <a:ext cx="9080500" cy="2636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7571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9688" y="2852738"/>
            <a:ext cx="9064625" cy="3816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3_Struttura predefinita">
  <a:themeElements>
    <a:clrScheme name="1_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Struttura predefinita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4_Struttura predefinita">
  <a:themeElements>
    <a:clrScheme name="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Struttura predefinita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6_Struttura predefinita">
  <a:themeElements>
    <a:clrScheme name="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ruttura predefinit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84_Struttura predefinita">
  <a:themeElements>
    <a:clrScheme name="84_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84_Struttura predefinita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84_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4_Struttura predefini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4_Struttura predefini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4_Struttura predefini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4_Struttura predefini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4_Struttura predefini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4_Struttura predefini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4_Struttura predefini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4_Struttura predefini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4_Struttura predefini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4_Struttura predefini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4_Struttura predefini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85_Struttura predefinita">
  <a:themeElements>
    <a:clrScheme name="85_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85_Struttura predefinita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85_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5_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5_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5_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5_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5_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5_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0_Struttura predefinita">
  <a:themeElements>
    <a:clrScheme name="1_Struttura predefinita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Struttura predefinita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Struttura predefinita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Struttura predefinita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Struttura predefinita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Struttura predefinita">
  <a:themeElements>
    <a:clrScheme name="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ruttura predefinita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9_Struttura predefinita">
  <a:themeElements>
    <a:clrScheme name="Struttura predefinit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truttura predefinita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truttura predefinit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truttura predefinit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truttura predefinit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Tema di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1_Struttura predefinita 2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ppt/theme/themeOverride2.xml><?xml version="1.0" encoding="utf-8"?>
<a:themeOverride xmlns:a="http://schemas.openxmlformats.org/drawingml/2006/main">
  <a:clrScheme name="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1797</TotalTime>
  <Words>2144</Words>
  <Application>Microsoft Office PowerPoint</Application>
  <PresentationFormat>Presentazione su schermo (4:3)</PresentationFormat>
  <Paragraphs>295</Paragraphs>
  <Slides>72</Slides>
  <Notes>14</Notes>
  <HiddenSlides>0</HiddenSlides>
  <MMClips>0</MMClips>
  <ScaleCrop>false</ScaleCrop>
  <HeadingPairs>
    <vt:vector size="8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8</vt:i4>
      </vt:variant>
      <vt:variant>
        <vt:lpstr>Server OLE incorporati</vt:lpstr>
      </vt:variant>
      <vt:variant>
        <vt:i4>3</vt:i4>
      </vt:variant>
      <vt:variant>
        <vt:lpstr>Titoli diapositive</vt:lpstr>
      </vt:variant>
      <vt:variant>
        <vt:i4>72</vt:i4>
      </vt:variant>
    </vt:vector>
  </HeadingPairs>
  <TitlesOfParts>
    <vt:vector size="88" baseType="lpstr">
      <vt:lpstr>Arial</vt:lpstr>
      <vt:lpstr>Cambria Math</vt:lpstr>
      <vt:lpstr>Tahoma</vt:lpstr>
      <vt:lpstr>Times New Roman</vt:lpstr>
      <vt:lpstr>Wingdings</vt:lpstr>
      <vt:lpstr>3_Struttura predefinita</vt:lpstr>
      <vt:lpstr>4_Struttura predefinita</vt:lpstr>
      <vt:lpstr>6_Struttura predefinita</vt:lpstr>
      <vt:lpstr>84_Struttura predefinita</vt:lpstr>
      <vt:lpstr>85_Struttura predefinita</vt:lpstr>
      <vt:lpstr>10_Struttura predefinita</vt:lpstr>
      <vt:lpstr>Struttura predefinita</vt:lpstr>
      <vt:lpstr>9_Struttura predefinita</vt:lpstr>
      <vt:lpstr>Equazione</vt:lpstr>
      <vt:lpstr>Foglio di lavoro</vt:lpstr>
      <vt:lpstr>Equation</vt:lpstr>
      <vt:lpstr> LA PROBABILITÀ CONDIZIONATA 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INDIPENDENZA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PROBABILITÀ “TOTALE”  Altra presentazione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Utente UNITN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rocco.micciolo</dc:creator>
  <cp:lastModifiedBy>Canal Luisa</cp:lastModifiedBy>
  <cp:revision>293</cp:revision>
  <cp:lastPrinted>2018-12-13T07:16:45Z</cp:lastPrinted>
  <dcterms:created xsi:type="dcterms:W3CDTF">2010-02-03T14:41:20Z</dcterms:created>
  <dcterms:modified xsi:type="dcterms:W3CDTF">2026-02-19T20:43:56Z</dcterms:modified>
</cp:coreProperties>
</file>