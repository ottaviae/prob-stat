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6" r:id="rId1"/>
    <p:sldMasterId id="2147483970" r:id="rId2"/>
    <p:sldMasterId id="2147483983" r:id="rId3"/>
    <p:sldMasterId id="2147483996" r:id="rId4"/>
    <p:sldMasterId id="2147485755" r:id="rId5"/>
  </p:sldMasterIdLst>
  <p:notesMasterIdLst>
    <p:notesMasterId r:id="rId58"/>
  </p:notesMasterIdLst>
  <p:sldIdLst>
    <p:sldId id="729" r:id="rId6"/>
    <p:sldId id="306" r:id="rId7"/>
    <p:sldId id="307" r:id="rId8"/>
    <p:sldId id="308" r:id="rId9"/>
    <p:sldId id="315" r:id="rId10"/>
    <p:sldId id="733" r:id="rId11"/>
    <p:sldId id="730" r:id="rId12"/>
    <p:sldId id="313" r:id="rId13"/>
    <p:sldId id="724" r:id="rId14"/>
    <p:sldId id="725" r:id="rId15"/>
    <p:sldId id="731" r:id="rId16"/>
    <p:sldId id="726" r:id="rId17"/>
    <p:sldId id="728" r:id="rId18"/>
    <p:sldId id="727" r:id="rId19"/>
    <p:sldId id="609" r:id="rId20"/>
    <p:sldId id="610" r:id="rId21"/>
    <p:sldId id="627" r:id="rId22"/>
    <p:sldId id="611" r:id="rId23"/>
    <p:sldId id="612" r:id="rId24"/>
    <p:sldId id="613" r:id="rId25"/>
    <p:sldId id="732" r:id="rId26"/>
    <p:sldId id="310" r:id="rId27"/>
    <p:sldId id="605" r:id="rId28"/>
    <p:sldId id="584" r:id="rId29"/>
    <p:sldId id="586" r:id="rId30"/>
    <p:sldId id="736" r:id="rId31"/>
    <p:sldId id="587" r:id="rId32"/>
    <p:sldId id="734" r:id="rId33"/>
    <p:sldId id="737" r:id="rId34"/>
    <p:sldId id="738" r:id="rId35"/>
    <p:sldId id="735" r:id="rId36"/>
    <p:sldId id="740" r:id="rId37"/>
    <p:sldId id="739" r:id="rId38"/>
    <p:sldId id="588" r:id="rId39"/>
    <p:sldId id="637" r:id="rId40"/>
    <p:sldId id="638" r:id="rId41"/>
    <p:sldId id="639" r:id="rId42"/>
    <p:sldId id="640" r:id="rId43"/>
    <p:sldId id="589" r:id="rId44"/>
    <p:sldId id="629" r:id="rId45"/>
    <p:sldId id="630" r:id="rId46"/>
    <p:sldId id="631" r:id="rId47"/>
    <p:sldId id="632" r:id="rId48"/>
    <p:sldId id="633" r:id="rId49"/>
    <p:sldId id="642" r:id="rId50"/>
    <p:sldId id="591" r:id="rId51"/>
    <p:sldId id="592" r:id="rId52"/>
    <p:sldId id="593" r:id="rId53"/>
    <p:sldId id="628" r:id="rId54"/>
    <p:sldId id="634" r:id="rId55"/>
    <p:sldId id="635" r:id="rId56"/>
    <p:sldId id="636" r:id="rId57"/>
  </p:sldIdLst>
  <p:sldSz cx="9144000" cy="6858000" type="screen4x3"/>
  <p:notesSz cx="7099300" cy="10234613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227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61" Type="http://schemas.openxmlformats.org/officeDocument/2006/relationships/theme" Target="theme/theme1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4" Type="http://schemas.openxmlformats.org/officeDocument/2006/relationships/image" Target="../media/image2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4" Type="http://schemas.openxmlformats.org/officeDocument/2006/relationships/image" Target="../media/image6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59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99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D3F232C2-4805-4C63-BE6F-C5592EC8195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7"/>
          <p:cNvSpPr txBox="1">
            <a:spLocks noGrp="1"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9048" tIns="49524" rIns="99048" bIns="49524" anchor="b"/>
          <a:lstStyle/>
          <a:p>
            <a:pPr algn="r" defTabSz="946150" eaLnBrk="1" hangingPunct="1"/>
            <a:fld id="{22C6F74E-0D46-4219-B3DA-A21D0AB85081}" type="slidenum">
              <a:rPr lang="it-IT" altLang="it-IT" sz="1300">
                <a:solidFill>
                  <a:srgbClr val="000000"/>
                </a:solidFill>
              </a:rPr>
              <a:pPr algn="r" defTabSz="946150" eaLnBrk="1" hangingPunct="1"/>
              <a:t>9</a:t>
            </a:fld>
            <a:endParaRPr lang="it-IT" altLang="it-IT" sz="1300">
              <a:solidFill>
                <a:srgbClr val="000000"/>
              </a:solidFill>
            </a:endParaRPr>
          </a:p>
        </p:txBody>
      </p:sp>
      <p:sp>
        <p:nvSpPr>
          <p:cNvPr id="273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273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7"/>
          <p:cNvSpPr txBox="1">
            <a:spLocks noGrp="1"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93" tIns="47446" rIns="94893" bIns="47446" anchor="b"/>
          <a:lstStyle/>
          <a:p>
            <a:pPr algn="r" defTabSz="947738" eaLnBrk="1" hangingPunct="1"/>
            <a:fld id="{519D8655-A9C9-4C95-A300-92234C2974A0}" type="slidenum">
              <a:rPr lang="it-IT" altLang="it-IT" sz="1300">
                <a:solidFill>
                  <a:srgbClr val="000000"/>
                </a:solidFill>
                <a:latin typeface="Times New Roman" pitchFamily="18" charset="0"/>
              </a:rPr>
              <a:pPr algn="r" defTabSz="947738" eaLnBrk="1" hangingPunct="1"/>
              <a:t>15</a:t>
            </a:fld>
            <a:endParaRPr lang="it-IT" altLang="it-IT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77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7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7"/>
          <p:cNvSpPr txBox="1">
            <a:spLocks noGrp="1"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93" tIns="47446" rIns="94893" bIns="47446" anchor="b"/>
          <a:lstStyle/>
          <a:p>
            <a:pPr algn="r" defTabSz="947738" eaLnBrk="1" hangingPunct="1"/>
            <a:fld id="{0F6FF50A-8C47-4D4F-ADF6-345C78F70DBC}" type="slidenum">
              <a:rPr lang="it-IT" altLang="it-IT" sz="1300">
                <a:solidFill>
                  <a:srgbClr val="000000"/>
                </a:solidFill>
                <a:latin typeface="Times New Roman" pitchFamily="18" charset="0"/>
              </a:rPr>
              <a:pPr algn="r" defTabSz="947738" eaLnBrk="1" hangingPunct="1"/>
              <a:t>16</a:t>
            </a:fld>
            <a:endParaRPr lang="it-IT" altLang="it-IT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78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92334177-A0E2-4BD5-A0B1-E51C6408BF2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70D4DC44-5CE1-476C-88E1-19A1716BE64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FDC4930E-149C-44F9-9422-4C3C29F4EEF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DCC93009-B117-47E4-9CC9-526E380E154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3583EF93-FC59-4DCD-97FB-ED2129732CC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F4EC596D-141E-41C5-99E7-D988DB3BD1E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11949E86-A956-4CA7-B009-CD2D1748340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8AC5303E-FCB2-4C48-A86A-ABDE3795681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3FCF374B-1526-42F0-9D91-39789BF5B41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C085A6DA-C952-489B-92D3-7D502AF4BC1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2183BACB-4560-47D7-BB85-77FDFE7171D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543CE68B-1626-40DD-9419-FB0DEFB2AFE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892E214E-D4D8-4593-972F-6BBC4492D11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85D06855-201F-451F-9EC0-6D9292A8F56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559EB1BD-E2FE-4E6F-A41C-5315A2BDAE5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E7ED4348-6D59-4231-ABC0-50C4BD57431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A53782D3-6C69-4693-82E7-D0DE88AF115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812CA04F-7804-4BB0-9AD1-DAD27C39972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747400CA-6247-4F18-A040-0B06C1E72DC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21579238-59DA-435B-8814-0EE04DE8433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3E351D79-E64D-416F-AF60-9888A5E19A6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61C2F5C3-E08E-4EA7-90C2-60913F7BF94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78692DE7-27A5-481F-97B3-183EDDFC947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94CAF973-BDFA-42F4-A3A5-FB515B3C13F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B229707F-4CA1-48F1-8AEF-C48C6AB7617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64C98681-63E9-4C09-846D-1135084CA8A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6860C38F-5270-4D82-81B1-959DC22A902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C8BD0039-F99A-4F7B-B621-AAAFB83A398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B5EA14E1-5EFA-41D9-B606-628595CD1F4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8CCC3EDF-BEED-4E06-BDD0-DEC545358D4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A052AFE9-AF62-481E-96A8-F6BC25BB773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F28A335B-5D1F-49CE-9CBE-22810243AD5F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CEE3083D-D13D-48A9-9C2F-C626414EF9F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lipArtAndTx" preserve="1">
  <p:cSld name="Titolo, ClipArt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lipArt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6038C422-2E6E-4344-811D-54302F859D1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A0EDCA-4219-4314-851B-A9C904E8AE9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DC2805-83D9-453C-89C4-B48E8A72336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3A2824-2DB2-4B48-9984-2305F8DCA26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B179BE-FAFC-4425-8B69-8D04B080893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63AA3A-363F-4DE0-8F2B-B7A51A50F31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4F3803-EBEF-423D-90B4-EF666A7379C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063FBE-11B5-4BC1-8E76-6B5F96F252F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A45FD7-0EC1-4A3C-9512-606491D97A0F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5D4577-6E58-4A78-B4D2-4D31B8F271A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B93EFA-F719-4840-A036-C7A6D1FD0C5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89BFE1-226C-48E4-AAA1-3B6905F8130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223849-026B-4229-91DC-D3CFC839EFA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74FB2D-C310-43AE-BF08-C020FDBA3B4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E38891-8FBC-4204-8754-C6EC1E15AA4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0365F0-29ED-4E89-AC97-ADABC6F28BA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7BD674-96DF-462A-B7BC-716A8B40EDD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5BCDCD-2FA1-44BC-8490-9AE447B2E87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5F62AC-1C1F-4F89-B266-47F3AD9940E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56BB08-6821-4321-88DB-8A66463EA00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9645E7-B84A-4DB2-A5DB-EDDC0A05671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568613-29D8-4876-92C0-EC6342442B8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54713D-2A62-47FC-93C8-88BC193BB93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1C297A5B-E464-4B73-B1AF-2328B2C5DD1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953" r:id="rId1"/>
    <p:sldLayoutId id="2147491954" r:id="rId2"/>
    <p:sldLayoutId id="2147491955" r:id="rId3"/>
    <p:sldLayoutId id="2147491956" r:id="rId4"/>
    <p:sldLayoutId id="2147491957" r:id="rId5"/>
    <p:sldLayoutId id="2147491958" r:id="rId6"/>
    <p:sldLayoutId id="2147491959" r:id="rId7"/>
    <p:sldLayoutId id="2147491960" r:id="rId8"/>
    <p:sldLayoutId id="2147491961" r:id="rId9"/>
    <p:sldLayoutId id="2147491962" r:id="rId10"/>
    <p:sldLayoutId id="2147491963" r:id="rId11"/>
    <p:sldLayoutId id="214749196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C89F2205-AC98-48D9-AEE6-1FA30B368DA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2000" r:id="rId1"/>
    <p:sldLayoutId id="2147492001" r:id="rId2"/>
    <p:sldLayoutId id="2147492002" r:id="rId3"/>
    <p:sldLayoutId id="2147492003" r:id="rId4"/>
    <p:sldLayoutId id="2147492004" r:id="rId5"/>
    <p:sldLayoutId id="2147492005" r:id="rId6"/>
    <p:sldLayoutId id="2147492006" r:id="rId7"/>
    <p:sldLayoutId id="2147492007" r:id="rId8"/>
    <p:sldLayoutId id="2147492008" r:id="rId9"/>
    <p:sldLayoutId id="2147492009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9A1D47C9-4A5A-47F9-B07F-C108EE84CB8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2010" r:id="rId1"/>
    <p:sldLayoutId id="2147492011" r:id="rId2"/>
    <p:sldLayoutId id="2147492012" r:id="rId3"/>
    <p:sldLayoutId id="2147492013" r:id="rId4"/>
    <p:sldLayoutId id="2147492014" r:id="rId5"/>
    <p:sldLayoutId id="2147492015" r:id="rId6"/>
    <p:sldLayoutId id="2147492016" r:id="rId7"/>
    <p:sldLayoutId id="2147492017" r:id="rId8"/>
    <p:sldLayoutId id="2147492018" r:id="rId9"/>
    <p:sldLayoutId id="2147492019" r:id="rId10"/>
    <p:sldLayoutId id="2147492020" r:id="rId11"/>
    <p:sldLayoutId id="214749202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363202B-DB15-463F-B737-38AB32B97FF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876" r:id="rId1"/>
    <p:sldLayoutId id="2147491877" r:id="rId2"/>
    <p:sldLayoutId id="2147491878" r:id="rId3"/>
    <p:sldLayoutId id="2147491879" r:id="rId4"/>
    <p:sldLayoutId id="2147491880" r:id="rId5"/>
    <p:sldLayoutId id="2147491881" r:id="rId6"/>
    <p:sldLayoutId id="2147491882" r:id="rId7"/>
    <p:sldLayoutId id="2147491883" r:id="rId8"/>
    <p:sldLayoutId id="2147491884" r:id="rId9"/>
    <p:sldLayoutId id="2147491885" r:id="rId10"/>
    <p:sldLayoutId id="214749188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004986DD-D1EB-4886-82F3-6D41A28E124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909" r:id="rId1"/>
    <p:sldLayoutId id="2147491910" r:id="rId2"/>
    <p:sldLayoutId id="2147491911" r:id="rId3"/>
    <p:sldLayoutId id="2147491912" r:id="rId4"/>
    <p:sldLayoutId id="2147491913" r:id="rId5"/>
    <p:sldLayoutId id="2147491914" r:id="rId6"/>
    <p:sldLayoutId id="2147491915" r:id="rId7"/>
    <p:sldLayoutId id="2147491916" r:id="rId8"/>
    <p:sldLayoutId id="2147491917" r:id="rId9"/>
    <p:sldLayoutId id="2147491918" r:id="rId10"/>
    <p:sldLayoutId id="21474919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0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5.png"/><Relationship Id="rId5" Type="http://schemas.openxmlformats.org/officeDocument/2006/relationships/image" Target="../media/image16.wmf"/><Relationship Id="rId4" Type="http://schemas.openxmlformats.org/officeDocument/2006/relationships/image" Target="../media/image15.wmf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5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27.wmf"/><Relationship Id="rId5" Type="http://schemas.openxmlformats.org/officeDocument/2006/relationships/image" Target="../media/image24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2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8.wmf"/><Relationship Id="rId4" Type="http://schemas.openxmlformats.org/officeDocument/2006/relationships/oleObject" Target="../embeddings/oleObject8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5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30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N3X9K0XJ5E" TargetMode="External"/><Relationship Id="rId2" Type="http://schemas.openxmlformats.org/officeDocument/2006/relationships/hyperlink" Target="https://www.youtube.com/watch?v=iXjtIH0jLyk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JwxwFCC_zY" TargetMode="External"/><Relationship Id="rId2" Type="http://schemas.openxmlformats.org/officeDocument/2006/relationships/hyperlink" Target="https://www.fateilnostrogioco.it/" TargetMode="External"/><Relationship Id="rId1" Type="http://schemas.openxmlformats.org/officeDocument/2006/relationships/slideLayout" Target="../slideLayouts/slideLayout41.xml"/><Relationship Id="rId4" Type="http://schemas.openxmlformats.org/officeDocument/2006/relationships/hyperlink" Target="https://www.youtube.com/watch?v=iXjtIH0jLyk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41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42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45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48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50.w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4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slideLayout" Target="../slideLayouts/slideLayout35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56.wmf"/><Relationship Id="rId4" Type="http://schemas.openxmlformats.org/officeDocument/2006/relationships/oleObject" Target="../embeddings/oleObject22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5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64.png"/><Relationship Id="rId7" Type="http://schemas.openxmlformats.org/officeDocument/2006/relationships/image" Target="../media/image61.wmf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63.wmf"/><Relationship Id="rId5" Type="http://schemas.openxmlformats.org/officeDocument/2006/relationships/image" Target="../media/image60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62.w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E6D926DA-6CB7-4D94-9BD3-7948403EF536}"/>
              </a:ext>
            </a:extLst>
          </p:cNvPr>
          <p:cNvSpPr txBox="1"/>
          <p:nvPr/>
        </p:nvSpPr>
        <p:spPr>
          <a:xfrm>
            <a:off x="609400" y="1556792"/>
            <a:ext cx="74931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PROBABILITA’ CONDIZIONATA</a:t>
            </a:r>
          </a:p>
          <a:p>
            <a:pPr algn="ctr"/>
            <a:endParaRPr lang="it-IT" sz="2400" b="1" dirty="0"/>
          </a:p>
          <a:p>
            <a:pPr algn="ctr"/>
            <a:endParaRPr lang="it-IT" sz="2400" b="1" dirty="0"/>
          </a:p>
          <a:p>
            <a:pPr algn="ctr"/>
            <a:r>
              <a:rPr lang="it-IT" sz="2400" b="1" dirty="0"/>
              <a:t>TEOREMA DELLE PROBABILITA’ TOTALI</a:t>
            </a:r>
          </a:p>
          <a:p>
            <a:pPr algn="ctr"/>
            <a:endParaRPr lang="it-IT" sz="2400" b="1"/>
          </a:p>
          <a:p>
            <a:pPr algn="ctr"/>
            <a:endParaRPr lang="it-IT" sz="2400" b="1" dirty="0"/>
          </a:p>
          <a:p>
            <a:pPr algn="ctr"/>
            <a:r>
              <a:rPr lang="it-IT" sz="2400" b="1" dirty="0"/>
              <a:t>TEOREMA DI BAYES</a:t>
            </a:r>
          </a:p>
        </p:txBody>
      </p:sp>
    </p:spTree>
    <p:extLst>
      <p:ext uri="{BB962C8B-B14F-4D97-AF65-F5344CB8AC3E}">
        <p14:creationId xmlns:p14="http://schemas.microsoft.com/office/powerpoint/2010/main" val="3983316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1E713A76-039B-4899-AD2F-7C5157B2B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924944"/>
            <a:ext cx="8397767" cy="1906417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26F994C2-6857-4F54-BCFD-E6BF759D1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19" y="1531101"/>
            <a:ext cx="3424878" cy="237290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604BEC47-BABA-41A2-A3A7-D5F68C68C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19" y="2009672"/>
            <a:ext cx="3255325" cy="26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38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AF68AC4A-4142-4C8F-92F6-6AF9DC106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075" y="1522798"/>
            <a:ext cx="6293644" cy="1428750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729EF1D5-11C7-48B2-A449-27694CF94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075" y="3541843"/>
            <a:ext cx="5193506" cy="118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204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2D7F63C9-667C-4001-ABA6-22DBC5C06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29" y="1927565"/>
            <a:ext cx="5564981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220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FC3C4238-61F5-48BE-B302-DEDEA12EC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95" y="1607482"/>
            <a:ext cx="7652681" cy="827774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7A291710-9F91-4B81-8CC0-E65D3B0DD6F2}"/>
              </a:ext>
            </a:extLst>
          </p:cNvPr>
          <p:cNvSpPr/>
          <p:nvPr/>
        </p:nvSpPr>
        <p:spPr>
          <a:xfrm>
            <a:off x="3549958" y="3167660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1</a:t>
            </a:r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0FAEE172-24F9-4E4D-987A-34623F066357}"/>
              </a:ext>
            </a:extLst>
          </p:cNvPr>
          <p:cNvSpPr/>
          <p:nvPr/>
        </p:nvSpPr>
        <p:spPr>
          <a:xfrm>
            <a:off x="5687260" y="3167660"/>
            <a:ext cx="426128" cy="5126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1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ED1D0DD9-E897-4D69-9847-436B7F620433}"/>
              </a:ext>
            </a:extLst>
          </p:cNvPr>
          <p:cNvSpPr/>
          <p:nvPr/>
        </p:nvSpPr>
        <p:spPr>
          <a:xfrm>
            <a:off x="3243679" y="3319138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1</a:t>
            </a:r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F2D7529-C709-4844-9C20-9F106BCCD473}"/>
              </a:ext>
            </a:extLst>
          </p:cNvPr>
          <p:cNvSpPr/>
          <p:nvPr/>
        </p:nvSpPr>
        <p:spPr>
          <a:xfrm>
            <a:off x="5380980" y="3319138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6D9E903F-AE17-446A-BEAC-D86D45E7EF8A}"/>
              </a:ext>
            </a:extLst>
          </p:cNvPr>
          <p:cNvSpPr/>
          <p:nvPr/>
        </p:nvSpPr>
        <p:spPr>
          <a:xfrm>
            <a:off x="1568573" y="3177648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14FC76CC-78D2-451E-866A-B7D8605F39B9}"/>
              </a:ext>
            </a:extLst>
          </p:cNvPr>
          <p:cNvSpPr/>
          <p:nvPr/>
        </p:nvSpPr>
        <p:spPr>
          <a:xfrm>
            <a:off x="1262293" y="3259212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3544572-AF3F-449B-A4E6-FB2365A29D9A}"/>
              </a:ext>
            </a:extLst>
          </p:cNvPr>
          <p:cNvSpPr/>
          <p:nvPr/>
        </p:nvSpPr>
        <p:spPr>
          <a:xfrm>
            <a:off x="3650941" y="4715706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ttangolo 13">
                <a:extLst>
                  <a:ext uri="{FF2B5EF4-FFF2-40B4-BE49-F238E27FC236}">
                    <a16:creationId xmlns:a16="http://schemas.microsoft.com/office/drawing/2014/main" id="{F457C421-3A07-4A62-BA39-19F9382E42C0}"/>
                  </a:ext>
                </a:extLst>
              </p:cNvPr>
              <p:cNvSpPr/>
              <p:nvPr/>
            </p:nvSpPr>
            <p:spPr>
              <a:xfrm>
                <a:off x="5900323" y="4506471"/>
                <a:ext cx="11554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4" name="Rettangolo 13">
                <a:extLst>
                  <a:ext uri="{FF2B5EF4-FFF2-40B4-BE49-F238E27FC236}">
                    <a16:creationId xmlns:a16="http://schemas.microsoft.com/office/drawing/2014/main" id="{F457C421-3A07-4A62-BA39-19F9382E42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323" y="4506471"/>
                <a:ext cx="115544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ttangolo 7">
                <a:extLst>
                  <a:ext uri="{FF2B5EF4-FFF2-40B4-BE49-F238E27FC236}">
                    <a16:creationId xmlns:a16="http://schemas.microsoft.com/office/drawing/2014/main" id="{33B61C25-5295-41B1-BC27-90E409AC95ED}"/>
                  </a:ext>
                </a:extLst>
              </p:cNvPr>
              <p:cNvSpPr/>
              <p:nvPr/>
            </p:nvSpPr>
            <p:spPr>
              <a:xfrm>
                <a:off x="5900323" y="4972048"/>
                <a:ext cx="2076402" cy="669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(1∩0)</m:t>
                          </m:r>
                        </m:num>
                        <m:den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(0)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8" name="Rettangolo 7">
                <a:extLst>
                  <a:ext uri="{FF2B5EF4-FFF2-40B4-BE49-F238E27FC236}">
                    <a16:creationId xmlns:a16="http://schemas.microsoft.com/office/drawing/2014/main" id="{33B61C25-5295-41B1-BC27-90E409AC95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323" y="4972048"/>
                <a:ext cx="2076402" cy="6690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sellaDiTesto 8">
            <a:extLst>
              <a:ext uri="{FF2B5EF4-FFF2-40B4-BE49-F238E27FC236}">
                <a16:creationId xmlns:a16="http://schemas.microsoft.com/office/drawing/2014/main" id="{5B1F31E6-7389-4ECE-8F07-99E2D94EC37D}"/>
              </a:ext>
            </a:extLst>
          </p:cNvPr>
          <p:cNvSpPr txBox="1"/>
          <p:nvPr/>
        </p:nvSpPr>
        <p:spPr>
          <a:xfrm>
            <a:off x="6938524" y="5949280"/>
            <a:ext cx="141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… a voi</a:t>
            </a:r>
          </a:p>
        </p:txBody>
      </p:sp>
    </p:spTree>
    <p:extLst>
      <p:ext uri="{BB962C8B-B14F-4D97-AF65-F5344CB8AC3E}">
        <p14:creationId xmlns:p14="http://schemas.microsoft.com/office/powerpoint/2010/main" val="4048206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FC3C4238-61F5-48BE-B302-DEDEA12EC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59" y="1191449"/>
            <a:ext cx="7652681" cy="827774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7A291710-9F91-4B81-8CC0-E65D3B0DD6F2}"/>
              </a:ext>
            </a:extLst>
          </p:cNvPr>
          <p:cNvSpPr/>
          <p:nvPr/>
        </p:nvSpPr>
        <p:spPr>
          <a:xfrm>
            <a:off x="3549958" y="3167660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1</a:t>
            </a:r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0FAEE172-24F9-4E4D-987A-34623F066357}"/>
              </a:ext>
            </a:extLst>
          </p:cNvPr>
          <p:cNvSpPr/>
          <p:nvPr/>
        </p:nvSpPr>
        <p:spPr>
          <a:xfrm>
            <a:off x="5687260" y="3167660"/>
            <a:ext cx="426128" cy="5126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1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ED1D0DD9-E897-4D69-9847-436B7F620433}"/>
              </a:ext>
            </a:extLst>
          </p:cNvPr>
          <p:cNvSpPr/>
          <p:nvPr/>
        </p:nvSpPr>
        <p:spPr>
          <a:xfrm>
            <a:off x="3243679" y="3319138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1</a:t>
            </a:r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F2D7529-C709-4844-9C20-9F106BCCD473}"/>
              </a:ext>
            </a:extLst>
          </p:cNvPr>
          <p:cNvSpPr/>
          <p:nvPr/>
        </p:nvSpPr>
        <p:spPr>
          <a:xfrm>
            <a:off x="5380980" y="3319138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6D9E903F-AE17-446A-BEAC-D86D45E7EF8A}"/>
              </a:ext>
            </a:extLst>
          </p:cNvPr>
          <p:cNvSpPr/>
          <p:nvPr/>
        </p:nvSpPr>
        <p:spPr>
          <a:xfrm>
            <a:off x="1568573" y="3177648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14FC76CC-78D2-451E-866A-B7D8605F39B9}"/>
              </a:ext>
            </a:extLst>
          </p:cNvPr>
          <p:cNvSpPr/>
          <p:nvPr/>
        </p:nvSpPr>
        <p:spPr>
          <a:xfrm>
            <a:off x="1262293" y="3259212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3544572-AF3F-449B-A4E6-FB2365A29D9A}"/>
              </a:ext>
            </a:extLst>
          </p:cNvPr>
          <p:cNvSpPr/>
          <p:nvPr/>
        </p:nvSpPr>
        <p:spPr>
          <a:xfrm>
            <a:off x="1355509" y="4506471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ttangolo 13">
                <a:extLst>
                  <a:ext uri="{FF2B5EF4-FFF2-40B4-BE49-F238E27FC236}">
                    <a16:creationId xmlns:a16="http://schemas.microsoft.com/office/drawing/2014/main" id="{F457C421-3A07-4A62-BA39-19F9382E42C0}"/>
                  </a:ext>
                </a:extLst>
              </p:cNvPr>
              <p:cNvSpPr/>
              <p:nvPr/>
            </p:nvSpPr>
            <p:spPr>
              <a:xfrm>
                <a:off x="2787587" y="5552472"/>
                <a:ext cx="1347805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4" name="Rettangolo 13">
                <a:extLst>
                  <a:ext uri="{FF2B5EF4-FFF2-40B4-BE49-F238E27FC236}">
                    <a16:creationId xmlns:a16="http://schemas.microsoft.com/office/drawing/2014/main" id="{F457C421-3A07-4A62-BA39-19F9382E42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587" y="5552472"/>
                <a:ext cx="1347805" cy="6109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ttangolo 12">
                <a:extLst>
                  <a:ext uri="{FF2B5EF4-FFF2-40B4-BE49-F238E27FC236}">
                    <a16:creationId xmlns:a16="http://schemas.microsoft.com/office/drawing/2014/main" id="{039F16E5-E4D5-4176-BC77-C8B63488795D}"/>
                  </a:ext>
                </a:extLst>
              </p:cNvPr>
              <p:cNvSpPr/>
              <p:nvPr/>
            </p:nvSpPr>
            <p:spPr>
              <a:xfrm>
                <a:off x="4765583" y="4532412"/>
                <a:ext cx="1347805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3" name="Rettangolo 12">
                <a:extLst>
                  <a:ext uri="{FF2B5EF4-FFF2-40B4-BE49-F238E27FC236}">
                    <a16:creationId xmlns:a16="http://schemas.microsoft.com/office/drawing/2014/main" id="{039F16E5-E4D5-4176-BC77-C8B6348879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583" y="4532412"/>
                <a:ext cx="1347805" cy="612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ttangolo 14">
                <a:extLst>
                  <a:ext uri="{FF2B5EF4-FFF2-40B4-BE49-F238E27FC236}">
                    <a16:creationId xmlns:a16="http://schemas.microsoft.com/office/drawing/2014/main" id="{9D7E72E8-7756-4155-BC02-7ADB26075FA1}"/>
                  </a:ext>
                </a:extLst>
              </p:cNvPr>
              <p:cNvSpPr/>
              <p:nvPr/>
            </p:nvSpPr>
            <p:spPr>
              <a:xfrm>
                <a:off x="2699792" y="4506471"/>
                <a:ext cx="1347805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5" name="Rettangolo 14">
                <a:extLst>
                  <a:ext uri="{FF2B5EF4-FFF2-40B4-BE49-F238E27FC236}">
                    <a16:creationId xmlns:a16="http://schemas.microsoft.com/office/drawing/2014/main" id="{9D7E72E8-7756-4155-BC02-7ADB26075F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4506471"/>
                <a:ext cx="1347805" cy="6127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ttangolo 15">
                <a:extLst>
                  <a:ext uri="{FF2B5EF4-FFF2-40B4-BE49-F238E27FC236}">
                    <a16:creationId xmlns:a16="http://schemas.microsoft.com/office/drawing/2014/main" id="{645D6D36-917C-4FBB-B768-1E891DDA8B14}"/>
                  </a:ext>
                </a:extLst>
              </p:cNvPr>
              <p:cNvSpPr/>
              <p:nvPr/>
            </p:nvSpPr>
            <p:spPr>
              <a:xfrm>
                <a:off x="4765583" y="5523634"/>
                <a:ext cx="1347805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6" name="Rettangolo 15">
                <a:extLst>
                  <a:ext uri="{FF2B5EF4-FFF2-40B4-BE49-F238E27FC236}">
                    <a16:creationId xmlns:a16="http://schemas.microsoft.com/office/drawing/2014/main" id="{645D6D36-917C-4FBB-B768-1E891DDA8B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583" y="5523634"/>
                <a:ext cx="1347805" cy="6127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C760A01C-61E4-4700-88AD-D6F129D16099}"/>
              </a:ext>
            </a:extLst>
          </p:cNvPr>
          <p:cNvSpPr txBox="1"/>
          <p:nvPr/>
        </p:nvSpPr>
        <p:spPr>
          <a:xfrm>
            <a:off x="2699792" y="4105171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Alcune proposte:</a:t>
            </a:r>
          </a:p>
        </p:txBody>
      </p:sp>
    </p:spTree>
    <p:extLst>
      <p:ext uri="{BB962C8B-B14F-4D97-AF65-F5344CB8AC3E}">
        <p14:creationId xmlns:p14="http://schemas.microsoft.com/office/powerpoint/2010/main" val="185730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FC3C4238-61F5-48BE-B302-DEDEA12EC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71" y="1484784"/>
            <a:ext cx="8787011" cy="950472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7A291710-9F91-4B81-8CC0-E65D3B0DD6F2}"/>
              </a:ext>
            </a:extLst>
          </p:cNvPr>
          <p:cNvSpPr/>
          <p:nvPr/>
        </p:nvSpPr>
        <p:spPr>
          <a:xfrm>
            <a:off x="3549958" y="3167660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1b</a:t>
            </a:r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0FAEE172-24F9-4E4D-987A-34623F066357}"/>
              </a:ext>
            </a:extLst>
          </p:cNvPr>
          <p:cNvSpPr/>
          <p:nvPr/>
        </p:nvSpPr>
        <p:spPr>
          <a:xfrm>
            <a:off x="5728320" y="3167660"/>
            <a:ext cx="426128" cy="5126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1b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ED1D0DD9-E897-4D69-9847-436B7F620433}"/>
              </a:ext>
            </a:extLst>
          </p:cNvPr>
          <p:cNvSpPr/>
          <p:nvPr/>
        </p:nvSpPr>
        <p:spPr>
          <a:xfrm>
            <a:off x="3243679" y="3319138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1a</a:t>
            </a:r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F2D7529-C709-4844-9C20-9F106BCCD473}"/>
              </a:ext>
            </a:extLst>
          </p:cNvPr>
          <p:cNvSpPr/>
          <p:nvPr/>
        </p:nvSpPr>
        <p:spPr>
          <a:xfrm>
            <a:off x="5380980" y="3319138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0a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6D9E903F-AE17-446A-BEAC-D86D45E7EF8A}"/>
              </a:ext>
            </a:extLst>
          </p:cNvPr>
          <p:cNvSpPr/>
          <p:nvPr/>
        </p:nvSpPr>
        <p:spPr>
          <a:xfrm>
            <a:off x="1568573" y="3177648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0b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14FC76CC-78D2-451E-866A-B7D8605F39B9}"/>
              </a:ext>
            </a:extLst>
          </p:cNvPr>
          <p:cNvSpPr/>
          <p:nvPr/>
        </p:nvSpPr>
        <p:spPr>
          <a:xfrm>
            <a:off x="1262293" y="3259212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0a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3544572-AF3F-449B-A4E6-FB2365A29D9A}"/>
              </a:ext>
            </a:extLst>
          </p:cNvPr>
          <p:cNvSpPr/>
          <p:nvPr/>
        </p:nvSpPr>
        <p:spPr>
          <a:xfrm>
            <a:off x="1568573" y="3991637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ttangolo 7">
                <a:extLst>
                  <a:ext uri="{FF2B5EF4-FFF2-40B4-BE49-F238E27FC236}">
                    <a16:creationId xmlns:a16="http://schemas.microsoft.com/office/drawing/2014/main" id="{33B61C25-5295-41B1-BC27-90E409AC95ED}"/>
                  </a:ext>
                </a:extLst>
              </p:cNvPr>
              <p:cNvSpPr/>
              <p:nvPr/>
            </p:nvSpPr>
            <p:spPr>
              <a:xfrm>
                <a:off x="2939534" y="5226964"/>
                <a:ext cx="4364465" cy="669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𝑠𝑜𝑡𝑡𝑜</m:t>
                          </m:r>
                        </m:e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𝑠𝑜𝑝𝑟𝑎</m:t>
                          </m:r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(1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𝑠𝑜𝑡𝑡𝑜</m:t>
                          </m:r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𝑠𝑜𝑝𝑟𝑎</m:t>
                          </m:r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(0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𝑠𝑜𝑝𝑟𝑎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8" name="Rettangolo 7">
                <a:extLst>
                  <a:ext uri="{FF2B5EF4-FFF2-40B4-BE49-F238E27FC236}">
                    <a16:creationId xmlns:a16="http://schemas.microsoft.com/office/drawing/2014/main" id="{33B61C25-5295-41B1-BC27-90E409AC95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534" y="5226964"/>
                <a:ext cx="4364465" cy="6690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ttangolo 12">
            <a:extLst>
              <a:ext uri="{FF2B5EF4-FFF2-40B4-BE49-F238E27FC236}">
                <a16:creationId xmlns:a16="http://schemas.microsoft.com/office/drawing/2014/main" id="{03633BC3-0778-42B7-A124-30B029E80039}"/>
              </a:ext>
            </a:extLst>
          </p:cNvPr>
          <p:cNvSpPr/>
          <p:nvPr/>
        </p:nvSpPr>
        <p:spPr>
          <a:xfrm>
            <a:off x="1262293" y="4083168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0b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14BDD174-F6BD-4869-96E9-C87FF4C7DD7D}"/>
              </a:ext>
            </a:extLst>
          </p:cNvPr>
          <p:cNvSpPr/>
          <p:nvPr/>
        </p:nvSpPr>
        <p:spPr>
          <a:xfrm>
            <a:off x="3549958" y="3983302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1a</a:t>
            </a:r>
            <a:endParaRPr lang="it-IT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EAFAE035-D008-4ACB-9DAC-550FE862EBE9}"/>
              </a:ext>
            </a:extLst>
          </p:cNvPr>
          <p:cNvSpPr/>
          <p:nvPr/>
        </p:nvSpPr>
        <p:spPr>
          <a:xfrm>
            <a:off x="3260322" y="4051542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1b</a:t>
            </a:r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40B98C74-2718-4891-A10A-9E0002DE836E}"/>
              </a:ext>
            </a:extLst>
          </p:cNvPr>
          <p:cNvSpPr/>
          <p:nvPr/>
        </p:nvSpPr>
        <p:spPr>
          <a:xfrm>
            <a:off x="5728320" y="4038222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0a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572AB471-8E13-4BBB-B0CA-55695A026239}"/>
              </a:ext>
            </a:extLst>
          </p:cNvPr>
          <p:cNvSpPr/>
          <p:nvPr/>
        </p:nvSpPr>
        <p:spPr>
          <a:xfrm>
            <a:off x="5380980" y="4140871"/>
            <a:ext cx="426128" cy="5126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1b</a:t>
            </a:r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A4C95588-28D1-4C6B-8B44-E371ED551A8D}"/>
              </a:ext>
            </a:extLst>
          </p:cNvPr>
          <p:cNvSpPr/>
          <p:nvPr/>
        </p:nvSpPr>
        <p:spPr>
          <a:xfrm>
            <a:off x="1142445" y="5216100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937774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22E087D4-8A04-4D62-919D-F89F46E42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47" y="1193188"/>
            <a:ext cx="8121305" cy="878464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0917FD5B-3074-4B91-9670-1D01D04E9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5796875"/>
            <a:ext cx="3876950" cy="2428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ttangolo 6">
                <a:extLst>
                  <a:ext uri="{FF2B5EF4-FFF2-40B4-BE49-F238E27FC236}">
                    <a16:creationId xmlns:a16="http://schemas.microsoft.com/office/drawing/2014/main" id="{77C27A95-BB07-4661-BF59-92D43477D0B9}"/>
                  </a:ext>
                </a:extLst>
              </p:cNvPr>
              <p:cNvSpPr/>
              <p:nvPr/>
            </p:nvSpPr>
            <p:spPr>
              <a:xfrm>
                <a:off x="857699" y="2927179"/>
                <a:ext cx="5499967" cy="669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𝑠𝑜𝑡𝑡𝑜</m:t>
                          </m:r>
                        </m:e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𝑠𝑜𝑝𝑟𝑎</m:t>
                          </m:r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(0</m:t>
                          </m:r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𝑠𝑜𝑝𝑟𝑎</m:t>
                          </m:r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𝑠𝑜𝑡𝑡𝑜</m:t>
                          </m:r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(0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𝑠𝑜𝑝𝑟𝑎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1/6</m:t>
                          </m:r>
                        </m:num>
                        <m:den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1/2</m:t>
                          </m:r>
                        </m:den>
                      </m:f>
                      <m:r>
                        <m:rPr>
                          <m:nor/>
                        </m:rPr>
                        <a:rPr lang="it-IT" dirty="0"/>
                        <m:t>= 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7" name="Rettangolo 6">
                <a:extLst>
                  <a:ext uri="{FF2B5EF4-FFF2-40B4-BE49-F238E27FC236}">
                    <a16:creationId xmlns:a16="http://schemas.microsoft.com/office/drawing/2014/main" id="{77C27A95-BB07-4661-BF59-92D43477D0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699" y="2927179"/>
                <a:ext cx="5499967" cy="6690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ttangolo 9">
                <a:extLst>
                  <a:ext uri="{FF2B5EF4-FFF2-40B4-BE49-F238E27FC236}">
                    <a16:creationId xmlns:a16="http://schemas.microsoft.com/office/drawing/2014/main" id="{5B3B12E6-4A41-40FF-8F0A-9DBB1ABFC7E0}"/>
                  </a:ext>
                </a:extLst>
              </p:cNvPr>
              <p:cNvSpPr/>
              <p:nvPr/>
            </p:nvSpPr>
            <p:spPr>
              <a:xfrm>
                <a:off x="857699" y="4556486"/>
                <a:ext cx="5440079" cy="669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𝑠𝑜𝑡𝑡𝑜</m:t>
                          </m:r>
                        </m:e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𝑠𝑜𝑝𝑟𝑎</m:t>
                          </m:r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(0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𝑠𝑜𝑡𝑡𝑜</m:t>
                          </m:r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𝑠𝑜𝑝𝑟𝑎</m:t>
                          </m:r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(0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𝑠𝑜𝑝𝑟𝑎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/6</m:t>
                          </m:r>
                        </m:num>
                        <m:den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1/2</m:t>
                          </m:r>
                        </m:den>
                      </m:f>
                      <m:r>
                        <m:rPr>
                          <m:nor/>
                        </m:rPr>
                        <a:rPr lang="it-IT" dirty="0"/>
                        <m:t>= 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0" name="Rettangolo 9">
                <a:extLst>
                  <a:ext uri="{FF2B5EF4-FFF2-40B4-BE49-F238E27FC236}">
                    <a16:creationId xmlns:a16="http://schemas.microsoft.com/office/drawing/2014/main" id="{5B3B12E6-4A41-40FF-8F0A-9DBB1ABFC7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699" y="4556486"/>
                <a:ext cx="5440079" cy="6690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C4CC501-4A77-40A2-8D0D-3F6D188218E0}"/>
              </a:ext>
            </a:extLst>
          </p:cNvPr>
          <p:cNvSpPr txBox="1"/>
          <p:nvPr/>
        </p:nvSpPr>
        <p:spPr>
          <a:xfrm>
            <a:off x="943625" y="3966654"/>
            <a:ext cx="63593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00" dirty="0"/>
              <a:t>Se sulla parte superiore c’è lo 0, qual è la probabilità che sull’altro lato ci sia 0?</a:t>
            </a:r>
          </a:p>
        </p:txBody>
      </p:sp>
    </p:spTree>
    <p:extLst>
      <p:ext uri="{BB962C8B-B14F-4D97-AF65-F5344CB8AC3E}">
        <p14:creationId xmlns:p14="http://schemas.microsoft.com/office/powerpoint/2010/main" val="2038126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/>
          <p:cNvSpPr txBox="1"/>
          <p:nvPr/>
        </p:nvSpPr>
        <p:spPr>
          <a:xfrm>
            <a:off x="359532" y="2459504"/>
            <a:ext cx="84249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dirty="0"/>
              <a:t>Teorema delle probabilità totali</a:t>
            </a:r>
          </a:p>
          <a:p>
            <a:pPr algn="ctr"/>
            <a:endParaRPr lang="it-IT" sz="3600" dirty="0"/>
          </a:p>
          <a:p>
            <a:pPr algn="ctr"/>
            <a:r>
              <a:rPr lang="it-IT" sz="2400" dirty="0"/>
              <a:t>Pagina 48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539552" y="260648"/>
            <a:ext cx="806489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3200" dirty="0"/>
              <a:t>Sia </a:t>
            </a:r>
            <a:r>
              <a:rPr lang="it-IT" sz="3200" i="1" dirty="0"/>
              <a:t>C</a:t>
            </a:r>
            <a:r>
              <a:rPr lang="it-IT" sz="3200" baseline="-25000" dirty="0"/>
              <a:t>1</a:t>
            </a:r>
            <a:r>
              <a:rPr lang="it-IT" sz="3200" dirty="0"/>
              <a:t>, </a:t>
            </a:r>
            <a:r>
              <a:rPr lang="it-IT" sz="3200" i="1" dirty="0"/>
              <a:t>C</a:t>
            </a:r>
            <a:r>
              <a:rPr lang="it-IT" sz="3200" baseline="-25000" dirty="0"/>
              <a:t>2</a:t>
            </a:r>
            <a:r>
              <a:rPr lang="it-IT" sz="3200" dirty="0"/>
              <a:t>, …, </a:t>
            </a:r>
            <a:r>
              <a:rPr lang="it-IT" sz="3200" i="1" dirty="0" err="1"/>
              <a:t>C</a:t>
            </a:r>
            <a:r>
              <a:rPr lang="it-IT" sz="3200" baseline="-25000" dirty="0" err="1"/>
              <a:t>n</a:t>
            </a:r>
            <a:r>
              <a:rPr lang="it-IT" sz="3200" dirty="0"/>
              <a:t> una collezione di eventi (tutti con probabilità non nulla) a due a due incompatibili la cui unione è uguale a </a:t>
            </a:r>
            <a:r>
              <a:rPr lang="it-IT" sz="3200" dirty="0">
                <a:latin typeface="Symbol" pitchFamily="18" charset="2"/>
                <a:sym typeface="Symbol"/>
              </a:rPr>
              <a:t></a:t>
            </a:r>
            <a:r>
              <a:rPr lang="it-IT" sz="3200" dirty="0"/>
              <a:t>. Allora, per qualsiasi evento </a:t>
            </a:r>
            <a:r>
              <a:rPr lang="it-IT" sz="3200" i="1" dirty="0"/>
              <a:t>A</a:t>
            </a:r>
            <a:r>
              <a:rPr lang="it-IT" sz="3200" dirty="0"/>
              <a:t>, si ha che</a:t>
            </a:r>
          </a:p>
        </p:txBody>
      </p:sp>
      <p:graphicFrame>
        <p:nvGraphicFramePr>
          <p:cNvPr id="98328" name="Object 24"/>
          <p:cNvGraphicFramePr>
            <a:graphicFrameLocks noChangeAspect="1"/>
          </p:cNvGraphicFramePr>
          <p:nvPr/>
        </p:nvGraphicFramePr>
        <p:xfrm>
          <a:off x="2298754" y="2348880"/>
          <a:ext cx="4546493" cy="1211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447" name="Equazione" r:id="rId3" imgW="1638000" imgH="444240" progId="">
                  <p:embed/>
                </p:oleObj>
              </mc:Choice>
              <mc:Fallback>
                <p:oleObj name="Equazione" r:id="rId3" imgW="1638000" imgH="444240" progId="">
                  <p:embed/>
                  <p:pic>
                    <p:nvPicPr>
                      <p:cNvPr id="9832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54" y="2348880"/>
                        <a:ext cx="4546493" cy="12116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78497" y="3680160"/>
            <a:ext cx="4987007" cy="298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32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74875"/>
              </p:ext>
            </p:extLst>
          </p:nvPr>
        </p:nvGraphicFramePr>
        <p:xfrm>
          <a:off x="2774748" y="5806274"/>
          <a:ext cx="3209404" cy="855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462" name="Equazione" r:id="rId3" imgW="1638000" imgH="444240" progId="">
                  <p:embed/>
                </p:oleObj>
              </mc:Choice>
              <mc:Fallback>
                <p:oleObj name="Equazione" r:id="rId3" imgW="1638000" imgH="444240" progId="">
                  <p:embed/>
                  <p:pic>
                    <p:nvPicPr>
                      <p:cNvPr id="9832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748" y="5806274"/>
                        <a:ext cx="3209404" cy="85501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78497" y="153129"/>
            <a:ext cx="4118604" cy="24686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0FA8B7D6-1B90-4B69-9EB1-37B3039EEE2F}"/>
              </a:ext>
            </a:extLst>
          </p:cNvPr>
          <p:cNvSpPr txBox="1"/>
          <p:nvPr/>
        </p:nvSpPr>
        <p:spPr>
          <a:xfrm>
            <a:off x="4114800" y="2974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A57977FB-AEE4-451E-8B85-69C8316958EE}"/>
                  </a:ext>
                </a:extLst>
              </p:cNvPr>
              <p:cNvSpPr txBox="1"/>
              <p:nvPr/>
            </p:nvSpPr>
            <p:spPr>
              <a:xfrm>
                <a:off x="1619870" y="3099327"/>
                <a:ext cx="469447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it-IT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t-IT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it-IT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it-IT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it-IT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it-IT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d>
                        <m:dPr>
                          <m:ctrlPr>
                            <a:rPr lang="it-IT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it-IT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it-IT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it-IT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it-IT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∪…∪</m:t>
                      </m:r>
                      <m:d>
                        <m:dPr>
                          <m:ctrlPr>
                            <a:rPr lang="it-IT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it-IT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it-IT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it-IT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it-IT" sz="2000" b="1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A57977FB-AEE4-451E-8B85-69C831695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870" y="3099327"/>
                <a:ext cx="4694470" cy="307777"/>
              </a:xfrm>
              <a:prstGeom prst="rect">
                <a:avLst/>
              </a:prstGeom>
              <a:blipFill>
                <a:blip r:embed="rId6"/>
                <a:stretch>
                  <a:fillRect b="-1960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2DCFB4C6-A4A5-4821-B6F4-F81258F48F61}"/>
                  </a:ext>
                </a:extLst>
              </p:cNvPr>
              <p:cNvSpPr txBox="1"/>
              <p:nvPr/>
            </p:nvSpPr>
            <p:spPr>
              <a:xfrm>
                <a:off x="1907704" y="3796997"/>
                <a:ext cx="539897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2000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it-IT" sz="2000" b="1" dirty="0"/>
                  <a:t>(</a:t>
                </a:r>
                <a14:m>
                  <m:oMath xmlns:m="http://schemas.openxmlformats.org/officeDocument/2006/math">
                    <m:r>
                      <a:rPr lang="it-IT" sz="20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it-IT" sz="2000" b="1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it-IT" sz="20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it-IT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it-IT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it-IT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sz="20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it-IT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it-IT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it-IT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it-IT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r>
                      <a:rPr lang="it-IT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it-IT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it-IT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it-IT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endParaRPr lang="it-IT" sz="2000" b="1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2DCFB4C6-A4A5-4821-B6F4-F81258F48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3796997"/>
                <a:ext cx="5398978" cy="307777"/>
              </a:xfrm>
              <a:prstGeom prst="rect">
                <a:avLst/>
              </a:prstGeom>
              <a:blipFill>
                <a:blip r:embed="rId7"/>
                <a:stretch>
                  <a:fillRect l="-1693" t="-24000" b="-52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tangolo 3">
                <a:extLst>
                  <a:ext uri="{FF2B5EF4-FFF2-40B4-BE49-F238E27FC236}">
                    <a16:creationId xmlns:a16="http://schemas.microsoft.com/office/drawing/2014/main" id="{3DE98C5E-C5CF-46B0-8C88-530DEA617BA2}"/>
                  </a:ext>
                </a:extLst>
              </p:cNvPr>
              <p:cNvSpPr/>
              <p:nvPr/>
            </p:nvSpPr>
            <p:spPr>
              <a:xfrm>
                <a:off x="2911772" y="4389454"/>
                <a:ext cx="307238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20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it-IT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it-IT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it-IT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sz="2000" dirty="0"/>
                  <a:t>=</a:t>
                </a:r>
                <a:r>
                  <a:rPr lang="it-IT" sz="2000" b="1" dirty="0"/>
                  <a:t> </a:t>
                </a:r>
                <a14:m>
                  <m:oMath xmlns:m="http://schemas.openxmlformats.org/officeDocument/2006/math">
                    <m:r>
                      <a:rPr lang="it-IT" sz="20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it-IT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it-IT" sz="2000" b="1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it-IT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sz="2000" b="1" dirty="0"/>
                  <a:t> </a:t>
                </a:r>
                <a14:m>
                  <m:oMath xmlns:m="http://schemas.openxmlformats.org/officeDocument/2006/math">
                    <m:r>
                      <a:rPr lang="it-IT" sz="20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it-IT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endParaRPr lang="it-IT" sz="2000" dirty="0"/>
              </a:p>
            </p:txBody>
          </p:sp>
        </mc:Choice>
        <mc:Fallback xmlns="">
          <p:sp>
            <p:nvSpPr>
              <p:cNvPr id="4" name="Rettangolo 3">
                <a:extLst>
                  <a:ext uri="{FF2B5EF4-FFF2-40B4-BE49-F238E27FC236}">
                    <a16:creationId xmlns:a16="http://schemas.microsoft.com/office/drawing/2014/main" id="{3DE98C5E-C5CF-46B0-8C88-530DEA617B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1772" y="4389454"/>
                <a:ext cx="3072380" cy="400110"/>
              </a:xfrm>
              <a:prstGeom prst="rect">
                <a:avLst/>
              </a:prstGeom>
              <a:blipFill>
                <a:blip r:embed="rId8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tangolo 8">
                <a:extLst>
                  <a:ext uri="{FF2B5EF4-FFF2-40B4-BE49-F238E27FC236}">
                    <a16:creationId xmlns:a16="http://schemas.microsoft.com/office/drawing/2014/main" id="{F76C65C2-9B9C-4435-B1A6-0406DD067DA8}"/>
                  </a:ext>
                </a:extLst>
              </p:cNvPr>
              <p:cNvSpPr/>
              <p:nvPr/>
            </p:nvSpPr>
            <p:spPr>
              <a:xfrm>
                <a:off x="683568" y="5090688"/>
                <a:ext cx="698570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20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it-IT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lang="it-IT" sz="2000" dirty="0"/>
                  <a:t>=</a:t>
                </a:r>
                <a:r>
                  <a:rPr lang="it-IT" sz="2000" b="1" dirty="0"/>
                  <a:t> </a:t>
                </a:r>
                <a14:m>
                  <m:oMath xmlns:m="http://schemas.openxmlformats.org/officeDocument/2006/math">
                    <m:r>
                      <a:rPr lang="it-IT" sz="20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it-IT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it-IT" sz="2000" b="1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it-IT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sz="2000" b="1" dirty="0"/>
                  <a:t> </a:t>
                </a:r>
                <a14:m>
                  <m:oMath xmlns:m="http://schemas.openxmlformats.org/officeDocument/2006/math">
                    <m:r>
                      <a:rPr lang="it-IT" sz="20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it-IT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it-IT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sz="2000" dirty="0"/>
                  <a:t>+</a:t>
                </a:r>
                <a:r>
                  <a:rPr lang="it-IT" sz="2000" b="1" dirty="0"/>
                  <a:t> </a:t>
                </a:r>
                <a14:m>
                  <m:oMath xmlns:m="http://schemas.openxmlformats.org/officeDocument/2006/math">
                    <m:r>
                      <a:rPr lang="it-IT" sz="20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it-IT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it-IT" sz="2000" b="1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it-IT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sz="2000" b="1" dirty="0"/>
                  <a:t> </a:t>
                </a:r>
                <a14:m>
                  <m:oMath xmlns:m="http://schemas.openxmlformats.org/officeDocument/2006/math">
                    <m:r>
                      <a:rPr lang="it-IT" sz="20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it-IT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it-IT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it-IT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r>
                      <a:rPr lang="it-IT" sz="20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it-IT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it-IT" sz="2000" b="1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it-IT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it-IT" sz="2000" b="1" dirty="0"/>
                      <m:t> </m:t>
                    </m:r>
                    <m:r>
                      <a:rPr lang="it-IT" sz="20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it-IT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it-IT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endParaRPr lang="it-IT" sz="2000" dirty="0"/>
              </a:p>
            </p:txBody>
          </p:sp>
        </mc:Choice>
        <mc:Fallback xmlns="">
          <p:sp>
            <p:nvSpPr>
              <p:cNvPr id="9" name="Rettangolo 8">
                <a:extLst>
                  <a:ext uri="{FF2B5EF4-FFF2-40B4-BE49-F238E27FC236}">
                    <a16:creationId xmlns:a16="http://schemas.microsoft.com/office/drawing/2014/main" id="{F76C65C2-9B9C-4435-B1A6-0406DD067D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5090688"/>
                <a:ext cx="6985704" cy="400110"/>
              </a:xfrm>
              <a:prstGeom prst="rect">
                <a:avLst/>
              </a:prstGeom>
              <a:blipFill>
                <a:blip r:embed="rId9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9550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FC3C4238-61F5-48BE-B302-DEDEA12EC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620688"/>
            <a:ext cx="8654180" cy="936104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7A291710-9F91-4B81-8CC0-E65D3B0DD6F2}"/>
              </a:ext>
            </a:extLst>
          </p:cNvPr>
          <p:cNvSpPr/>
          <p:nvPr/>
        </p:nvSpPr>
        <p:spPr>
          <a:xfrm>
            <a:off x="3549958" y="3167660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1b</a:t>
            </a:r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0FAEE172-24F9-4E4D-987A-34623F066357}"/>
              </a:ext>
            </a:extLst>
          </p:cNvPr>
          <p:cNvSpPr/>
          <p:nvPr/>
        </p:nvSpPr>
        <p:spPr>
          <a:xfrm>
            <a:off x="5728320" y="3167660"/>
            <a:ext cx="426128" cy="51268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1bb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ED1D0DD9-E897-4D69-9847-436B7F620433}"/>
              </a:ext>
            </a:extLst>
          </p:cNvPr>
          <p:cNvSpPr/>
          <p:nvPr/>
        </p:nvSpPr>
        <p:spPr>
          <a:xfrm>
            <a:off x="3227591" y="3319138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1a</a:t>
            </a:r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F2D7529-C709-4844-9C20-9F106BCCD473}"/>
              </a:ext>
            </a:extLst>
          </p:cNvPr>
          <p:cNvSpPr/>
          <p:nvPr/>
        </p:nvSpPr>
        <p:spPr>
          <a:xfrm>
            <a:off x="5380980" y="3319138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0aa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6D9E903F-AE17-446A-BEAC-D86D45E7EF8A}"/>
              </a:ext>
            </a:extLst>
          </p:cNvPr>
          <p:cNvSpPr/>
          <p:nvPr/>
        </p:nvSpPr>
        <p:spPr>
          <a:xfrm>
            <a:off x="1568573" y="3177648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0b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14FC76CC-78D2-451E-866A-B7D8605F39B9}"/>
              </a:ext>
            </a:extLst>
          </p:cNvPr>
          <p:cNvSpPr/>
          <p:nvPr/>
        </p:nvSpPr>
        <p:spPr>
          <a:xfrm>
            <a:off x="1221233" y="3231428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0a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3544572-AF3F-449B-A4E6-FB2365A29D9A}"/>
              </a:ext>
            </a:extLst>
          </p:cNvPr>
          <p:cNvSpPr/>
          <p:nvPr/>
        </p:nvSpPr>
        <p:spPr>
          <a:xfrm>
            <a:off x="1568573" y="3991637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ttangolo 7">
                <a:extLst>
                  <a:ext uri="{FF2B5EF4-FFF2-40B4-BE49-F238E27FC236}">
                    <a16:creationId xmlns:a16="http://schemas.microsoft.com/office/drawing/2014/main" id="{33B61C25-5295-41B1-BC27-90E409AC95ED}"/>
                  </a:ext>
                </a:extLst>
              </p:cNvPr>
              <p:cNvSpPr/>
              <p:nvPr/>
            </p:nvSpPr>
            <p:spPr>
              <a:xfrm>
                <a:off x="0" y="5125548"/>
                <a:ext cx="8438156" cy="9471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𝑠𝑜𝑡𝑡𝑜</m:t>
                          </m:r>
                        </m:e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𝑠𝑜𝑝𝑟𝑎</m:t>
                          </m:r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𝑠𝑜𝑝𝑟𝑎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𝑐𝑎𝑟𝑑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𝑐𝑎𝑟𝑑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num>
                        <m:den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𝑠𝑜𝑝𝑟𝑎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𝑐𝑎𝑟𝑑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𝑐𝑎𝑟𝑑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𝑠𝑜𝑝𝑟𝑎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𝑐𝑎𝑟𝑑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𝑐𝑎𝑟𝑑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𝑠𝑜𝑝𝑟𝑎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𝑐𝑎𝑟𝑑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𝑐𝑎𝑟𝑑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8" name="Rettangolo 7">
                <a:extLst>
                  <a:ext uri="{FF2B5EF4-FFF2-40B4-BE49-F238E27FC236}">
                    <a16:creationId xmlns:a16="http://schemas.microsoft.com/office/drawing/2014/main" id="{33B61C25-5295-41B1-BC27-90E409AC95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125548"/>
                <a:ext cx="8438156" cy="947182"/>
              </a:xfrm>
              <a:prstGeom prst="rect">
                <a:avLst/>
              </a:prstGeom>
              <a:blipFill>
                <a:blip r:embed="rId3"/>
                <a:stretch>
                  <a:fillRect r="-520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ttangolo 12">
            <a:extLst>
              <a:ext uri="{FF2B5EF4-FFF2-40B4-BE49-F238E27FC236}">
                <a16:creationId xmlns:a16="http://schemas.microsoft.com/office/drawing/2014/main" id="{03633BC3-0778-42B7-A124-30B029E80039}"/>
              </a:ext>
            </a:extLst>
          </p:cNvPr>
          <p:cNvSpPr/>
          <p:nvPr/>
        </p:nvSpPr>
        <p:spPr>
          <a:xfrm>
            <a:off x="1213464" y="4084805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0b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14BDD174-F6BD-4869-96E9-C87FF4C7DD7D}"/>
              </a:ext>
            </a:extLst>
          </p:cNvPr>
          <p:cNvSpPr/>
          <p:nvPr/>
        </p:nvSpPr>
        <p:spPr>
          <a:xfrm>
            <a:off x="3549958" y="3983302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1a</a:t>
            </a:r>
            <a:endParaRPr lang="it-IT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EAFAE035-D008-4ACB-9DAC-550FE862EBE9}"/>
              </a:ext>
            </a:extLst>
          </p:cNvPr>
          <p:cNvSpPr/>
          <p:nvPr/>
        </p:nvSpPr>
        <p:spPr>
          <a:xfrm>
            <a:off x="3202618" y="4050114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1b</a:t>
            </a:r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40B98C74-2718-4891-A10A-9E0002DE836E}"/>
              </a:ext>
            </a:extLst>
          </p:cNvPr>
          <p:cNvSpPr/>
          <p:nvPr/>
        </p:nvSpPr>
        <p:spPr>
          <a:xfrm>
            <a:off x="5728320" y="4038222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0aa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572AB471-8E13-4BBB-B0CA-55695A026239}"/>
              </a:ext>
            </a:extLst>
          </p:cNvPr>
          <p:cNvSpPr/>
          <p:nvPr/>
        </p:nvSpPr>
        <p:spPr>
          <a:xfrm>
            <a:off x="5380980" y="4140871"/>
            <a:ext cx="426128" cy="51268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1bb</a:t>
            </a:r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A4C95588-28D1-4C6B-8B44-E371ED551A8D}"/>
              </a:ext>
            </a:extLst>
          </p:cNvPr>
          <p:cNvSpPr/>
          <p:nvPr/>
        </p:nvSpPr>
        <p:spPr>
          <a:xfrm>
            <a:off x="8244408" y="3625096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074365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FC3C4238-61F5-48BE-B302-DEDEA12EC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620688"/>
            <a:ext cx="8654180" cy="936104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7A291710-9F91-4B81-8CC0-E65D3B0DD6F2}"/>
              </a:ext>
            </a:extLst>
          </p:cNvPr>
          <p:cNvSpPr/>
          <p:nvPr/>
        </p:nvSpPr>
        <p:spPr>
          <a:xfrm>
            <a:off x="3549958" y="3167660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1b</a:t>
            </a:r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0FAEE172-24F9-4E4D-987A-34623F066357}"/>
              </a:ext>
            </a:extLst>
          </p:cNvPr>
          <p:cNvSpPr/>
          <p:nvPr/>
        </p:nvSpPr>
        <p:spPr>
          <a:xfrm>
            <a:off x="5728320" y="3167660"/>
            <a:ext cx="426128" cy="51268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1b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ED1D0DD9-E897-4D69-9847-436B7F620433}"/>
              </a:ext>
            </a:extLst>
          </p:cNvPr>
          <p:cNvSpPr/>
          <p:nvPr/>
        </p:nvSpPr>
        <p:spPr>
          <a:xfrm>
            <a:off x="3227591" y="3319138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1a</a:t>
            </a:r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F2D7529-C709-4844-9C20-9F106BCCD473}"/>
              </a:ext>
            </a:extLst>
          </p:cNvPr>
          <p:cNvSpPr/>
          <p:nvPr/>
        </p:nvSpPr>
        <p:spPr>
          <a:xfrm>
            <a:off x="5380980" y="3319138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0a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6D9E903F-AE17-446A-BEAC-D86D45E7EF8A}"/>
              </a:ext>
            </a:extLst>
          </p:cNvPr>
          <p:cNvSpPr/>
          <p:nvPr/>
        </p:nvSpPr>
        <p:spPr>
          <a:xfrm>
            <a:off x="1568573" y="3177648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0b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14FC76CC-78D2-451E-866A-B7D8605F39B9}"/>
              </a:ext>
            </a:extLst>
          </p:cNvPr>
          <p:cNvSpPr/>
          <p:nvPr/>
        </p:nvSpPr>
        <p:spPr>
          <a:xfrm>
            <a:off x="1221233" y="3231428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0a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3544572-AF3F-449B-A4E6-FB2365A29D9A}"/>
              </a:ext>
            </a:extLst>
          </p:cNvPr>
          <p:cNvSpPr/>
          <p:nvPr/>
        </p:nvSpPr>
        <p:spPr>
          <a:xfrm>
            <a:off x="1568573" y="3991637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ttangolo 7">
                <a:extLst>
                  <a:ext uri="{FF2B5EF4-FFF2-40B4-BE49-F238E27FC236}">
                    <a16:creationId xmlns:a16="http://schemas.microsoft.com/office/drawing/2014/main" id="{33B61C25-5295-41B1-BC27-90E409AC95ED}"/>
                  </a:ext>
                </a:extLst>
              </p:cNvPr>
              <p:cNvSpPr/>
              <p:nvPr/>
            </p:nvSpPr>
            <p:spPr>
              <a:xfrm>
                <a:off x="179512" y="5578170"/>
                <a:ext cx="8208912" cy="10452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28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𝑠𝑜𝑡𝑡𝑜</m:t>
                        </m:r>
                      </m:e>
                      <m:e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𝑠𝑜𝑝𝑟𝑎</m:t>
                        </m:r>
                      </m:e>
                    </m:d>
                    <m:r>
                      <a:rPr lang="it-IT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it-IT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it-IT" sz="2800" i="1">
                                <a:latin typeface="Cambria Math" panose="02040503050406030204" pitchFamily="18" charset="0"/>
                              </a:rPr>
                              <m:t>𝑠𝑜𝑝𝑟𝑎</m:t>
                            </m:r>
                            <m:r>
                              <a:rPr lang="it-IT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it-IT" sz="2800" i="1">
                                <a:latin typeface="Cambria Math" panose="02040503050406030204" pitchFamily="18" charset="0"/>
                              </a:rPr>
                              <m:t>𝑐𝑎𝑟𝑑</m:t>
                            </m:r>
                            <m:r>
                              <a:rPr lang="it-IT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it-IT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800" i="1">
                                <a:latin typeface="Cambria Math" panose="02040503050406030204" pitchFamily="18" charset="0"/>
                              </a:rPr>
                              <m:t>𝑐𝑎𝑟𝑑</m:t>
                            </m:r>
                            <m:r>
                              <a:rPr lang="it-IT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num>
                      <m:den>
                        <m:r>
                          <a:rPr lang="it-IT" sz="2800" i="1" smtClean="0">
                            <a:latin typeface="Cambria Math" panose="02040503050406030204" pitchFamily="18" charset="0"/>
                          </a:rPr>
                          <m:t>1</m:t>
                        </m:r>
                        <m:f>
                          <m:fPr>
                            <m:ctrlPr>
                              <a:rPr lang="it-IT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it-IT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IT" sz="2800" i="1" smtClean="0">
                            <a:latin typeface="Cambria Math" panose="02040503050406030204" pitchFamily="18" charset="0"/>
                          </a:rPr>
                          <m:t>0</m:t>
                        </m:r>
                        <m:f>
                          <m:fPr>
                            <m:ctrlPr>
                              <a:rPr lang="it-IT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it-IT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it-IT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it-IT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f>
                          <m:fPr>
                            <m:ctrlPr>
                              <a:rPr lang="it-IT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it-IT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</m:oMath>
                </a14:m>
                <a:r>
                  <a:rPr lang="it-IT" sz="28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it-IT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it-IT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f>
                          <m:fPr>
                            <m:ctrlPr>
                              <a:rPr lang="it-IT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it-IT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it-IT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it-IT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lang="it-IT" sz="28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it-IT" sz="2800" dirty="0"/>
              </a:p>
            </p:txBody>
          </p:sp>
        </mc:Choice>
        <mc:Fallback xmlns="">
          <p:sp>
            <p:nvSpPr>
              <p:cNvPr id="8" name="Rettangolo 7">
                <a:extLst>
                  <a:ext uri="{FF2B5EF4-FFF2-40B4-BE49-F238E27FC236}">
                    <a16:creationId xmlns:a16="http://schemas.microsoft.com/office/drawing/2014/main" id="{33B61C25-5295-41B1-BC27-90E409AC95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5578170"/>
                <a:ext cx="8208912" cy="10452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ttangolo 12">
            <a:extLst>
              <a:ext uri="{FF2B5EF4-FFF2-40B4-BE49-F238E27FC236}">
                <a16:creationId xmlns:a16="http://schemas.microsoft.com/office/drawing/2014/main" id="{03633BC3-0778-42B7-A124-30B029E80039}"/>
              </a:ext>
            </a:extLst>
          </p:cNvPr>
          <p:cNvSpPr/>
          <p:nvPr/>
        </p:nvSpPr>
        <p:spPr>
          <a:xfrm>
            <a:off x="1213464" y="4084805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0b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14BDD174-F6BD-4869-96E9-C87FF4C7DD7D}"/>
              </a:ext>
            </a:extLst>
          </p:cNvPr>
          <p:cNvSpPr/>
          <p:nvPr/>
        </p:nvSpPr>
        <p:spPr>
          <a:xfrm>
            <a:off x="3549958" y="3983302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1a</a:t>
            </a:r>
            <a:endParaRPr lang="it-IT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EAFAE035-D008-4ACB-9DAC-550FE862EBE9}"/>
              </a:ext>
            </a:extLst>
          </p:cNvPr>
          <p:cNvSpPr/>
          <p:nvPr/>
        </p:nvSpPr>
        <p:spPr>
          <a:xfrm>
            <a:off x="3202618" y="4050114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1b</a:t>
            </a:r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40B98C74-2718-4891-A10A-9E0002DE836E}"/>
              </a:ext>
            </a:extLst>
          </p:cNvPr>
          <p:cNvSpPr/>
          <p:nvPr/>
        </p:nvSpPr>
        <p:spPr>
          <a:xfrm>
            <a:off x="5728320" y="4038222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0a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572AB471-8E13-4BBB-B0CA-55695A026239}"/>
              </a:ext>
            </a:extLst>
          </p:cNvPr>
          <p:cNvSpPr/>
          <p:nvPr/>
        </p:nvSpPr>
        <p:spPr>
          <a:xfrm>
            <a:off x="5380980" y="4140871"/>
            <a:ext cx="426128" cy="51268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1b</a:t>
            </a:r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A4C95588-28D1-4C6B-8B44-E371ED551A8D}"/>
              </a:ext>
            </a:extLst>
          </p:cNvPr>
          <p:cNvSpPr/>
          <p:nvPr/>
        </p:nvSpPr>
        <p:spPr>
          <a:xfrm>
            <a:off x="8244408" y="3625096"/>
            <a:ext cx="426128" cy="512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tangolo 20">
                <a:extLst>
                  <a:ext uri="{FF2B5EF4-FFF2-40B4-BE49-F238E27FC236}">
                    <a16:creationId xmlns:a16="http://schemas.microsoft.com/office/drawing/2014/main" id="{2FAEB53E-2C8C-40C7-AA30-A1DAD67227A6}"/>
                  </a:ext>
                </a:extLst>
              </p:cNvPr>
              <p:cNvSpPr/>
              <p:nvPr/>
            </p:nvSpPr>
            <p:spPr>
              <a:xfrm>
                <a:off x="157806" y="1736155"/>
                <a:ext cx="8438156" cy="9471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𝑠𝑜𝑡𝑡𝑜</m:t>
                          </m:r>
                        </m:e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𝑠𝑜𝑝𝑟𝑎</m:t>
                          </m:r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𝑠𝑜𝑝𝑟𝑎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𝑐𝑎𝑟𝑑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𝑐𝑎𝑟𝑑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num>
                        <m:den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𝑠𝑜𝑝𝑟𝑎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𝑐𝑎𝑟𝑑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𝑐𝑎𝑟𝑑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𝑠𝑜𝑝𝑟𝑎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𝑐𝑎𝑟𝑑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𝑐𝑎𝑟𝑑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𝑠𝑜𝑝𝑟𝑎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𝑐𝑎𝑟𝑑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𝑐𝑎𝑟𝑑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1" name="Rettangolo 20">
                <a:extLst>
                  <a:ext uri="{FF2B5EF4-FFF2-40B4-BE49-F238E27FC236}">
                    <a16:creationId xmlns:a16="http://schemas.microsoft.com/office/drawing/2014/main" id="{2FAEB53E-2C8C-40C7-AA30-A1DAD67227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06" y="1736155"/>
                <a:ext cx="8438156" cy="947182"/>
              </a:xfrm>
              <a:prstGeom prst="rect">
                <a:avLst/>
              </a:prstGeom>
              <a:blipFill>
                <a:blip r:embed="rId4"/>
                <a:stretch>
                  <a:fillRect r="-520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4669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26E2A9FA-C732-4F23-AD1A-00C602578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19287"/>
            <a:ext cx="7772400" cy="3019425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281D8616-E353-4ADA-A272-B11A0FE37B6B}"/>
              </a:ext>
            </a:extLst>
          </p:cNvPr>
          <p:cNvSpPr txBox="1"/>
          <p:nvPr/>
        </p:nvSpPr>
        <p:spPr>
          <a:xfrm>
            <a:off x="7020272" y="6237312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Pagina 48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B9BC78C-0A29-4EC3-8002-933420F7A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376" y="2924944"/>
            <a:ext cx="390525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56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0" y="171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it-IT" altLang="it-IT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2532" name="Rectangle 5"/>
          <p:cNvSpPr>
            <a:spLocks noChangeArrowheads="1"/>
          </p:cNvSpPr>
          <p:nvPr/>
        </p:nvSpPr>
        <p:spPr bwMode="auto">
          <a:xfrm>
            <a:off x="576263" y="404813"/>
            <a:ext cx="7993062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 eaLnBrk="1" hangingPunct="1"/>
            <a:r>
              <a:rPr lang="it-IT" altLang="it-IT" sz="2400">
                <a:solidFill>
                  <a:srgbClr val="000000"/>
                </a:solidFill>
                <a:latin typeface="Times New Roman" pitchFamily="18" charset="0"/>
              </a:rPr>
              <a:t>La scatola A contiene nove carte numerate da 1 a 9, la B cinque carte numerate da 1 a 5. Viene scelta una scatola a caso e da questa si estrae una carta. Il numero è pari. Calcolare la probabilità che la carta venga dalla scatola A.</a:t>
            </a:r>
          </a:p>
        </p:txBody>
      </p:sp>
      <p:grpSp>
        <p:nvGrpSpPr>
          <p:cNvPr id="2" name="Group 8"/>
          <p:cNvGrpSpPr>
            <a:grpSpLocks noChangeAspect="1"/>
          </p:cNvGrpSpPr>
          <p:nvPr/>
        </p:nvGrpSpPr>
        <p:grpSpPr bwMode="auto">
          <a:xfrm>
            <a:off x="-206375" y="2105025"/>
            <a:ext cx="6911975" cy="3533775"/>
            <a:chOff x="2274" y="3386"/>
            <a:chExt cx="7200" cy="3510"/>
          </a:xfrm>
        </p:grpSpPr>
        <p:sp>
          <p:nvSpPr>
            <p:cNvPr id="22535" name="AutoShape 9"/>
            <p:cNvSpPr>
              <a:spLocks noChangeAspect="1" noChangeArrowheads="1"/>
            </p:cNvSpPr>
            <p:nvPr/>
          </p:nvSpPr>
          <p:spPr bwMode="auto">
            <a:xfrm>
              <a:off x="2274" y="3386"/>
              <a:ext cx="7200" cy="35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/>
              <a:endParaRPr lang="it-IT" altLang="it-IT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2536" name="Line 10"/>
            <p:cNvSpPr>
              <a:spLocks noChangeShapeType="1"/>
            </p:cNvSpPr>
            <p:nvPr/>
          </p:nvSpPr>
          <p:spPr bwMode="auto">
            <a:xfrm flipV="1">
              <a:off x="3225" y="4331"/>
              <a:ext cx="1902" cy="9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2537" name="Line 11"/>
            <p:cNvSpPr>
              <a:spLocks noChangeShapeType="1"/>
            </p:cNvSpPr>
            <p:nvPr/>
          </p:nvSpPr>
          <p:spPr bwMode="auto">
            <a:xfrm>
              <a:off x="3225" y="5276"/>
              <a:ext cx="1902" cy="6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2538" name="Text Box 12"/>
            <p:cNvSpPr txBox="1">
              <a:spLocks noChangeArrowheads="1"/>
            </p:cNvSpPr>
            <p:nvPr/>
          </p:nvSpPr>
          <p:spPr bwMode="auto">
            <a:xfrm>
              <a:off x="5263" y="4061"/>
              <a:ext cx="407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eaLnBrk="1" hangingPunct="1"/>
              <a:r>
                <a:rPr lang="it-IT" altLang="it-IT" sz="2000" b="1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endParaRPr lang="it-IT" altLang="it-IT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2539" name="Text Box 13"/>
            <p:cNvSpPr txBox="1">
              <a:spLocks noChangeArrowheads="1"/>
            </p:cNvSpPr>
            <p:nvPr/>
          </p:nvSpPr>
          <p:spPr bwMode="auto">
            <a:xfrm>
              <a:off x="5263" y="5681"/>
              <a:ext cx="543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r>
                <a:rPr lang="it-IT" altLang="it-IT" sz="2000" b="1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r>
                <a:rPr lang="it-IT" altLang="it-IT" sz="2400" b="1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it-IT" altLang="it-IT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2540" name="Line 14"/>
            <p:cNvSpPr>
              <a:spLocks noChangeShapeType="1"/>
            </p:cNvSpPr>
            <p:nvPr/>
          </p:nvSpPr>
          <p:spPr bwMode="auto">
            <a:xfrm flipV="1">
              <a:off x="5670" y="3926"/>
              <a:ext cx="1630" cy="4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2541" name="Line 15"/>
            <p:cNvSpPr>
              <a:spLocks noChangeShapeType="1"/>
            </p:cNvSpPr>
            <p:nvPr/>
          </p:nvSpPr>
          <p:spPr bwMode="auto">
            <a:xfrm>
              <a:off x="5670" y="4331"/>
              <a:ext cx="1630" cy="4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2542" name="Line 16"/>
            <p:cNvSpPr>
              <a:spLocks noChangeShapeType="1"/>
            </p:cNvSpPr>
            <p:nvPr/>
          </p:nvSpPr>
          <p:spPr bwMode="auto">
            <a:xfrm flipV="1">
              <a:off x="5670" y="5546"/>
              <a:ext cx="1630" cy="4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2543" name="Line 17"/>
            <p:cNvSpPr>
              <a:spLocks noChangeShapeType="1"/>
            </p:cNvSpPr>
            <p:nvPr/>
          </p:nvSpPr>
          <p:spPr bwMode="auto">
            <a:xfrm>
              <a:off x="5670" y="5951"/>
              <a:ext cx="1630" cy="4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2544" name="Text Box 18"/>
            <p:cNvSpPr txBox="1">
              <a:spLocks noChangeArrowheads="1"/>
            </p:cNvSpPr>
            <p:nvPr/>
          </p:nvSpPr>
          <p:spPr bwMode="auto">
            <a:xfrm>
              <a:off x="7300" y="3656"/>
              <a:ext cx="408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eaLnBrk="1" hangingPunct="1"/>
              <a:r>
                <a:rPr lang="it-IT" altLang="it-IT" sz="2000" b="1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it-IT" altLang="it-IT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2545" name="Text Box 19"/>
            <p:cNvSpPr txBox="1">
              <a:spLocks noChangeArrowheads="1"/>
            </p:cNvSpPr>
            <p:nvPr/>
          </p:nvSpPr>
          <p:spPr bwMode="auto">
            <a:xfrm>
              <a:off x="7300" y="4466"/>
              <a:ext cx="408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eaLnBrk="1" hangingPunct="1"/>
              <a:r>
                <a:rPr lang="it-IT" altLang="it-IT" sz="2000" b="1">
                  <a:solidFill>
                    <a:srgbClr val="000000"/>
                  </a:solidFill>
                  <a:latin typeface="Times New Roman" pitchFamily="18" charset="0"/>
                </a:rPr>
                <a:t>P</a:t>
              </a:r>
              <a:endParaRPr lang="it-IT" altLang="it-IT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2546" name="Text Box 20"/>
            <p:cNvSpPr txBox="1">
              <a:spLocks noChangeArrowheads="1"/>
            </p:cNvSpPr>
            <p:nvPr/>
          </p:nvSpPr>
          <p:spPr bwMode="auto">
            <a:xfrm>
              <a:off x="7300" y="5276"/>
              <a:ext cx="544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r>
                <a:rPr lang="it-IT" altLang="it-IT" sz="2000" b="1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it-IT" altLang="it-IT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2547" name="Text Box 21"/>
            <p:cNvSpPr txBox="1">
              <a:spLocks noChangeArrowheads="1"/>
            </p:cNvSpPr>
            <p:nvPr/>
          </p:nvSpPr>
          <p:spPr bwMode="auto">
            <a:xfrm>
              <a:off x="7300" y="6086"/>
              <a:ext cx="408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eaLnBrk="1" hangingPunct="1"/>
              <a:r>
                <a:rPr lang="it-IT" altLang="it-IT" sz="2000" b="1">
                  <a:solidFill>
                    <a:srgbClr val="000000"/>
                  </a:solidFill>
                  <a:latin typeface="Times New Roman" pitchFamily="18" charset="0"/>
                </a:rPr>
                <a:t>P</a:t>
              </a:r>
              <a:endParaRPr lang="it-IT" altLang="it-IT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2548" name="Text Box 22"/>
            <p:cNvSpPr txBox="1">
              <a:spLocks noChangeArrowheads="1"/>
            </p:cNvSpPr>
            <p:nvPr/>
          </p:nvSpPr>
          <p:spPr bwMode="auto">
            <a:xfrm>
              <a:off x="3904" y="4196"/>
              <a:ext cx="679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eaLnBrk="1" hangingPunct="1"/>
              <a:r>
                <a:rPr lang="it-IT" altLang="it-IT" sz="2000" b="1">
                  <a:solidFill>
                    <a:srgbClr val="000000"/>
                  </a:solidFill>
                  <a:latin typeface="Times New Roman" pitchFamily="18" charset="0"/>
                </a:rPr>
                <a:t>1/2</a:t>
              </a:r>
              <a:endParaRPr lang="it-IT" altLang="it-IT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2549" name="Text Box 23"/>
            <p:cNvSpPr txBox="1">
              <a:spLocks noChangeArrowheads="1"/>
            </p:cNvSpPr>
            <p:nvPr/>
          </p:nvSpPr>
          <p:spPr bwMode="auto">
            <a:xfrm>
              <a:off x="3904" y="5816"/>
              <a:ext cx="68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eaLnBrk="1" hangingPunct="1"/>
              <a:r>
                <a:rPr lang="it-IT" altLang="it-IT" sz="2000" b="1">
                  <a:solidFill>
                    <a:srgbClr val="000000"/>
                  </a:solidFill>
                  <a:latin typeface="Times New Roman" pitchFamily="18" charset="0"/>
                </a:rPr>
                <a:t>1/2</a:t>
              </a:r>
              <a:endParaRPr lang="it-IT" altLang="it-IT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2550" name="Text Box 24"/>
            <p:cNvSpPr txBox="1">
              <a:spLocks noChangeArrowheads="1"/>
            </p:cNvSpPr>
            <p:nvPr/>
          </p:nvSpPr>
          <p:spPr bwMode="auto">
            <a:xfrm>
              <a:off x="6349" y="3521"/>
              <a:ext cx="68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r>
                <a:rPr lang="it-IT" altLang="it-IT" sz="12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it-IT" altLang="it-IT" sz="2000" b="1">
                  <a:solidFill>
                    <a:srgbClr val="000000"/>
                  </a:solidFill>
                  <a:latin typeface="Times New Roman" pitchFamily="18" charset="0"/>
                </a:rPr>
                <a:t>5/9</a:t>
              </a:r>
              <a:endParaRPr lang="it-IT" altLang="it-IT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2551" name="Text Box 25"/>
            <p:cNvSpPr txBox="1">
              <a:spLocks noChangeArrowheads="1"/>
            </p:cNvSpPr>
            <p:nvPr/>
          </p:nvSpPr>
          <p:spPr bwMode="auto">
            <a:xfrm>
              <a:off x="6349" y="4601"/>
              <a:ext cx="68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r>
                <a:rPr lang="it-IT" altLang="it-IT" sz="12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it-IT" altLang="it-IT" sz="2000" b="1">
                  <a:solidFill>
                    <a:srgbClr val="000000"/>
                  </a:solidFill>
                  <a:latin typeface="Times New Roman" pitchFamily="18" charset="0"/>
                </a:rPr>
                <a:t>4/9</a:t>
              </a:r>
              <a:endParaRPr lang="it-IT" altLang="it-IT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2552" name="Text Box 26"/>
            <p:cNvSpPr txBox="1">
              <a:spLocks noChangeArrowheads="1"/>
            </p:cNvSpPr>
            <p:nvPr/>
          </p:nvSpPr>
          <p:spPr bwMode="auto">
            <a:xfrm>
              <a:off x="6349" y="5276"/>
              <a:ext cx="68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r>
                <a:rPr lang="it-IT" altLang="it-IT" sz="12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it-IT" altLang="it-IT" sz="2000" b="1">
                  <a:solidFill>
                    <a:srgbClr val="000000"/>
                  </a:solidFill>
                  <a:latin typeface="Times New Roman" pitchFamily="18" charset="0"/>
                </a:rPr>
                <a:t>3/5</a:t>
              </a:r>
              <a:endParaRPr lang="it-IT" altLang="it-IT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2553" name="Text Box 27"/>
            <p:cNvSpPr txBox="1">
              <a:spLocks noChangeArrowheads="1"/>
            </p:cNvSpPr>
            <p:nvPr/>
          </p:nvSpPr>
          <p:spPr bwMode="auto">
            <a:xfrm>
              <a:off x="6349" y="6221"/>
              <a:ext cx="68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r>
                <a:rPr lang="it-IT" altLang="it-IT" sz="12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it-IT" altLang="it-IT" sz="2000" b="1">
                  <a:solidFill>
                    <a:srgbClr val="000000"/>
                  </a:solidFill>
                  <a:latin typeface="Times New Roman" pitchFamily="18" charset="0"/>
                </a:rPr>
                <a:t>2/5</a:t>
              </a:r>
            </a:p>
            <a:p>
              <a:pPr eaLnBrk="1" hangingPunct="1"/>
              <a:endParaRPr lang="it-IT" altLang="it-IT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22534" name="Rectangle 29"/>
          <p:cNvSpPr>
            <a:spLocks noChangeArrowheads="1"/>
          </p:cNvSpPr>
          <p:nvPr/>
        </p:nvSpPr>
        <p:spPr bwMode="auto">
          <a:xfrm>
            <a:off x="0" y="32289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it-IT" altLang="it-IT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349212" name="Object 28"/>
          <p:cNvGraphicFramePr>
            <a:graphicFrameLocks noChangeAspect="1"/>
          </p:cNvGraphicFramePr>
          <p:nvPr/>
        </p:nvGraphicFramePr>
        <p:xfrm>
          <a:off x="5334000" y="3090863"/>
          <a:ext cx="3505200" cy="148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9" name="Equazione" r:id="rId4" imgW="1777229" imgH="761669" progId="">
                  <p:embed/>
                </p:oleObj>
              </mc:Choice>
              <mc:Fallback>
                <p:oleObj name="Equazione" r:id="rId4" imgW="1777229" imgH="761669" progId="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090863"/>
                        <a:ext cx="3505200" cy="1481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A520B5C4-1AD2-457C-B4D7-E2A0FE94C0B8}"/>
              </a:ext>
            </a:extLst>
          </p:cNvPr>
          <p:cNvSpPr txBox="1"/>
          <p:nvPr/>
        </p:nvSpPr>
        <p:spPr>
          <a:xfrm>
            <a:off x="7524328" y="6309320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/>
              <a:t>Pagina 47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9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9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8" name="Rectangle 2"/>
          <p:cNvSpPr>
            <a:spLocks noChangeArrowheads="1"/>
          </p:cNvSpPr>
          <p:nvPr/>
        </p:nvSpPr>
        <p:spPr bwMode="auto">
          <a:xfrm>
            <a:off x="0" y="171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it-IT" altLang="it-IT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3559" name="Rectangle 5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it-IT" altLang="it-IT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23554" name="Object 0"/>
          <p:cNvGraphicFramePr>
            <a:graphicFrameLocks noChangeAspect="1"/>
          </p:cNvGraphicFramePr>
          <p:nvPr/>
        </p:nvGraphicFramePr>
        <p:xfrm>
          <a:off x="1512888" y="2420938"/>
          <a:ext cx="6119812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6" name="Equation" r:id="rId4" imgW="2387600" imgH="393700" progId="">
                  <p:embed/>
                </p:oleObj>
              </mc:Choice>
              <mc:Fallback>
                <p:oleObj name="Equation" r:id="rId4" imgW="2387600" imgH="393700" progId="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2888" y="2420938"/>
                        <a:ext cx="6119812" cy="995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Rectangle 11"/>
          <p:cNvSpPr>
            <a:spLocks noChangeArrowheads="1"/>
          </p:cNvSpPr>
          <p:nvPr/>
        </p:nvSpPr>
        <p:spPr bwMode="auto">
          <a:xfrm>
            <a:off x="4479925" y="284003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it-IT" altLang="it-IT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10243" name="Object 1"/>
          <p:cNvGraphicFramePr>
            <a:graphicFrameLocks noChangeAspect="1"/>
          </p:cNvGraphicFramePr>
          <p:nvPr/>
        </p:nvGraphicFramePr>
        <p:xfrm>
          <a:off x="1851025" y="4941888"/>
          <a:ext cx="5441950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7" name="Equazione" r:id="rId6" imgW="2082800" imgH="431800" progId="">
                  <p:embed/>
                </p:oleObj>
              </mc:Choice>
              <mc:Fallback>
                <p:oleObj name="Equazione" r:id="rId6" imgW="2082800" imgH="431800" progId="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1025" y="4941888"/>
                        <a:ext cx="5441950" cy="1116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Rectangle 12"/>
          <p:cNvSpPr>
            <a:spLocks noChangeArrowheads="1"/>
          </p:cNvSpPr>
          <p:nvPr/>
        </p:nvSpPr>
        <p:spPr bwMode="auto">
          <a:xfrm>
            <a:off x="0" y="38195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it-IT" altLang="it-IT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23556" name="Object 2"/>
          <p:cNvGraphicFramePr>
            <a:graphicFrameLocks noChangeAspect="1"/>
          </p:cNvGraphicFramePr>
          <p:nvPr/>
        </p:nvGraphicFramePr>
        <p:xfrm>
          <a:off x="2519363" y="476250"/>
          <a:ext cx="410527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8" name="Equazione" r:id="rId8" imgW="1244600" imgH="419100" progId="">
                  <p:embed/>
                </p:oleObj>
              </mc:Choice>
              <mc:Fallback>
                <p:oleObj name="Equazione" r:id="rId8" imgW="1244600" imgH="4191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476250"/>
                        <a:ext cx="4105275" cy="137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3"/>
          <p:cNvGraphicFramePr>
            <a:graphicFrameLocks noChangeAspect="1"/>
          </p:cNvGraphicFramePr>
          <p:nvPr/>
        </p:nvGraphicFramePr>
        <p:xfrm>
          <a:off x="2598738" y="3644900"/>
          <a:ext cx="3944937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9" name="Equazione" r:id="rId10" imgW="1637589" imgH="393529" progId="">
                  <p:embed/>
                </p:oleObj>
              </mc:Choice>
              <mc:Fallback>
                <p:oleObj name="Equazione" r:id="rId10" imgW="1637589" imgH="393529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8738" y="3644900"/>
                        <a:ext cx="3944937" cy="933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66788" y="701055"/>
            <a:ext cx="7210425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8"/>
          <p:cNvGrpSpPr>
            <a:grpSpLocks noChangeAspect="1"/>
          </p:cNvGrpSpPr>
          <p:nvPr/>
        </p:nvGrpSpPr>
        <p:grpSpPr bwMode="auto">
          <a:xfrm>
            <a:off x="-396552" y="2991569"/>
            <a:ext cx="6911975" cy="3533775"/>
            <a:chOff x="2274" y="3386"/>
            <a:chExt cx="7200" cy="3510"/>
          </a:xfrm>
        </p:grpSpPr>
        <p:sp>
          <p:nvSpPr>
            <p:cNvPr id="4" name="AutoShape 9"/>
            <p:cNvSpPr>
              <a:spLocks noChangeAspect="1" noChangeArrowheads="1"/>
            </p:cNvSpPr>
            <p:nvPr/>
          </p:nvSpPr>
          <p:spPr bwMode="auto">
            <a:xfrm>
              <a:off x="2274" y="3386"/>
              <a:ext cx="7200" cy="35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/>
              <a:endParaRPr lang="it-IT" altLang="it-IT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5" name="Line 10"/>
            <p:cNvSpPr>
              <a:spLocks noChangeShapeType="1"/>
            </p:cNvSpPr>
            <p:nvPr/>
          </p:nvSpPr>
          <p:spPr bwMode="auto">
            <a:xfrm flipV="1">
              <a:off x="3225" y="4331"/>
              <a:ext cx="1902" cy="9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3225" y="5276"/>
              <a:ext cx="1902" cy="6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 Box 12"/>
            <p:cNvSpPr txBox="1">
              <a:spLocks noChangeArrowheads="1"/>
            </p:cNvSpPr>
            <p:nvPr/>
          </p:nvSpPr>
          <p:spPr bwMode="auto">
            <a:xfrm>
              <a:off x="5263" y="4061"/>
              <a:ext cx="407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eaLnBrk="1" hangingPunct="1"/>
              <a:r>
                <a:rPr lang="it-IT" altLang="it-IT" sz="2000" b="1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endParaRPr lang="it-IT" altLang="it-IT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8" name="Text Box 13"/>
            <p:cNvSpPr txBox="1">
              <a:spLocks noChangeArrowheads="1"/>
            </p:cNvSpPr>
            <p:nvPr/>
          </p:nvSpPr>
          <p:spPr bwMode="auto">
            <a:xfrm>
              <a:off x="5263" y="5681"/>
              <a:ext cx="543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r>
                <a:rPr lang="it-IT" altLang="it-IT" sz="2000" b="1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r>
                <a:rPr lang="it-IT" altLang="it-IT" sz="2400" b="1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it-IT" altLang="it-IT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" name="Line 14"/>
            <p:cNvSpPr>
              <a:spLocks noChangeShapeType="1"/>
            </p:cNvSpPr>
            <p:nvPr/>
          </p:nvSpPr>
          <p:spPr bwMode="auto">
            <a:xfrm flipV="1">
              <a:off x="5670" y="3926"/>
              <a:ext cx="1630" cy="4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Line 15"/>
            <p:cNvSpPr>
              <a:spLocks noChangeShapeType="1"/>
            </p:cNvSpPr>
            <p:nvPr/>
          </p:nvSpPr>
          <p:spPr bwMode="auto">
            <a:xfrm>
              <a:off x="5670" y="4331"/>
              <a:ext cx="1630" cy="4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Line 16"/>
            <p:cNvSpPr>
              <a:spLocks noChangeShapeType="1"/>
            </p:cNvSpPr>
            <p:nvPr/>
          </p:nvSpPr>
          <p:spPr bwMode="auto">
            <a:xfrm flipV="1">
              <a:off x="5670" y="5546"/>
              <a:ext cx="1630" cy="4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Line 17"/>
            <p:cNvSpPr>
              <a:spLocks noChangeShapeType="1"/>
            </p:cNvSpPr>
            <p:nvPr/>
          </p:nvSpPr>
          <p:spPr bwMode="auto">
            <a:xfrm>
              <a:off x="5670" y="5951"/>
              <a:ext cx="1630" cy="4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 Box 18"/>
            <p:cNvSpPr txBox="1">
              <a:spLocks noChangeArrowheads="1"/>
            </p:cNvSpPr>
            <p:nvPr/>
          </p:nvSpPr>
          <p:spPr bwMode="auto">
            <a:xfrm>
              <a:off x="7300" y="3656"/>
              <a:ext cx="408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eaLnBrk="1" hangingPunct="1"/>
              <a:r>
                <a:rPr lang="it-IT" altLang="it-IT" sz="2000" b="1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it-IT" altLang="it-IT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4" name="Text Box 19"/>
            <p:cNvSpPr txBox="1">
              <a:spLocks noChangeArrowheads="1"/>
            </p:cNvSpPr>
            <p:nvPr/>
          </p:nvSpPr>
          <p:spPr bwMode="auto">
            <a:xfrm>
              <a:off x="7300" y="4466"/>
              <a:ext cx="408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eaLnBrk="1" hangingPunct="1"/>
              <a:r>
                <a:rPr lang="it-IT" altLang="it-IT" sz="2000" b="1">
                  <a:solidFill>
                    <a:srgbClr val="000000"/>
                  </a:solidFill>
                  <a:latin typeface="Times New Roman" pitchFamily="18" charset="0"/>
                </a:rPr>
                <a:t>P</a:t>
              </a:r>
              <a:endParaRPr lang="it-IT" altLang="it-IT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5" name="Text Box 20"/>
            <p:cNvSpPr txBox="1">
              <a:spLocks noChangeArrowheads="1"/>
            </p:cNvSpPr>
            <p:nvPr/>
          </p:nvSpPr>
          <p:spPr bwMode="auto">
            <a:xfrm>
              <a:off x="7300" y="5276"/>
              <a:ext cx="544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r>
                <a:rPr lang="it-IT" altLang="it-IT" sz="2000" b="1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it-IT" altLang="it-IT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6" name="Text Box 21"/>
            <p:cNvSpPr txBox="1">
              <a:spLocks noChangeArrowheads="1"/>
            </p:cNvSpPr>
            <p:nvPr/>
          </p:nvSpPr>
          <p:spPr bwMode="auto">
            <a:xfrm>
              <a:off x="7300" y="6086"/>
              <a:ext cx="408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eaLnBrk="1" hangingPunct="1"/>
              <a:r>
                <a:rPr lang="it-IT" altLang="it-IT" sz="2000" b="1">
                  <a:solidFill>
                    <a:srgbClr val="000000"/>
                  </a:solidFill>
                  <a:latin typeface="Times New Roman" pitchFamily="18" charset="0"/>
                </a:rPr>
                <a:t>P</a:t>
              </a:r>
              <a:endParaRPr lang="it-IT" altLang="it-IT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7" name="Text Box 22"/>
            <p:cNvSpPr txBox="1">
              <a:spLocks noChangeArrowheads="1"/>
            </p:cNvSpPr>
            <p:nvPr/>
          </p:nvSpPr>
          <p:spPr bwMode="auto">
            <a:xfrm>
              <a:off x="3904" y="4196"/>
              <a:ext cx="679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eaLnBrk="1" hangingPunct="1"/>
              <a:r>
                <a:rPr lang="it-IT" altLang="it-IT" sz="2000" b="1">
                  <a:solidFill>
                    <a:srgbClr val="000000"/>
                  </a:solidFill>
                  <a:latin typeface="Times New Roman" pitchFamily="18" charset="0"/>
                </a:rPr>
                <a:t>1/2</a:t>
              </a:r>
              <a:endParaRPr lang="it-IT" altLang="it-IT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8" name="Text Box 23"/>
            <p:cNvSpPr txBox="1">
              <a:spLocks noChangeArrowheads="1"/>
            </p:cNvSpPr>
            <p:nvPr/>
          </p:nvSpPr>
          <p:spPr bwMode="auto">
            <a:xfrm>
              <a:off x="3904" y="5816"/>
              <a:ext cx="68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eaLnBrk="1" hangingPunct="1"/>
              <a:r>
                <a:rPr lang="it-IT" altLang="it-IT" sz="2000" b="1">
                  <a:solidFill>
                    <a:srgbClr val="000000"/>
                  </a:solidFill>
                  <a:latin typeface="Times New Roman" pitchFamily="18" charset="0"/>
                </a:rPr>
                <a:t>1/2</a:t>
              </a:r>
              <a:endParaRPr lang="it-IT" altLang="it-IT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9" name="Text Box 24"/>
            <p:cNvSpPr txBox="1">
              <a:spLocks noChangeArrowheads="1"/>
            </p:cNvSpPr>
            <p:nvPr/>
          </p:nvSpPr>
          <p:spPr bwMode="auto">
            <a:xfrm>
              <a:off x="6349" y="3521"/>
              <a:ext cx="68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r>
                <a:rPr lang="it-IT" altLang="it-IT" sz="12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it-IT" altLang="it-IT" sz="2000" b="1">
                  <a:solidFill>
                    <a:srgbClr val="000000"/>
                  </a:solidFill>
                  <a:latin typeface="Times New Roman" pitchFamily="18" charset="0"/>
                </a:rPr>
                <a:t>5/9</a:t>
              </a:r>
              <a:endParaRPr lang="it-IT" altLang="it-IT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0" name="Text Box 25"/>
            <p:cNvSpPr txBox="1">
              <a:spLocks noChangeArrowheads="1"/>
            </p:cNvSpPr>
            <p:nvPr/>
          </p:nvSpPr>
          <p:spPr bwMode="auto">
            <a:xfrm>
              <a:off x="6349" y="4601"/>
              <a:ext cx="68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r>
                <a:rPr lang="it-IT" altLang="it-IT" sz="12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it-IT" altLang="it-IT" sz="2000" b="1">
                  <a:solidFill>
                    <a:srgbClr val="000000"/>
                  </a:solidFill>
                  <a:latin typeface="Times New Roman" pitchFamily="18" charset="0"/>
                </a:rPr>
                <a:t>4/9</a:t>
              </a:r>
              <a:endParaRPr lang="it-IT" altLang="it-IT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1" name="Text Box 26"/>
            <p:cNvSpPr txBox="1">
              <a:spLocks noChangeArrowheads="1"/>
            </p:cNvSpPr>
            <p:nvPr/>
          </p:nvSpPr>
          <p:spPr bwMode="auto">
            <a:xfrm>
              <a:off x="6349" y="5276"/>
              <a:ext cx="68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r>
                <a:rPr lang="it-IT" altLang="it-IT" sz="12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it-IT" altLang="it-IT" sz="2000" b="1">
                  <a:solidFill>
                    <a:srgbClr val="000000"/>
                  </a:solidFill>
                  <a:latin typeface="Times New Roman" pitchFamily="18" charset="0"/>
                </a:rPr>
                <a:t>3/5</a:t>
              </a:r>
              <a:endParaRPr lang="it-IT" altLang="it-IT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2" name="Text Box 27"/>
            <p:cNvSpPr txBox="1">
              <a:spLocks noChangeArrowheads="1"/>
            </p:cNvSpPr>
            <p:nvPr/>
          </p:nvSpPr>
          <p:spPr bwMode="auto">
            <a:xfrm>
              <a:off x="6349" y="6221"/>
              <a:ext cx="68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r>
                <a:rPr lang="it-IT" altLang="it-IT" sz="12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it-IT" altLang="it-IT" sz="2000" b="1">
                  <a:solidFill>
                    <a:srgbClr val="000000"/>
                  </a:solidFill>
                  <a:latin typeface="Times New Roman" pitchFamily="18" charset="0"/>
                </a:rPr>
                <a:t>2/5</a:t>
              </a:r>
            </a:p>
            <a:p>
              <a:pPr eaLnBrk="1" hangingPunct="1"/>
              <a:endParaRPr lang="it-IT" altLang="it-IT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graphicFrame>
        <p:nvGraphicFramePr>
          <p:cNvPr id="23" name="Object 28"/>
          <p:cNvGraphicFramePr>
            <a:graphicFrameLocks noChangeAspect="1"/>
          </p:cNvGraphicFramePr>
          <p:nvPr/>
        </p:nvGraphicFramePr>
        <p:xfrm>
          <a:off x="5143823" y="3977407"/>
          <a:ext cx="3505200" cy="148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07" name="Equazione" r:id="rId4" imgW="1777229" imgH="761669" progId="">
                  <p:embed/>
                </p:oleObj>
              </mc:Choice>
              <mc:Fallback>
                <p:oleObj name="Equazione" r:id="rId4" imgW="1777229" imgH="761669" progId="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823" y="3977407"/>
                        <a:ext cx="3505200" cy="1481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050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49288" y="1752600"/>
            <a:ext cx="7848600" cy="2667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400" dirty="0"/>
              <a:t>Nella popolazione generale la probabilità che una donna abbia un tumore al seno è dello 0.8 % (8/1000).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 dirty="0"/>
              <a:t>Se una donna ha un tumore al seno, la probabilità che la mammografia risulti  positiva è del 90%.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 dirty="0"/>
              <a:t>Se una donna non ha un tumore al seno vi è comunque la probabilità che la mammografia sia positiva per tumore nel 7 % dei casi.</a:t>
            </a:r>
          </a:p>
        </p:txBody>
      </p:sp>
      <p:sp>
        <p:nvSpPr>
          <p:cNvPr id="243715" name="Rectangle 2051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609600"/>
            <a:ext cx="7772400" cy="533400"/>
          </a:xfrm>
        </p:spPr>
        <p:txBody>
          <a:bodyPr/>
          <a:lstStyle/>
          <a:p>
            <a:pPr eaLnBrk="1" hangingPunct="1"/>
            <a:r>
              <a:rPr lang="it-IT" altLang="it-IT" sz="3600" dirty="0"/>
              <a:t>Teorema di </a:t>
            </a:r>
            <a:r>
              <a:rPr lang="it-IT" altLang="it-IT" sz="3600" dirty="0" err="1"/>
              <a:t>Bayes</a:t>
            </a:r>
            <a:r>
              <a:rPr lang="it-IT" altLang="it-IT" sz="3600" dirty="0"/>
              <a:t> </a:t>
            </a:r>
            <a:r>
              <a:rPr lang="it-IT" altLang="it-IT" sz="2400" dirty="0"/>
              <a:t>(pagina 50)</a:t>
            </a:r>
          </a:p>
        </p:txBody>
      </p:sp>
      <p:sp>
        <p:nvSpPr>
          <p:cNvPr id="68612" name="Text Box 2052"/>
          <p:cNvSpPr txBox="1">
            <a:spLocks noChangeArrowheads="1"/>
          </p:cNvSpPr>
          <p:nvPr/>
        </p:nvSpPr>
        <p:spPr bwMode="auto">
          <a:xfrm>
            <a:off x="723900" y="4953000"/>
            <a:ext cx="76962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it-IT" altLang="it-IT" sz="2400" b="1">
                <a:solidFill>
                  <a:srgbClr val="000000"/>
                </a:solidFill>
                <a:latin typeface="Times New Roman" pitchFamily="18" charset="0"/>
              </a:rPr>
              <a:t>Se una donna ha una mammografia positiva, quale è la probabilità che abbia effettivamente un tumore?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 build="p" autoUpdateAnimBg="0"/>
      <p:bldP spid="68612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609600"/>
            <a:ext cx="7772400" cy="533400"/>
          </a:xfrm>
        </p:spPr>
        <p:txBody>
          <a:bodyPr/>
          <a:lstStyle/>
          <a:p>
            <a:pPr eaLnBrk="1" hangingPunct="1"/>
            <a:r>
              <a:rPr lang="it-IT" altLang="it-IT"/>
              <a:t>Il teorema di Bayes</a:t>
            </a:r>
          </a:p>
        </p:txBody>
      </p:sp>
      <p:graphicFrame>
        <p:nvGraphicFramePr>
          <p:cNvPr id="24578" name="Object 1027"/>
          <p:cNvGraphicFramePr>
            <a:graphicFrameLocks noChangeAspect="1"/>
          </p:cNvGraphicFramePr>
          <p:nvPr/>
        </p:nvGraphicFramePr>
        <p:xfrm>
          <a:off x="776288" y="1752600"/>
          <a:ext cx="7593012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2" name="Equazione" r:id="rId3" imgW="2946400" imgH="419100" progId="">
                  <p:embed/>
                </p:oleObj>
              </mc:Choice>
              <mc:Fallback>
                <p:oleObj name="Equazione" r:id="rId3" imgW="2946400" imgH="419100" progId="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288" y="1752600"/>
                        <a:ext cx="7593012" cy="1081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1029"/>
          <p:cNvGraphicFramePr>
            <a:graphicFrameLocks noChangeAspect="1"/>
          </p:cNvGraphicFramePr>
          <p:nvPr/>
        </p:nvGraphicFramePr>
        <p:xfrm>
          <a:off x="1570038" y="5049838"/>
          <a:ext cx="5989637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3" name="Equazione" r:id="rId5" imgW="2324100" imgH="393700" progId="">
                  <p:embed/>
                </p:oleObj>
              </mc:Choice>
              <mc:Fallback>
                <p:oleObj name="Equazione" r:id="rId5" imgW="2324100" imgH="393700" progId="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0038" y="5049838"/>
                        <a:ext cx="5989637" cy="1011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741817"/>
              </p:ext>
            </p:extLst>
          </p:nvPr>
        </p:nvGraphicFramePr>
        <p:xfrm>
          <a:off x="1546225" y="3460750"/>
          <a:ext cx="602138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4" name="Equazione" r:id="rId7" imgW="2336760" imgH="393480" progId="">
                  <p:embed/>
                </p:oleObj>
              </mc:Choice>
              <mc:Fallback>
                <p:oleObj name="Equazione" r:id="rId7" imgW="2336760" imgH="393480" progId="">
                  <p:embed/>
                  <p:pic>
                    <p:nvPicPr>
                      <p:cNvPr id="24579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225" y="3460750"/>
                        <a:ext cx="6021388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it-IT" altLang="it-IT" sz="2800" b="1">
                <a:solidFill>
                  <a:schemeClr val="tx1"/>
                </a:solidFill>
              </a:rPr>
              <a:t>Metodo  delle</a:t>
            </a:r>
            <a:r>
              <a:rPr lang="it-IT" altLang="it-IT" sz="2800" b="1">
                <a:solidFill>
                  <a:schemeClr val="accent1"/>
                </a:solidFill>
              </a:rPr>
              <a:t>  frequenze  naturali</a:t>
            </a:r>
          </a:p>
        </p:txBody>
      </p:sp>
      <p:sp>
        <p:nvSpPr>
          <p:cNvPr id="72707" name="Text Box 1027"/>
          <p:cNvSpPr txBox="1">
            <a:spLocks noChangeArrowheads="1"/>
          </p:cNvSpPr>
          <p:nvPr/>
        </p:nvSpPr>
        <p:spPr bwMode="auto">
          <a:xfrm>
            <a:off x="838200" y="1295400"/>
            <a:ext cx="6858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2575" indent="-282575" algn="ctr">
              <a:spcBef>
                <a:spcPct val="20000"/>
              </a:spcBef>
              <a:buFontTx/>
              <a:buChar char="•"/>
            </a:pPr>
            <a:r>
              <a:rPr lang="it-IT" altLang="it-IT" sz="2800" b="1" dirty="0">
                <a:solidFill>
                  <a:srgbClr val="000000"/>
                </a:solidFill>
                <a:latin typeface="Times New Roman" pitchFamily="18" charset="0"/>
              </a:rPr>
              <a:t>p (malattia) : 0.008 (8 per mille)</a:t>
            </a:r>
          </a:p>
          <a:p>
            <a:pPr marL="282575" indent="-282575" algn="ctr">
              <a:spcBef>
                <a:spcPct val="20000"/>
              </a:spcBef>
              <a:buFontTx/>
              <a:buChar char="•"/>
            </a:pPr>
            <a:r>
              <a:rPr lang="it-IT" altLang="it-IT" sz="2800" b="1" dirty="0">
                <a:solidFill>
                  <a:srgbClr val="000000"/>
                </a:solidFill>
                <a:latin typeface="Times New Roman" pitchFamily="18" charset="0"/>
              </a:rPr>
              <a:t>p (non malattia): 0.992 (992 per mille)</a:t>
            </a:r>
          </a:p>
          <a:p>
            <a:pPr marL="282575" indent="-282575" algn="ctr">
              <a:spcBef>
                <a:spcPct val="20000"/>
              </a:spcBef>
              <a:buFontTx/>
              <a:buChar char="•"/>
            </a:pPr>
            <a:r>
              <a:rPr lang="it-IT" altLang="it-IT" sz="2800" b="1" dirty="0">
                <a:solidFill>
                  <a:srgbClr val="000000"/>
                </a:solidFill>
                <a:latin typeface="Times New Roman" pitchFamily="18" charset="0"/>
              </a:rPr>
              <a:t>p  (test </a:t>
            </a:r>
            <a:r>
              <a:rPr lang="it-IT" altLang="it-IT" sz="2800" b="1" dirty="0" err="1">
                <a:solidFill>
                  <a:srgbClr val="000000"/>
                </a:solidFill>
                <a:latin typeface="Times New Roman" pitchFamily="18" charset="0"/>
              </a:rPr>
              <a:t>positivo|malattia</a:t>
            </a:r>
            <a:r>
              <a:rPr lang="it-IT" altLang="it-IT" sz="2800" b="1" dirty="0">
                <a:solidFill>
                  <a:srgbClr val="000000"/>
                </a:solidFill>
                <a:latin typeface="Times New Roman" pitchFamily="18" charset="0"/>
              </a:rPr>
              <a:t>): 0.90 (90%)</a:t>
            </a:r>
          </a:p>
          <a:p>
            <a:pPr marL="282575" indent="-282575" algn="ctr">
              <a:spcBef>
                <a:spcPct val="20000"/>
              </a:spcBef>
              <a:buFontTx/>
              <a:buChar char="•"/>
            </a:pPr>
            <a:r>
              <a:rPr lang="it-IT" altLang="it-IT" sz="2800" b="1" dirty="0">
                <a:solidFill>
                  <a:srgbClr val="000000"/>
                </a:solidFill>
                <a:latin typeface="Times New Roman" pitchFamily="18" charset="0"/>
              </a:rPr>
              <a:t>p  (test </a:t>
            </a:r>
            <a:r>
              <a:rPr lang="it-IT" altLang="it-IT" sz="2800" b="1" dirty="0" err="1">
                <a:solidFill>
                  <a:srgbClr val="000000"/>
                </a:solidFill>
                <a:latin typeface="Times New Roman" pitchFamily="18" charset="0"/>
              </a:rPr>
              <a:t>positivo|non</a:t>
            </a:r>
            <a:r>
              <a:rPr lang="it-IT" altLang="it-IT" sz="2800" b="1" dirty="0">
                <a:solidFill>
                  <a:srgbClr val="000000"/>
                </a:solidFill>
                <a:latin typeface="Times New Roman" pitchFamily="18" charset="0"/>
              </a:rPr>
              <a:t> malattia): 0.07 (7%)</a:t>
            </a:r>
            <a:endParaRPr lang="it-IT" altLang="it-IT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2708" name="AutoShape 1028"/>
          <p:cNvSpPr>
            <a:spLocks noChangeArrowheads="1"/>
          </p:cNvSpPr>
          <p:nvPr/>
        </p:nvSpPr>
        <p:spPr bwMode="auto">
          <a:xfrm>
            <a:off x="2895600" y="3657600"/>
            <a:ext cx="1676400" cy="381000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it-IT" altLang="it-IT" sz="2400" b="1">
                <a:solidFill>
                  <a:srgbClr val="000000"/>
                </a:solidFill>
                <a:latin typeface="Times New Roman" pitchFamily="18" charset="0"/>
              </a:rPr>
              <a:t>1000 donne</a:t>
            </a:r>
          </a:p>
        </p:txBody>
      </p:sp>
      <p:sp>
        <p:nvSpPr>
          <p:cNvPr id="72709" name="AutoShape 1029"/>
          <p:cNvSpPr>
            <a:spLocks noChangeArrowheads="1"/>
          </p:cNvSpPr>
          <p:nvPr/>
        </p:nvSpPr>
        <p:spPr bwMode="auto">
          <a:xfrm>
            <a:off x="1600200" y="4419600"/>
            <a:ext cx="1143000" cy="381000"/>
          </a:xfrm>
          <a:prstGeom prst="flowChartProcess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it-IT" altLang="it-IT" sz="2400" b="1">
                <a:solidFill>
                  <a:srgbClr val="000000"/>
                </a:solidFill>
                <a:latin typeface="Times New Roman" pitchFamily="18" charset="0"/>
              </a:rPr>
              <a:t>8 malate</a:t>
            </a:r>
          </a:p>
        </p:txBody>
      </p:sp>
      <p:sp>
        <p:nvSpPr>
          <p:cNvPr id="72710" name="AutoShape 1030"/>
          <p:cNvSpPr>
            <a:spLocks noChangeArrowheads="1"/>
          </p:cNvSpPr>
          <p:nvPr/>
        </p:nvSpPr>
        <p:spPr bwMode="auto">
          <a:xfrm>
            <a:off x="4495800" y="4343400"/>
            <a:ext cx="1676400" cy="381000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it-IT" altLang="it-IT" sz="2400" b="1">
                <a:solidFill>
                  <a:srgbClr val="000000"/>
                </a:solidFill>
                <a:latin typeface="Times New Roman" pitchFamily="18" charset="0"/>
              </a:rPr>
              <a:t>992 sane</a:t>
            </a:r>
          </a:p>
        </p:txBody>
      </p:sp>
      <p:sp>
        <p:nvSpPr>
          <p:cNvPr id="72711" name="AutoShape 1031"/>
          <p:cNvSpPr>
            <a:spLocks noChangeArrowheads="1"/>
          </p:cNvSpPr>
          <p:nvPr/>
        </p:nvSpPr>
        <p:spPr bwMode="auto">
          <a:xfrm>
            <a:off x="457200" y="5638800"/>
            <a:ext cx="1295400" cy="381000"/>
          </a:xfrm>
          <a:prstGeom prst="flowChartProcess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it-IT" altLang="it-IT" sz="2400" b="1">
                <a:solidFill>
                  <a:srgbClr val="000000"/>
                </a:solidFill>
                <a:latin typeface="Times New Roman" pitchFamily="18" charset="0"/>
              </a:rPr>
              <a:t>7 positive</a:t>
            </a:r>
          </a:p>
        </p:txBody>
      </p:sp>
      <p:sp>
        <p:nvSpPr>
          <p:cNvPr id="72712" name="AutoShape 1032"/>
          <p:cNvSpPr>
            <a:spLocks noChangeArrowheads="1"/>
          </p:cNvSpPr>
          <p:nvPr/>
        </p:nvSpPr>
        <p:spPr bwMode="auto">
          <a:xfrm>
            <a:off x="2057400" y="5638800"/>
            <a:ext cx="1371600" cy="381000"/>
          </a:xfrm>
          <a:prstGeom prst="flowChartProces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it-IT" altLang="it-IT" sz="2400" b="1">
                <a:solidFill>
                  <a:srgbClr val="000000"/>
                </a:solidFill>
                <a:latin typeface="Times New Roman" pitchFamily="18" charset="0"/>
              </a:rPr>
              <a:t>1 negativa</a:t>
            </a:r>
          </a:p>
        </p:txBody>
      </p:sp>
      <p:sp>
        <p:nvSpPr>
          <p:cNvPr id="72713" name="AutoShape 1033"/>
          <p:cNvSpPr>
            <a:spLocks noChangeArrowheads="1"/>
          </p:cNvSpPr>
          <p:nvPr/>
        </p:nvSpPr>
        <p:spPr bwMode="auto">
          <a:xfrm>
            <a:off x="4724400" y="5638800"/>
            <a:ext cx="1524000" cy="381000"/>
          </a:xfrm>
          <a:prstGeom prst="flowChartProcess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it-IT" altLang="it-IT" sz="2400" b="1">
                <a:solidFill>
                  <a:srgbClr val="000000"/>
                </a:solidFill>
                <a:latin typeface="Times New Roman" pitchFamily="18" charset="0"/>
              </a:rPr>
              <a:t>70 positive</a:t>
            </a:r>
          </a:p>
        </p:txBody>
      </p:sp>
      <p:sp>
        <p:nvSpPr>
          <p:cNvPr id="72714" name="AutoShape 1034"/>
          <p:cNvSpPr>
            <a:spLocks noChangeArrowheads="1"/>
          </p:cNvSpPr>
          <p:nvPr/>
        </p:nvSpPr>
        <p:spPr bwMode="auto">
          <a:xfrm>
            <a:off x="6553200" y="5638800"/>
            <a:ext cx="1752600" cy="381000"/>
          </a:xfrm>
          <a:prstGeom prst="flowChartProcess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it-IT" altLang="it-IT" sz="2400" b="1">
                <a:solidFill>
                  <a:srgbClr val="000000"/>
                </a:solidFill>
                <a:latin typeface="Times New Roman" pitchFamily="18" charset="0"/>
              </a:rPr>
              <a:t>922 negative</a:t>
            </a:r>
          </a:p>
        </p:txBody>
      </p:sp>
      <p:sp>
        <p:nvSpPr>
          <p:cNvPr id="72715" name="Line 1035"/>
          <p:cNvSpPr>
            <a:spLocks noChangeShapeType="1"/>
          </p:cNvSpPr>
          <p:nvPr/>
        </p:nvSpPr>
        <p:spPr bwMode="auto">
          <a:xfrm flipH="1">
            <a:off x="2895600" y="41910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72716" name="Line 1036"/>
          <p:cNvSpPr>
            <a:spLocks noChangeShapeType="1"/>
          </p:cNvSpPr>
          <p:nvPr/>
        </p:nvSpPr>
        <p:spPr bwMode="auto">
          <a:xfrm>
            <a:off x="3962400" y="41148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72717" name="Line 1037"/>
          <p:cNvSpPr>
            <a:spLocks noChangeShapeType="1"/>
          </p:cNvSpPr>
          <p:nvPr/>
        </p:nvSpPr>
        <p:spPr bwMode="auto">
          <a:xfrm flipH="1">
            <a:off x="1447800" y="49530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72718" name="Line 1038"/>
          <p:cNvSpPr>
            <a:spLocks noChangeShapeType="1"/>
          </p:cNvSpPr>
          <p:nvPr/>
        </p:nvSpPr>
        <p:spPr bwMode="auto">
          <a:xfrm>
            <a:off x="2209800" y="49530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72719" name="Line 1039"/>
          <p:cNvSpPr>
            <a:spLocks noChangeShapeType="1"/>
          </p:cNvSpPr>
          <p:nvPr/>
        </p:nvSpPr>
        <p:spPr bwMode="auto">
          <a:xfrm flipH="1">
            <a:off x="5334000" y="510540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72720" name="Line 1040"/>
          <p:cNvSpPr>
            <a:spLocks noChangeShapeType="1"/>
          </p:cNvSpPr>
          <p:nvPr/>
        </p:nvSpPr>
        <p:spPr bwMode="auto">
          <a:xfrm>
            <a:off x="6019800" y="4953000"/>
            <a:ext cx="1066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72721" name="Text Box 1041"/>
          <p:cNvSpPr txBox="1">
            <a:spLocks noChangeArrowheads="1"/>
          </p:cNvSpPr>
          <p:nvPr/>
        </p:nvSpPr>
        <p:spPr bwMode="auto">
          <a:xfrm>
            <a:off x="3048000" y="4953000"/>
            <a:ext cx="152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 altLang="it-IT" sz="1600">
                <a:solidFill>
                  <a:srgbClr val="FF66CC"/>
                </a:solidFill>
                <a:latin typeface="Times New Roman" pitchFamily="18" charset="0"/>
              </a:rPr>
              <a:t>mammografia</a:t>
            </a:r>
          </a:p>
        </p:txBody>
      </p:sp>
      <p:pic>
        <p:nvPicPr>
          <p:cNvPr id="18" name="Immagine 17" descr="gigerenze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75588" y="0"/>
            <a:ext cx="1268412" cy="206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2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2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2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2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2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2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2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2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2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2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2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2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2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2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72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72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build="p" autoUpdateAnimBg="0"/>
      <p:bldP spid="72708" grpId="0" animBg="1" autoUpdateAnimBg="0"/>
      <p:bldP spid="72709" grpId="0" animBg="1" autoUpdateAnimBg="0"/>
      <p:bldP spid="72710" grpId="0" animBg="1" autoUpdateAnimBg="0"/>
      <p:bldP spid="72711" grpId="0" animBg="1" autoUpdateAnimBg="0"/>
      <p:bldP spid="72712" grpId="0" animBg="1" autoUpdateAnimBg="0"/>
      <p:bldP spid="72713" grpId="0" animBg="1" autoUpdateAnimBg="0"/>
      <p:bldP spid="72714" grpId="0" animBg="1" autoUpdateAnimBg="0"/>
      <p:bldP spid="72715" grpId="0" animBg="1"/>
      <p:bldP spid="72716" grpId="0" animBg="1"/>
      <p:bldP spid="72717" grpId="0" animBg="1"/>
      <p:bldP spid="72718" grpId="0" animBg="1"/>
      <p:bldP spid="72719" grpId="0" animBg="1"/>
      <p:bldP spid="72720" grpId="0" animBg="1"/>
      <p:bldP spid="72721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AutoShape 1028"/>
          <p:cNvSpPr>
            <a:spLocks noChangeArrowheads="1"/>
          </p:cNvSpPr>
          <p:nvPr/>
        </p:nvSpPr>
        <p:spPr bwMode="auto">
          <a:xfrm>
            <a:off x="2895600" y="3657600"/>
            <a:ext cx="1676400" cy="381000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it-IT" altLang="it-IT" sz="2400" b="1" dirty="0">
                <a:solidFill>
                  <a:srgbClr val="000000"/>
                </a:solidFill>
                <a:latin typeface="Times New Roman" pitchFamily="18" charset="0"/>
              </a:rPr>
              <a:t>1000 donne</a:t>
            </a:r>
          </a:p>
        </p:txBody>
      </p:sp>
      <p:sp>
        <p:nvSpPr>
          <p:cNvPr id="72709" name="AutoShape 1029"/>
          <p:cNvSpPr>
            <a:spLocks noChangeArrowheads="1"/>
          </p:cNvSpPr>
          <p:nvPr/>
        </p:nvSpPr>
        <p:spPr bwMode="auto">
          <a:xfrm>
            <a:off x="1600200" y="4419600"/>
            <a:ext cx="1143000" cy="381000"/>
          </a:xfrm>
          <a:prstGeom prst="flowChartProcess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it-IT" altLang="it-IT" sz="2400" b="1">
                <a:solidFill>
                  <a:srgbClr val="000000"/>
                </a:solidFill>
                <a:latin typeface="Times New Roman" pitchFamily="18" charset="0"/>
              </a:rPr>
              <a:t>8 malate</a:t>
            </a:r>
          </a:p>
        </p:txBody>
      </p:sp>
      <p:sp>
        <p:nvSpPr>
          <p:cNvPr id="72710" name="AutoShape 1030"/>
          <p:cNvSpPr>
            <a:spLocks noChangeArrowheads="1"/>
          </p:cNvSpPr>
          <p:nvPr/>
        </p:nvSpPr>
        <p:spPr bwMode="auto">
          <a:xfrm>
            <a:off x="4495800" y="4343400"/>
            <a:ext cx="1676400" cy="381000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it-IT" altLang="it-IT" sz="2400" b="1">
                <a:solidFill>
                  <a:srgbClr val="000000"/>
                </a:solidFill>
                <a:latin typeface="Times New Roman" pitchFamily="18" charset="0"/>
              </a:rPr>
              <a:t>992 sane</a:t>
            </a:r>
          </a:p>
        </p:txBody>
      </p:sp>
      <p:sp>
        <p:nvSpPr>
          <p:cNvPr id="72711" name="AutoShape 1031"/>
          <p:cNvSpPr>
            <a:spLocks noChangeArrowheads="1"/>
          </p:cNvSpPr>
          <p:nvPr/>
        </p:nvSpPr>
        <p:spPr bwMode="auto">
          <a:xfrm>
            <a:off x="457200" y="5638800"/>
            <a:ext cx="1295400" cy="381000"/>
          </a:xfrm>
          <a:prstGeom prst="flowChartProcess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it-IT" altLang="it-IT" sz="2400" b="1">
                <a:solidFill>
                  <a:srgbClr val="000000"/>
                </a:solidFill>
                <a:latin typeface="Times New Roman" pitchFamily="18" charset="0"/>
              </a:rPr>
              <a:t>7 positive</a:t>
            </a:r>
          </a:p>
        </p:txBody>
      </p:sp>
      <p:sp>
        <p:nvSpPr>
          <p:cNvPr id="72712" name="AutoShape 1032"/>
          <p:cNvSpPr>
            <a:spLocks noChangeArrowheads="1"/>
          </p:cNvSpPr>
          <p:nvPr/>
        </p:nvSpPr>
        <p:spPr bwMode="auto">
          <a:xfrm>
            <a:off x="2057400" y="5638800"/>
            <a:ext cx="1371600" cy="381000"/>
          </a:xfrm>
          <a:prstGeom prst="flowChartProces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it-IT" altLang="it-IT" sz="2400" b="1">
                <a:solidFill>
                  <a:srgbClr val="000000"/>
                </a:solidFill>
                <a:latin typeface="Times New Roman" pitchFamily="18" charset="0"/>
              </a:rPr>
              <a:t>1 negativa</a:t>
            </a:r>
          </a:p>
        </p:txBody>
      </p:sp>
      <p:sp>
        <p:nvSpPr>
          <p:cNvPr id="72713" name="AutoShape 1033"/>
          <p:cNvSpPr>
            <a:spLocks noChangeArrowheads="1"/>
          </p:cNvSpPr>
          <p:nvPr/>
        </p:nvSpPr>
        <p:spPr bwMode="auto">
          <a:xfrm>
            <a:off x="4724400" y="5638800"/>
            <a:ext cx="1524000" cy="381000"/>
          </a:xfrm>
          <a:prstGeom prst="flowChartProcess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it-IT" altLang="it-IT" sz="2400" b="1">
                <a:solidFill>
                  <a:srgbClr val="000000"/>
                </a:solidFill>
                <a:latin typeface="Times New Roman" pitchFamily="18" charset="0"/>
              </a:rPr>
              <a:t>70 positive</a:t>
            </a:r>
          </a:p>
        </p:txBody>
      </p:sp>
      <p:sp>
        <p:nvSpPr>
          <p:cNvPr id="72714" name="AutoShape 1034"/>
          <p:cNvSpPr>
            <a:spLocks noChangeArrowheads="1"/>
          </p:cNvSpPr>
          <p:nvPr/>
        </p:nvSpPr>
        <p:spPr bwMode="auto">
          <a:xfrm>
            <a:off x="6553200" y="5638800"/>
            <a:ext cx="1752600" cy="381000"/>
          </a:xfrm>
          <a:prstGeom prst="flowChartProcess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it-IT" altLang="it-IT" sz="2400" b="1">
                <a:solidFill>
                  <a:srgbClr val="000000"/>
                </a:solidFill>
                <a:latin typeface="Times New Roman" pitchFamily="18" charset="0"/>
              </a:rPr>
              <a:t>922 negative</a:t>
            </a:r>
          </a:p>
        </p:txBody>
      </p:sp>
      <p:sp>
        <p:nvSpPr>
          <p:cNvPr id="72715" name="Line 1035"/>
          <p:cNvSpPr>
            <a:spLocks noChangeShapeType="1"/>
          </p:cNvSpPr>
          <p:nvPr/>
        </p:nvSpPr>
        <p:spPr bwMode="auto">
          <a:xfrm flipH="1">
            <a:off x="2895600" y="41910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72716" name="Line 1036"/>
          <p:cNvSpPr>
            <a:spLocks noChangeShapeType="1"/>
          </p:cNvSpPr>
          <p:nvPr/>
        </p:nvSpPr>
        <p:spPr bwMode="auto">
          <a:xfrm>
            <a:off x="3962400" y="41148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72717" name="Line 1037"/>
          <p:cNvSpPr>
            <a:spLocks noChangeShapeType="1"/>
          </p:cNvSpPr>
          <p:nvPr/>
        </p:nvSpPr>
        <p:spPr bwMode="auto">
          <a:xfrm flipH="1">
            <a:off x="1447800" y="49530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72718" name="Line 1038"/>
          <p:cNvSpPr>
            <a:spLocks noChangeShapeType="1"/>
          </p:cNvSpPr>
          <p:nvPr/>
        </p:nvSpPr>
        <p:spPr bwMode="auto">
          <a:xfrm>
            <a:off x="2209800" y="49530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72719" name="Line 1039"/>
          <p:cNvSpPr>
            <a:spLocks noChangeShapeType="1"/>
          </p:cNvSpPr>
          <p:nvPr/>
        </p:nvSpPr>
        <p:spPr bwMode="auto">
          <a:xfrm flipH="1">
            <a:off x="5334000" y="510540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72720" name="Line 1040"/>
          <p:cNvSpPr>
            <a:spLocks noChangeShapeType="1"/>
          </p:cNvSpPr>
          <p:nvPr/>
        </p:nvSpPr>
        <p:spPr bwMode="auto">
          <a:xfrm>
            <a:off x="6019800" y="4953000"/>
            <a:ext cx="1066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pic>
        <p:nvPicPr>
          <p:cNvPr id="18" name="Immagine 17" descr="gigerenze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75588" y="0"/>
            <a:ext cx="1268412" cy="206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9A6E80E2-AE62-43C5-8676-D4896399C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945790"/>
              </p:ext>
            </p:extLst>
          </p:nvPr>
        </p:nvGraphicFramePr>
        <p:xfrm>
          <a:off x="1187624" y="1031955"/>
          <a:ext cx="6096000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20340318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02936322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33034532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213277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Malata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62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 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180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922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923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734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it-IT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35326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099E535B-4B32-4EE1-B020-78765649C852}"/>
                  </a:ext>
                </a:extLst>
              </p:cNvPr>
              <p:cNvSpPr txBox="1"/>
              <p:nvPr/>
            </p:nvSpPr>
            <p:spPr>
              <a:xfrm>
                <a:off x="6172200" y="3284984"/>
                <a:ext cx="2418052" cy="5171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𝟕𝟕</m:t>
                          </m:r>
                        </m:den>
                      </m:f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𝟎𝟗𝟏</m:t>
                      </m:r>
                    </m:oMath>
                  </m:oMathPara>
                </a14:m>
                <a:endParaRPr lang="it-IT" b="1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099E535B-4B32-4EE1-B020-78765649C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3284984"/>
                <a:ext cx="2418052" cy="5171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1839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2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2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2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2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2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2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2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2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2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2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2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2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2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2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8" grpId="0" animBg="1" autoUpdateAnimBg="0"/>
      <p:bldP spid="72709" grpId="0" animBg="1" autoUpdateAnimBg="0"/>
      <p:bldP spid="72710" grpId="0" animBg="1" autoUpdateAnimBg="0"/>
      <p:bldP spid="72711" grpId="0" animBg="1" autoUpdateAnimBg="0"/>
      <p:bldP spid="72712" grpId="0" animBg="1" autoUpdateAnimBg="0"/>
      <p:bldP spid="72713" grpId="0" animBg="1" autoUpdateAnimBg="0"/>
      <p:bldP spid="72714" grpId="0" animBg="1" autoUpdateAnimBg="0"/>
      <p:bldP spid="72715" grpId="0" animBg="1"/>
      <p:bldP spid="72716" grpId="0" animBg="1"/>
      <p:bldP spid="72717" grpId="0" animBg="1"/>
      <p:bldP spid="72718" grpId="0" animBg="1"/>
      <p:bldP spid="72719" grpId="0" animBg="1"/>
      <p:bldP spid="727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641AA544-AEB9-4525-A609-FEA813D4EB7C}"/>
              </a:ext>
            </a:extLst>
          </p:cNvPr>
          <p:cNvSpPr/>
          <p:nvPr/>
        </p:nvSpPr>
        <p:spPr>
          <a:xfrm>
            <a:off x="539552" y="2048066"/>
            <a:ext cx="81369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400" dirty="0"/>
              <a:t>https://www.iene.mediaset.it/video/toffa-gioco-d-azzardo-le-probabilita-di-vincere_67598.shtml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3412B42-A2A2-4E34-928E-22D5DEB55EF2}"/>
              </a:ext>
            </a:extLst>
          </p:cNvPr>
          <p:cNvSpPr txBox="1"/>
          <p:nvPr/>
        </p:nvSpPr>
        <p:spPr>
          <a:xfrm flipH="1">
            <a:off x="1052479" y="2991141"/>
            <a:ext cx="670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Fate il nostro gioco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3E2D14-6F69-41FF-ADD6-14DA9B963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634" y="3549485"/>
            <a:ext cx="741979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YouTube Noto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Lastampa.it - la matematica del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YouTube Noto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gratta&amp;vinci</a:t>
            </a: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YouTube Noto"/>
            </a:endParaRPr>
          </a:p>
          <a:p>
            <a:pPr lvl="0"/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YouTube Noto"/>
              </a:rPr>
              <a:t/>
            </a:r>
            <a:b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YouTube Noto"/>
              </a:rPr>
            </a:br>
            <a:r>
              <a:rPr lang="it-IT" altLang="it-IT" dirty="0">
                <a:latin typeface="YouTube Noto"/>
                <a:hlinkClick r:id="rId3"/>
              </a:rPr>
              <a:t>https://www.youtube.com/watch?v=lN3X9K0XJ5E</a:t>
            </a:r>
            <a:endParaRPr lang="it-IT" altLang="it-IT" dirty="0">
              <a:latin typeface="YouTube Noto"/>
            </a:endParaRPr>
          </a:p>
          <a:p>
            <a:pPr lvl="0"/>
            <a:endParaRPr kumimoji="0" lang="it-IT" altLang="it-IT" b="0" i="0" u="none" strike="noStrike" cap="none" normalizeH="0" baseline="0" dirty="0">
              <a:ln>
                <a:noFill/>
              </a:ln>
              <a:effectLst/>
              <a:latin typeface="YouTube Noto"/>
            </a:endParaRPr>
          </a:p>
          <a:p>
            <a:pPr lvl="0"/>
            <a:endParaRPr lang="it-IT" altLang="it-IT" dirty="0">
              <a:latin typeface="YouTube Noto"/>
            </a:endParaRPr>
          </a:p>
          <a:p>
            <a:pPr lvl="0"/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YouTube Noto"/>
              </a:rPr>
              <a:t>Gaming</a:t>
            </a:r>
          </a:p>
          <a:p>
            <a:pPr lvl="0"/>
            <a:endParaRPr lang="it-IT" altLang="it-IT" dirty="0">
              <a:latin typeface="YouTube Noto"/>
            </a:endParaRPr>
          </a:p>
          <a:p>
            <a:pPr lvl="0"/>
            <a:r>
              <a:rPr lang="it-IT" altLang="it-IT" dirty="0"/>
              <a:t>https://www.youtube.com/watch?v=sJwxwFCC_zY&amp;t=237s</a:t>
            </a:r>
            <a:endParaRPr kumimoji="0" lang="it-IT" altLang="it-IT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08829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2322513"/>
            <a:ext cx="7772400" cy="2209800"/>
          </a:xfrm>
        </p:spPr>
        <p:txBody>
          <a:bodyPr/>
          <a:lstStyle/>
          <a:p>
            <a:pPr eaLnBrk="1" hangingPunct="1"/>
            <a:r>
              <a:rPr lang="it-IT" altLang="it-IT" sz="6600">
                <a:latin typeface="Tahoma" pitchFamily="34" charset="0"/>
                <a:cs typeface="Tahoma" pitchFamily="34" charset="0"/>
              </a:rPr>
              <a:t>Esercizi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90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8" y="1700213"/>
            <a:ext cx="9001125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9363" y="3413125"/>
            <a:ext cx="4105275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1908" name="CasellaDiTesto 4"/>
          <p:cNvSpPr txBox="1">
            <a:spLocks noChangeArrowheads="1"/>
          </p:cNvSpPr>
          <p:nvPr/>
        </p:nvSpPr>
        <p:spPr bwMode="auto">
          <a:xfrm>
            <a:off x="2843213" y="2082800"/>
            <a:ext cx="504825" cy="3381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endParaRPr lang="it-IT" altLang="it-IT" sz="16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51909" name="CasellaDiTesto 5"/>
          <p:cNvSpPr txBox="1">
            <a:spLocks noChangeArrowheads="1"/>
          </p:cNvSpPr>
          <p:nvPr/>
        </p:nvSpPr>
        <p:spPr bwMode="auto">
          <a:xfrm>
            <a:off x="2700338" y="2060575"/>
            <a:ext cx="7191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it-IT" altLang="it-IT">
                <a:solidFill>
                  <a:srgbClr val="000000"/>
                </a:solidFill>
                <a:latin typeface="Times New Roman" pitchFamily="18" charset="0"/>
              </a:rPr>
              <a:t>1/10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020E83AC-2B29-42C4-8469-667F233D9EEE}"/>
              </a:ext>
            </a:extLst>
          </p:cNvPr>
          <p:cNvSpPr/>
          <p:nvPr/>
        </p:nvSpPr>
        <p:spPr bwMode="auto">
          <a:xfrm>
            <a:off x="179512" y="1700213"/>
            <a:ext cx="1368152" cy="3698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ChangeArrowheads="1"/>
          </p:cNvSpPr>
          <p:nvPr/>
        </p:nvSpPr>
        <p:spPr bwMode="auto">
          <a:xfrm>
            <a:off x="360363" y="1724015"/>
            <a:ext cx="8424862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609600" indent="-609600" eaLnBrk="1" hangingPunct="1">
              <a:spcAft>
                <a:spcPct val="50000"/>
              </a:spcAft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Un sacco contiene 100 monete di cui 1 ha due teste.</a:t>
            </a:r>
          </a:p>
          <a:p>
            <a:pPr marL="609600" indent="-609600" eaLnBrk="1" hangingPunct="1">
              <a:spcAft>
                <a:spcPct val="50000"/>
              </a:spcAft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Viene estratta a caso una moneta.</a:t>
            </a:r>
          </a:p>
          <a:p>
            <a:pPr marL="609600" indent="-609600" eaLnBrk="1" hangingPunct="1">
              <a:spcAft>
                <a:spcPct val="50000"/>
              </a:spcAft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La moneta viene lanciata 10 volte ottenendo sempre TESTA.</a:t>
            </a:r>
          </a:p>
          <a:p>
            <a:pPr marL="609600" indent="-609600" eaLnBrk="1" hangingPunct="1">
              <a:spcAft>
                <a:spcPct val="50000"/>
              </a:spcAft>
              <a:buFontTx/>
              <a:buAutoNum type="arabicPeriod"/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Quale è la probabilità (</a:t>
            </a:r>
            <a:r>
              <a:rPr lang="it-IT" sz="2400" i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a posteriori</a:t>
            </a: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) che la moneta estratta fosse quella con due teste?</a:t>
            </a:r>
          </a:p>
          <a:p>
            <a:pPr marL="609600" indent="-609600" eaLnBrk="1" hangingPunct="1">
              <a:spcAft>
                <a:spcPct val="50000"/>
              </a:spcAft>
              <a:buFontTx/>
              <a:buAutoNum type="arabicPeriod"/>
              <a:defRPr/>
            </a:pPr>
            <a:r>
              <a:rPr lang="it-IT" sz="2400" dirty="0">
                <a:solidFill>
                  <a:srgbClr val="FF0000"/>
                </a:solidFill>
                <a:latin typeface="Tahoma" pitchFamily="34" charset="0"/>
                <a:cs typeface="Times New Roman" pitchFamily="18" charset="0"/>
              </a:rPr>
              <a:t>NO</a:t>
            </a: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 Quanti lanci bisognerebbe fare (ottenendo sempre TESTA) affinché ….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82E272C-F2E0-482D-98C6-B94B9B4C4E3E}"/>
              </a:ext>
            </a:extLst>
          </p:cNvPr>
          <p:cNvSpPr txBox="1"/>
          <p:nvPr/>
        </p:nvSpPr>
        <p:spPr>
          <a:xfrm>
            <a:off x="6660232" y="54868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Pag. 48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ChangeArrowheads="1"/>
          </p:cNvSpPr>
          <p:nvPr/>
        </p:nvSpPr>
        <p:spPr bwMode="auto">
          <a:xfrm>
            <a:off x="539552" y="1196752"/>
            <a:ext cx="8424862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609600" indent="-609600" eaLnBrk="1" hangingPunct="1">
              <a:spcAft>
                <a:spcPct val="50000"/>
              </a:spcAft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Un sacco contiene 100 monete di cui 1 ha due teste.</a:t>
            </a:r>
          </a:p>
          <a:p>
            <a:pPr marL="609600" indent="-609600" eaLnBrk="1" hangingPunct="1">
              <a:spcAft>
                <a:spcPct val="50000"/>
              </a:spcAft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Viene estratta a caso una moneta.</a:t>
            </a:r>
          </a:p>
          <a:p>
            <a:pPr marL="609600" indent="-609600" eaLnBrk="1" hangingPunct="1">
              <a:spcAft>
                <a:spcPct val="50000"/>
              </a:spcAft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La moneta viene lanciata 10 volte ottenendo sempre TESTA.</a:t>
            </a:r>
          </a:p>
          <a:p>
            <a:pPr marL="609600" indent="-609600" eaLnBrk="1" hangingPunct="1">
              <a:spcAft>
                <a:spcPct val="50000"/>
              </a:spcAft>
              <a:buFontTx/>
              <a:buAutoNum type="arabicPeriod"/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Quale è la probabilità (</a:t>
            </a:r>
            <a:r>
              <a:rPr lang="it-IT" sz="2400" i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a posteriori</a:t>
            </a: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) che la moneta estratta fosse quella con due teste?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82E272C-F2E0-482D-98C6-B94B9B4C4E3E}"/>
              </a:ext>
            </a:extLst>
          </p:cNvPr>
          <p:cNvSpPr txBox="1"/>
          <p:nvPr/>
        </p:nvSpPr>
        <p:spPr>
          <a:xfrm>
            <a:off x="6660232" y="54868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Pag. 48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49E45DC-AE34-47F8-A247-457B9467F359}"/>
                  </a:ext>
                </a:extLst>
              </p:cNvPr>
              <p:cNvSpPr txBox="1"/>
              <p:nvPr/>
            </p:nvSpPr>
            <p:spPr>
              <a:xfrm>
                <a:off x="1187624" y="4077072"/>
                <a:ext cx="2629996" cy="5782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it-IT" sz="2000" i="1">
                          <a:latin typeface="Cambria Math" panose="02040503050406030204" pitchFamily="18" charset="0"/>
                        </a:rPr>
                        <m:t>=0.01</m:t>
                      </m:r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49E45DC-AE34-47F8-A247-457B9467F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4077072"/>
                <a:ext cx="2629996" cy="5782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tangolo 3">
                <a:extLst>
                  <a:ext uri="{FF2B5EF4-FFF2-40B4-BE49-F238E27FC236}">
                    <a16:creationId xmlns:a16="http://schemas.microsoft.com/office/drawing/2014/main" id="{097AB052-7077-40DB-8B22-0A5ACDC3F3FB}"/>
                  </a:ext>
                </a:extLst>
              </p:cNvPr>
              <p:cNvSpPr/>
              <p:nvPr/>
            </p:nvSpPr>
            <p:spPr>
              <a:xfrm>
                <a:off x="1187624" y="5073097"/>
                <a:ext cx="18916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" name="Rettangolo 3">
                <a:extLst>
                  <a:ext uri="{FF2B5EF4-FFF2-40B4-BE49-F238E27FC236}">
                    <a16:creationId xmlns:a16="http://schemas.microsoft.com/office/drawing/2014/main" id="{097AB052-7077-40DB-8B22-0A5ACDC3F3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5073097"/>
                <a:ext cx="1891672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98E123EC-63DF-4883-AD7C-D89B528EEEE8}"/>
                  </a:ext>
                </a:extLst>
              </p:cNvPr>
              <p:cNvSpPr txBox="1"/>
              <p:nvPr/>
            </p:nvSpPr>
            <p:spPr>
              <a:xfrm>
                <a:off x="4499992" y="4077072"/>
                <a:ext cx="2371803" cy="4371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  <m:t>𝑇𝐶</m:t>
                            </m:r>
                          </m:sub>
                        </m:sSub>
                      </m:e>
                    </m:d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99</m:t>
                        </m:r>
                      </m:num>
                      <m:den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it-IT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it-IT" sz="20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2000" dirty="0"/>
                  <a:t>99</a:t>
                </a:r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98E123EC-63DF-4883-AD7C-D89B528EE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992" y="4077072"/>
                <a:ext cx="2371803" cy="437171"/>
              </a:xfrm>
              <a:prstGeom prst="rect">
                <a:avLst/>
              </a:prstGeom>
              <a:blipFill>
                <a:blip r:embed="rId4"/>
                <a:stretch>
                  <a:fillRect t="-4167" r="-5656" b="-180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ttangolo 6">
                <a:extLst>
                  <a:ext uri="{FF2B5EF4-FFF2-40B4-BE49-F238E27FC236}">
                    <a16:creationId xmlns:a16="http://schemas.microsoft.com/office/drawing/2014/main" id="{FADFF43D-4487-4436-8F18-DB8F751BBE46}"/>
                  </a:ext>
                </a:extLst>
              </p:cNvPr>
              <p:cNvSpPr/>
              <p:nvPr/>
            </p:nvSpPr>
            <p:spPr>
              <a:xfrm>
                <a:off x="4427984" y="4869160"/>
                <a:ext cx="3186321" cy="7693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it-IT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1024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7" name="Rettangolo 6">
                <a:extLst>
                  <a:ext uri="{FF2B5EF4-FFF2-40B4-BE49-F238E27FC236}">
                    <a16:creationId xmlns:a16="http://schemas.microsoft.com/office/drawing/2014/main" id="{FADFF43D-4487-4436-8F18-DB8F751BBE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4869160"/>
                <a:ext cx="3186321" cy="7693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86742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ChangeArrowheads="1"/>
          </p:cNvSpPr>
          <p:nvPr/>
        </p:nvSpPr>
        <p:spPr bwMode="auto">
          <a:xfrm>
            <a:off x="360363" y="877888"/>
            <a:ext cx="842486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609600" indent="-609600" algn="ctr" eaLnBrk="1" hangingPunct="1">
              <a:defRPr/>
            </a:pPr>
            <a:r>
              <a:rPr lang="it-IT" sz="24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Quale è la probabilità (</a:t>
            </a:r>
            <a:r>
              <a:rPr lang="it-IT" sz="2400" i="1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a posteriori</a:t>
            </a:r>
            <a:r>
              <a:rPr lang="it-IT" sz="24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) </a:t>
            </a:r>
          </a:p>
          <a:p>
            <a:pPr marL="609600" indent="-609600" algn="ctr" eaLnBrk="1" hangingPunct="1">
              <a:spcAft>
                <a:spcPct val="50000"/>
              </a:spcAft>
              <a:defRPr/>
            </a:pPr>
            <a:r>
              <a:rPr lang="it-IT" sz="24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che la moneta estratta fosse quella con due teste?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9560F22-4AFB-4659-A83B-56F97A4A3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78" y="2901950"/>
            <a:ext cx="8681247" cy="1031106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1C8480C1-DDE0-4908-B9BD-D3C0C54D6DE8}"/>
              </a:ext>
            </a:extLst>
          </p:cNvPr>
          <p:cNvSpPr txBox="1"/>
          <p:nvPr/>
        </p:nvSpPr>
        <p:spPr>
          <a:xfrm>
            <a:off x="1789977" y="4725144"/>
            <a:ext cx="1989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0.912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4D8981C1-710C-49DA-BB04-F9425F4A9678}"/>
              </a:ext>
            </a:extLst>
          </p:cNvPr>
          <p:cNvSpPr/>
          <p:nvPr/>
        </p:nvSpPr>
        <p:spPr>
          <a:xfrm>
            <a:off x="1331640" y="1268760"/>
            <a:ext cx="40334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000" u="sng" dirty="0" err="1">
                <a:latin typeface="-apple-system"/>
              </a:rPr>
              <a:t>PeS</a:t>
            </a:r>
            <a:r>
              <a:rPr lang="it-IT" sz="2000" u="sng" dirty="0">
                <a:latin typeface="-apple-system"/>
              </a:rPr>
              <a:t> 2022 maggio 30 Svolgimento.pdf</a:t>
            </a:r>
            <a:endParaRPr lang="it-IT" sz="2000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3876946A-7BD2-4F95-8119-CF4D38528009}"/>
              </a:ext>
            </a:extLst>
          </p:cNvPr>
          <p:cNvSpPr/>
          <p:nvPr/>
        </p:nvSpPr>
        <p:spPr>
          <a:xfrm>
            <a:off x="1331640" y="2060848"/>
            <a:ext cx="34547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dirty="0" err="1"/>
              <a:t>PeS</a:t>
            </a:r>
            <a:r>
              <a:rPr lang="it-IT" dirty="0"/>
              <a:t> 2019 Svolgimento 10 luglio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472830E7-3221-42F1-A017-5BBA991CB5B2}"/>
              </a:ext>
            </a:extLst>
          </p:cNvPr>
          <p:cNvSpPr/>
          <p:nvPr/>
        </p:nvSpPr>
        <p:spPr>
          <a:xfrm>
            <a:off x="467544" y="3429000"/>
            <a:ext cx="8208912" cy="3039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90" algn="ctr">
              <a:spcBef>
                <a:spcPts val="300"/>
              </a:spcBef>
              <a:spcAft>
                <a:spcPts val="0"/>
              </a:spcAft>
            </a:pPr>
            <a:r>
              <a:rPr lang="it-IT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Probabilità e Statistica – 8 febbraio 2024</a:t>
            </a:r>
            <a:endParaRPr lang="it-IT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6990" algn="just">
              <a:spcBef>
                <a:spcPts val="300"/>
              </a:spcBef>
              <a:spcAft>
                <a:spcPts val="0"/>
              </a:spcAft>
            </a:pPr>
            <a:r>
              <a:rPr lang="it-IT" sz="105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it-IT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6990" algn="just">
              <a:spcBef>
                <a:spcPts val="300"/>
              </a:spcBef>
              <a:spcAft>
                <a:spcPts val="0"/>
              </a:spcAft>
            </a:pPr>
            <a:r>
              <a:rPr lang="it-IT" sz="7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it-IT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SzPts val="1200"/>
              <a:buFont typeface="Times New Roman" panose="02020603050405020304" pitchFamily="18" charset="0"/>
              <a:buAutoNum type="arabicParenR"/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 test per valutare se un soggetto ha assunto una sostanza viene applicato a 400 soggetti, dei quali 30 hanno assunto la sostanza e 370 non hanno assunto la sostanza. Il metodo classifica correttamente come assuntori di sostanza (test positivo) il 96% di coloro che hanno assunto la sostanza; purtroppo classifica come assuntori di sostanza (test positivo) il 10% di coloro che non hanno assunto la sostanza.      Considerando a caso un soggetto, calcolare:</a:t>
            </a:r>
            <a:endParaRPr lang="it-IT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lphaLcParenR"/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 la probabilità che il test sia positivo;</a:t>
            </a:r>
            <a:endParaRPr lang="it-IT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300"/>
              </a:spcAft>
              <a:buFont typeface="+mj-lt"/>
              <a:buAutoNum type="alphaLcParenR"/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 la probabilità che un soggetto con test positivo, non abbia assunto la sostanza.</a:t>
            </a:r>
            <a:endParaRPr lang="it-IT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73AA4E9-8D27-441C-A285-C1693589BFED}"/>
              </a:ext>
            </a:extLst>
          </p:cNvPr>
          <p:cNvSpPr txBox="1"/>
          <p:nvPr/>
        </p:nvSpPr>
        <p:spPr>
          <a:xfrm>
            <a:off x="3203848" y="2924944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Da fare..</a:t>
            </a:r>
          </a:p>
        </p:txBody>
      </p:sp>
    </p:spTree>
    <p:extLst>
      <p:ext uri="{BB962C8B-B14F-4D97-AF65-F5344CB8AC3E}">
        <p14:creationId xmlns:p14="http://schemas.microsoft.com/office/powerpoint/2010/main" val="26126792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472830E7-3221-42F1-A017-5BBA991CB5B2}"/>
              </a:ext>
            </a:extLst>
          </p:cNvPr>
          <p:cNvSpPr/>
          <p:nvPr/>
        </p:nvSpPr>
        <p:spPr>
          <a:xfrm>
            <a:off x="467544" y="733346"/>
            <a:ext cx="8208912" cy="3039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90" algn="ctr">
              <a:spcBef>
                <a:spcPts val="300"/>
              </a:spcBef>
              <a:spcAft>
                <a:spcPts val="0"/>
              </a:spcAft>
            </a:pPr>
            <a:r>
              <a:rPr lang="it-IT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Probabilità e Statistica – 8 febbraio 2024</a:t>
            </a:r>
            <a:endParaRPr lang="it-IT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6990" algn="just">
              <a:spcBef>
                <a:spcPts val="300"/>
              </a:spcBef>
              <a:spcAft>
                <a:spcPts val="0"/>
              </a:spcAft>
            </a:pPr>
            <a:r>
              <a:rPr lang="it-IT" sz="105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it-IT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6990" algn="just">
              <a:spcBef>
                <a:spcPts val="300"/>
              </a:spcBef>
              <a:spcAft>
                <a:spcPts val="0"/>
              </a:spcAft>
            </a:pPr>
            <a:r>
              <a:rPr lang="it-IT" sz="7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it-IT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SzPts val="1200"/>
              <a:buFont typeface="Times New Roman" panose="02020603050405020304" pitchFamily="18" charset="0"/>
              <a:buAutoNum type="arabicParenR"/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 test per valutare se un soggetto ha assunto una sostanza viene applicato a 400 soggetti, dei quali 30 hanno assunto la sostanza e 370 non hanno assunto la sostanza. Il metodo classifica correttamente come assuntori di sostanza (test positivo) il 96% di coloro che hanno assunto la sostanza; purtroppo classifica come assuntori di sostanza (test positivo) il 10% di coloro che non hanno assunto la sostanza.      Considerando a caso un soggetto, calcolare:</a:t>
            </a:r>
            <a:endParaRPr lang="it-IT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lphaLcParenR"/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 la probabilità che il test sia positivo;</a:t>
            </a:r>
            <a:endParaRPr lang="it-IT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300"/>
              </a:spcAft>
              <a:buFont typeface="+mj-lt"/>
              <a:buAutoNum type="alphaLcParenR"/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 la probabilità che un soggetto con test positivo, non abbia assunto la sostanza.</a:t>
            </a:r>
            <a:endParaRPr lang="it-IT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91885ABD-5BEE-4F6B-8336-3ED1BF3DD4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47026"/>
              </p:ext>
            </p:extLst>
          </p:nvPr>
        </p:nvGraphicFramePr>
        <p:xfrm>
          <a:off x="1547664" y="4221088"/>
          <a:ext cx="4752528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1648019458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176680032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427306999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7357767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Sì sostanza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No sostanza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6623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Test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28.8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 37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  65.8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105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Test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334.2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7074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621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66394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472830E7-3221-42F1-A017-5BBA991CB5B2}"/>
              </a:ext>
            </a:extLst>
          </p:cNvPr>
          <p:cNvSpPr/>
          <p:nvPr/>
        </p:nvSpPr>
        <p:spPr>
          <a:xfrm>
            <a:off x="467544" y="733346"/>
            <a:ext cx="82089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600"/>
              </a:spcBef>
              <a:spcAft>
                <a:spcPts val="0"/>
              </a:spcAft>
              <a:buSzPts val="1200"/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Considerando a caso un soggetto, calcolare:</a:t>
            </a:r>
            <a:endParaRPr lang="it-IT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lphaLcParenR"/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 la probabilità che il test sia positivo;</a:t>
            </a:r>
            <a:endParaRPr lang="it-IT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300"/>
              </a:spcAft>
              <a:buFont typeface="+mj-lt"/>
              <a:buAutoNum type="alphaLcParenR"/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 la probabilità che un soggetto con test positivo, non abbia assunto la sostanza.</a:t>
            </a:r>
            <a:endParaRPr lang="it-IT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91885ABD-5BEE-4F6B-8336-3ED1BF3DD4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266495"/>
              </p:ext>
            </p:extLst>
          </p:nvPr>
        </p:nvGraphicFramePr>
        <p:xfrm>
          <a:off x="1763688" y="2132856"/>
          <a:ext cx="4752528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1648019458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176680032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427306999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7357767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Sì sostanza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No sostanza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6623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Test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28.8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 37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  65.8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105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Test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334.2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7074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6212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B879ED3B-BADD-4375-A518-227DD83F22C7}"/>
                  </a:ext>
                </a:extLst>
              </p:cNvPr>
              <p:cNvSpPr txBox="1"/>
              <p:nvPr/>
            </p:nvSpPr>
            <p:spPr>
              <a:xfrm>
                <a:off x="1657472" y="4437112"/>
                <a:ext cx="2914527" cy="3973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𝑇𝑒𝑠𝑡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65.8</m:t>
                        </m:r>
                      </m:num>
                      <m:den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400</m:t>
                        </m:r>
                      </m:den>
                    </m:f>
                  </m:oMath>
                </a14:m>
                <a:r>
                  <a:rPr lang="it-IT" dirty="0"/>
                  <a:t>= 0.1645</a:t>
                </a: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B879ED3B-BADD-4375-A518-227DD83F2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472" y="4437112"/>
                <a:ext cx="2914527" cy="397353"/>
              </a:xfrm>
              <a:prstGeom prst="rect">
                <a:avLst/>
              </a:prstGeom>
              <a:blipFill>
                <a:blip r:embed="rId2"/>
                <a:stretch>
                  <a:fillRect l="-2929" t="-6154" b="-1846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C6976A64-9B55-4DB7-BFD7-E975F9141E91}"/>
                  </a:ext>
                </a:extLst>
              </p:cNvPr>
              <p:cNvSpPr txBox="1"/>
              <p:nvPr/>
            </p:nvSpPr>
            <p:spPr>
              <a:xfrm>
                <a:off x="1657472" y="5445224"/>
                <a:ext cx="4282679" cy="520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𝑁𝑜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𝑠𝑜𝑠𝑡𝑎𝑛𝑧𝑎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𝑇𝑒𝑠𝑡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37</m:t>
                          </m:r>
                        </m:num>
                        <m:den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65.8</m:t>
                          </m:r>
                        </m:den>
                      </m:f>
                      <m:r>
                        <a:rPr lang="it-IT" i="1">
                          <a:latin typeface="Cambria Math" panose="02040503050406030204" pitchFamily="18" charset="0"/>
                        </a:rPr>
                        <m:t>=0.56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C6976A64-9B55-4DB7-BFD7-E975F9141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472" y="5445224"/>
                <a:ext cx="4282679" cy="5204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10037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DA7888C9-7BC7-4BB7-91B7-449016764FC2}"/>
              </a:ext>
            </a:extLst>
          </p:cNvPr>
          <p:cNvSpPr/>
          <p:nvPr/>
        </p:nvSpPr>
        <p:spPr>
          <a:xfrm>
            <a:off x="827584" y="1997839"/>
            <a:ext cx="784887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600"/>
              </a:spcBef>
              <a:spcAft>
                <a:spcPts val="0"/>
              </a:spcAft>
              <a:buSzPts val="1200"/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 algoritmo linguistico in grado di produrre testi simili al linguaggio naturale umano, dopo la parola “il gatto” sceglie con probabilità 0.4 il verbo “è seduto” e con probabilità 0.6 il verbo “dorme”. Se sceglie il verbo “è seduto”, successivamente sceglie con probabilità 0.55 la parola “sul divano” e con probabilità 0.45 la parola “sulla sedia”. Se invece sceglie il verbo “dorme”, successivamente sceglie con probabilità 0.7 la parola “sul divano” e con probabilità 0.3 la parola “sul letto”. </a:t>
            </a:r>
          </a:p>
          <a:p>
            <a:pPr marL="742950" lvl="1" indent="-285750" algn="just">
              <a:spcAft>
                <a:spcPts val="0"/>
              </a:spcAft>
              <a:buFont typeface="+mj-lt"/>
              <a:buAutoNum type="alphaLcParenR"/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Calcolare la probabilità che la frase finale composta dall’algoritmo sia “il gatto è seduto sul divano”.</a:t>
            </a:r>
          </a:p>
          <a:p>
            <a:pPr marL="742950" lvl="1" indent="-285750" algn="just">
              <a:spcAft>
                <a:spcPts val="0"/>
              </a:spcAft>
              <a:buFont typeface="+mj-lt"/>
              <a:buAutoNum type="alphaLcParenR"/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Calcolare la probabilità che la frase finale composta dall’algoritmo si concluda con “sul divano”.</a:t>
            </a:r>
          </a:p>
          <a:p>
            <a:pPr marL="742950" lvl="1" indent="-285750" algn="just">
              <a:spcAft>
                <a:spcPts val="600"/>
              </a:spcAft>
              <a:buFont typeface="+mj-lt"/>
              <a:buAutoNum type="alphaLcParenR"/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 la frase finale composta dall’algoritmo si conclude con “sul divano”, calcolare la probabilità che la frase finale composta dall’algoritmo sia “il gatto è seduto sul divano”.  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17FEEE2A-CAC1-4020-8D07-7E104F34D503}"/>
              </a:ext>
            </a:extLst>
          </p:cNvPr>
          <p:cNvSpPr/>
          <p:nvPr/>
        </p:nvSpPr>
        <p:spPr>
          <a:xfrm>
            <a:off x="2195736" y="880225"/>
            <a:ext cx="4280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6990" algn="ctr">
              <a:spcBef>
                <a:spcPts val="600"/>
              </a:spcBef>
              <a:spcAft>
                <a:spcPts val="0"/>
              </a:spcAft>
            </a:pPr>
            <a:r>
              <a:rPr lang="it-IT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Probabilità e Statistica – 17 gennaio 2024</a:t>
            </a:r>
            <a:endParaRPr lang="it-IT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0919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5D92E94F-9C2D-43DB-9B67-D7B8AA3DF849}"/>
              </a:ext>
            </a:extLst>
          </p:cNvPr>
          <p:cNvSpPr/>
          <p:nvPr/>
        </p:nvSpPr>
        <p:spPr>
          <a:xfrm>
            <a:off x="2123728" y="2132856"/>
            <a:ext cx="24208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000" dirty="0"/>
              <a:t>Fate il nostro gioco 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C4915664-89AE-41FF-9817-2A3B7A694C1D}"/>
              </a:ext>
            </a:extLst>
          </p:cNvPr>
          <p:cNvSpPr/>
          <p:nvPr/>
        </p:nvSpPr>
        <p:spPr>
          <a:xfrm>
            <a:off x="2123728" y="2780928"/>
            <a:ext cx="335226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dirty="0">
                <a:hlinkClick r:id="rId2"/>
              </a:rPr>
              <a:t>https://www.fateilnostrogioco.it/</a:t>
            </a:r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38B21446-B7D2-41DE-A5E5-280CFB87F366}"/>
              </a:ext>
            </a:extLst>
          </p:cNvPr>
          <p:cNvSpPr/>
          <p:nvPr/>
        </p:nvSpPr>
        <p:spPr>
          <a:xfrm>
            <a:off x="2123728" y="4171147"/>
            <a:ext cx="31045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t"/>
            <a:r>
              <a:rPr lang="it-IT" altLang="it-IT" dirty="0">
                <a:solidFill>
                  <a:srgbClr val="EEEEEE"/>
                </a:solidFill>
                <a:latin typeface="YouTube Noto"/>
                <a:hlinkClick r:id="rId3"/>
              </a:rPr>
              <a:t>GAMING: i trucchi del mestiere</a:t>
            </a:r>
            <a:endParaRPr lang="it-IT" altLang="it-IT" dirty="0">
              <a:solidFill>
                <a:srgbClr val="EEEEEE"/>
              </a:solidFill>
              <a:latin typeface="YouTube Noto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BF78627-4482-43EE-8166-B42F877EE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3728" y="3789040"/>
            <a:ext cx="619268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YouTube Noto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Lastampa.it - la matematica del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YouTube Noto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gratta&amp;vinci</a:t>
            </a: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YouTube No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YouTube Noto"/>
              </a:rPr>
              <a:t/>
            </a:r>
            <a:b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YouTube Noto"/>
              </a:rPr>
            </a:b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6525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80443F16-BCF9-4D8E-A236-5A34F78D50DF}"/>
              </a:ext>
            </a:extLst>
          </p:cNvPr>
          <p:cNvSpPr txBox="1"/>
          <p:nvPr/>
        </p:nvSpPr>
        <p:spPr>
          <a:xfrm>
            <a:off x="3995936" y="342900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Fine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679195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1" name="Object 6"/>
          <p:cNvGraphicFramePr>
            <a:graphicFrameLocks noChangeAspect="1"/>
          </p:cNvGraphicFramePr>
          <p:nvPr/>
        </p:nvGraphicFramePr>
        <p:xfrm>
          <a:off x="2324894" y="2780928"/>
          <a:ext cx="4494213" cy="236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4" name="Equation" r:id="rId3" imgW="1600200" imgH="825480" progId="">
                  <p:embed/>
                </p:oleObj>
              </mc:Choice>
              <mc:Fallback>
                <p:oleObj name="Equation" r:id="rId3" imgW="1600200" imgH="82548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894" y="2780928"/>
                        <a:ext cx="4494213" cy="236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10" name="Rectangle 2"/>
          <p:cNvSpPr>
            <a:spLocks noChangeArrowheads="1"/>
          </p:cNvSpPr>
          <p:nvPr/>
        </p:nvSpPr>
        <p:spPr bwMode="auto">
          <a:xfrm>
            <a:off x="360363" y="319555"/>
            <a:ext cx="8424862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609600" indent="-609600" algn="ctr" eaLnBrk="1" hangingPunct="1">
              <a:defRPr/>
            </a:pPr>
            <a:r>
              <a:rPr lang="it-IT" sz="2400" dirty="0">
                <a:solidFill>
                  <a:srgbClr val="FF0000"/>
                </a:solidFill>
                <a:latin typeface="Tahoma" pitchFamily="34" charset="0"/>
                <a:cs typeface="Times New Roman" pitchFamily="18" charset="0"/>
              </a:rPr>
              <a:t>NO</a:t>
            </a: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 Quanti lanci bisognerebbe fare (ottenendo sempre TESTA)</a:t>
            </a:r>
          </a:p>
          <a:p>
            <a:pPr marL="609600" indent="-609600" algn="ctr" eaLnBrk="1" hangingPunct="1"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affinché la probabilità </a:t>
            </a:r>
            <a:r>
              <a:rPr lang="it-IT" sz="2400" i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a posteriori</a:t>
            </a: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 </a:t>
            </a:r>
          </a:p>
          <a:p>
            <a:pPr marL="609600" indent="-609600" algn="ctr" eaLnBrk="1" hangingPunct="1"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(che la moneta estratta fosse quella con due teste) </a:t>
            </a:r>
          </a:p>
          <a:p>
            <a:pPr marL="609600" indent="-609600" algn="ctr" eaLnBrk="1" hangingPunct="1"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diventi 0.9 (o  più)?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1" name="Object 6"/>
          <p:cNvGraphicFramePr>
            <a:graphicFrameLocks noChangeAspect="1"/>
          </p:cNvGraphicFramePr>
          <p:nvPr/>
        </p:nvGraphicFramePr>
        <p:xfrm>
          <a:off x="2216944" y="836712"/>
          <a:ext cx="4710112" cy="138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13" name="Equation" r:id="rId3" imgW="1676160" imgH="469800" progId="">
                  <p:embed/>
                </p:oleObj>
              </mc:Choice>
              <mc:Fallback>
                <p:oleObj name="Equation" r:id="rId3" imgW="1676160" imgH="4698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944" y="836712"/>
                        <a:ext cx="4710112" cy="1385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6"/>
          <p:cNvGraphicFramePr>
            <a:graphicFrameLocks noChangeAspect="1"/>
          </p:cNvGraphicFramePr>
          <p:nvPr/>
        </p:nvGraphicFramePr>
        <p:xfrm>
          <a:off x="2221707" y="2924944"/>
          <a:ext cx="4700587" cy="140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14" name="Equation" r:id="rId5" imgW="1625400" imgH="469800" progId="">
                  <p:embed/>
                </p:oleObj>
              </mc:Choice>
              <mc:Fallback>
                <p:oleObj name="Equation" r:id="rId5" imgW="1625400" imgH="46980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1707" y="2924944"/>
                        <a:ext cx="4700587" cy="1401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/>
        </p:nvGraphicFramePr>
        <p:xfrm>
          <a:off x="2767807" y="4869160"/>
          <a:ext cx="3608387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15" name="Equation" r:id="rId7" imgW="1244520" imgH="469800" progId="">
                  <p:embed/>
                </p:oleObj>
              </mc:Choice>
              <mc:Fallback>
                <p:oleObj name="Equation" r:id="rId7" imgW="1244520" imgH="46980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7807" y="4869160"/>
                        <a:ext cx="3608387" cy="1392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/>
          <p:cNvGraphicFramePr>
            <a:graphicFrameLocks noChangeAspect="1"/>
          </p:cNvGraphicFramePr>
          <p:nvPr/>
        </p:nvGraphicFramePr>
        <p:xfrm>
          <a:off x="2767807" y="1052736"/>
          <a:ext cx="3608387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38" name="Equation" r:id="rId3" imgW="1244520" imgH="469800" progId="">
                  <p:embed/>
                </p:oleObj>
              </mc:Choice>
              <mc:Fallback>
                <p:oleObj name="Equation" r:id="rId3" imgW="1244520" imgH="4698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7807" y="1052736"/>
                        <a:ext cx="3608387" cy="1392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/>
        </p:nvGraphicFramePr>
        <p:xfrm>
          <a:off x="2655094" y="4783138"/>
          <a:ext cx="3833812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39" name="Equation" r:id="rId5" imgW="1320480" imgH="469800" progId="">
                  <p:embed/>
                </p:oleObj>
              </mc:Choice>
              <mc:Fallback>
                <p:oleObj name="Equation" r:id="rId5" imgW="1320480" imgH="46980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094" y="4783138"/>
                        <a:ext cx="3833812" cy="1495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3517900" y="2822500"/>
          <a:ext cx="2108200" cy="139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0" name="Equation" r:id="rId7" imgW="723600" imgH="469800" progId="">
                  <p:embed/>
                </p:oleObj>
              </mc:Choice>
              <mc:Fallback>
                <p:oleObj name="Equation" r:id="rId7" imgW="723600" imgH="46980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2822500"/>
                        <a:ext cx="2108200" cy="1398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2566988" y="819150"/>
          <a:ext cx="4010025" cy="142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26" name="Equation" r:id="rId3" imgW="1371600" imgH="431640" progId="">
                  <p:embed/>
                </p:oleObj>
              </mc:Choice>
              <mc:Fallback>
                <p:oleObj name="Equation" r:id="rId3" imgW="1371600" imgH="43164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819150"/>
                        <a:ext cx="4010025" cy="1420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3239294" y="2996952"/>
          <a:ext cx="2665412" cy="292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27" name="Equation" r:id="rId5" imgW="901440" imgH="838080" progId="">
                  <p:embed/>
                </p:oleObj>
              </mc:Choice>
              <mc:Fallback>
                <p:oleObj name="Equation" r:id="rId5" imgW="901440" imgH="83808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9294" y="2996952"/>
                        <a:ext cx="2665412" cy="2924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ChangeArrowheads="1"/>
          </p:cNvSpPr>
          <p:nvPr/>
        </p:nvSpPr>
        <p:spPr bwMode="auto">
          <a:xfrm>
            <a:off x="360363" y="512763"/>
            <a:ext cx="8424862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609600" indent="-609600" algn="ctr" eaLnBrk="1" hangingPunct="1">
              <a:defRPr/>
            </a:pPr>
            <a:r>
              <a:rPr lang="it-IT" sz="24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Quanti lanci bisognerebbe fare (ottenendo sempre TESTA)</a:t>
            </a:r>
          </a:p>
          <a:p>
            <a:pPr marL="609600" indent="-609600" algn="ctr" eaLnBrk="1" hangingPunct="1">
              <a:defRPr/>
            </a:pPr>
            <a:r>
              <a:rPr lang="it-IT" sz="24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affinché la probabilità </a:t>
            </a:r>
            <a:r>
              <a:rPr lang="it-IT" sz="2400" i="1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a posteriori</a:t>
            </a:r>
            <a:r>
              <a:rPr lang="it-IT" sz="24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 </a:t>
            </a:r>
          </a:p>
          <a:p>
            <a:pPr marL="609600" indent="-609600" algn="ctr" eaLnBrk="1" hangingPunct="1">
              <a:defRPr/>
            </a:pPr>
            <a:r>
              <a:rPr lang="it-IT" sz="24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(che la moneta estratta fosse quella con due teste) </a:t>
            </a:r>
          </a:p>
          <a:p>
            <a:pPr marL="609600" indent="-609600" algn="ctr" eaLnBrk="1" hangingPunct="1">
              <a:defRPr/>
            </a:pPr>
            <a:r>
              <a:rPr lang="it-IT" sz="24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diventi 0.9 (o  più)?</a:t>
            </a:r>
          </a:p>
        </p:txBody>
      </p:sp>
      <p:graphicFrame>
        <p:nvGraphicFramePr>
          <p:cNvPr id="63493" name="Object 3"/>
          <p:cNvGraphicFramePr>
            <a:graphicFrameLocks noChangeAspect="1"/>
          </p:cNvGraphicFramePr>
          <p:nvPr/>
        </p:nvGraphicFramePr>
        <p:xfrm>
          <a:off x="2841625" y="3198813"/>
          <a:ext cx="3460750" cy="120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08" name="Equation" r:id="rId3" imgW="1231560" imgH="431640" progId="">
                  <p:embed/>
                </p:oleObj>
              </mc:Choice>
              <mc:Fallback>
                <p:oleObj name="Equation" r:id="rId3" imgW="1231560" imgH="43164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625" y="3198813"/>
                        <a:ext cx="3460750" cy="1201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ChangeArrowheads="1"/>
          </p:cNvSpPr>
          <p:nvPr/>
        </p:nvSpPr>
        <p:spPr bwMode="auto">
          <a:xfrm>
            <a:off x="533400" y="404813"/>
            <a:ext cx="7772400" cy="593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altLang="it-IT" sz="2400" b="1">
                <a:solidFill>
                  <a:srgbClr val="000000"/>
                </a:solidFill>
                <a:latin typeface="Courier New" pitchFamily="49" charset="0"/>
              </a:rPr>
              <a:t>&gt; n &lt;- c(1:20)</a:t>
            </a:r>
          </a:p>
          <a:p>
            <a:r>
              <a:rPr lang="pt-BR" altLang="it-IT" sz="2400" b="1">
                <a:solidFill>
                  <a:srgbClr val="000000"/>
                </a:solidFill>
                <a:latin typeface="Courier New" pitchFamily="49" charset="0"/>
              </a:rPr>
              <a:t>&gt; num &lt;- 1/100</a:t>
            </a:r>
          </a:p>
          <a:p>
            <a:r>
              <a:rPr lang="pt-BR" altLang="it-IT" sz="2400" b="1">
                <a:solidFill>
                  <a:srgbClr val="000000"/>
                </a:solidFill>
                <a:latin typeface="Courier New" pitchFamily="49" charset="0"/>
              </a:rPr>
              <a:t>&gt; den &lt;- 1/100 + 99/100 * (1/2)^n</a:t>
            </a:r>
          </a:p>
          <a:p>
            <a:r>
              <a:rPr lang="pt-BR" altLang="it-IT" sz="2400" b="1">
                <a:solidFill>
                  <a:srgbClr val="000000"/>
                </a:solidFill>
                <a:latin typeface="Courier New" pitchFamily="49" charset="0"/>
              </a:rPr>
              <a:t>&gt; p &lt;- num/den</a:t>
            </a:r>
          </a:p>
          <a:p>
            <a:r>
              <a:rPr lang="pt-BR" altLang="it-IT" sz="2400" b="1">
                <a:solidFill>
                  <a:srgbClr val="000000"/>
                </a:solidFill>
                <a:latin typeface="Courier New" pitchFamily="49" charset="0"/>
              </a:rPr>
              <a:t>&gt; cbind(n,p)</a:t>
            </a:r>
          </a:p>
          <a:p>
            <a:r>
              <a:rPr lang="pt-BR" altLang="it-IT" sz="2400" b="1">
                <a:solidFill>
                  <a:srgbClr val="000000"/>
                </a:solidFill>
                <a:latin typeface="Courier New" pitchFamily="49" charset="0"/>
              </a:rPr>
              <a:t>       n          p</a:t>
            </a:r>
          </a:p>
          <a:p>
            <a:r>
              <a:rPr lang="pt-BR" altLang="it-IT" sz="2400" b="1">
                <a:solidFill>
                  <a:srgbClr val="000000"/>
                </a:solidFill>
                <a:latin typeface="Courier New" pitchFamily="49" charset="0"/>
              </a:rPr>
              <a:t> [1,]  1 0.01980198</a:t>
            </a:r>
          </a:p>
          <a:p>
            <a:r>
              <a:rPr lang="pt-BR" altLang="it-IT" sz="2400" b="1">
                <a:solidFill>
                  <a:srgbClr val="000000"/>
                </a:solidFill>
                <a:latin typeface="Courier New" pitchFamily="49" charset="0"/>
              </a:rPr>
              <a:t> [2,]  2 0.03883495</a:t>
            </a:r>
          </a:p>
          <a:p>
            <a:r>
              <a:rPr lang="pt-BR" altLang="it-IT" sz="2400" b="1">
                <a:solidFill>
                  <a:srgbClr val="000000"/>
                </a:solidFill>
                <a:latin typeface="Courier New" pitchFamily="49" charset="0"/>
              </a:rPr>
              <a:t> [3,]  3 0.07476636</a:t>
            </a:r>
          </a:p>
          <a:p>
            <a:r>
              <a:rPr lang="pt-BR" altLang="it-IT" sz="2400" b="1">
                <a:solidFill>
                  <a:srgbClr val="000000"/>
                </a:solidFill>
                <a:latin typeface="Courier New" pitchFamily="49" charset="0"/>
              </a:rPr>
              <a:t> [4,]  4 0.13913043</a:t>
            </a:r>
          </a:p>
          <a:p>
            <a:r>
              <a:rPr lang="pt-BR" altLang="it-IT" sz="2400" b="1">
                <a:solidFill>
                  <a:srgbClr val="000000"/>
                </a:solidFill>
                <a:latin typeface="Courier New" pitchFamily="49" charset="0"/>
              </a:rPr>
              <a:t> [5,]  5 0.24427481</a:t>
            </a:r>
          </a:p>
          <a:p>
            <a:r>
              <a:rPr lang="pt-BR" altLang="it-IT" sz="2400" b="1">
                <a:solidFill>
                  <a:srgbClr val="000000"/>
                </a:solidFill>
                <a:latin typeface="Courier New" pitchFamily="49" charset="0"/>
              </a:rPr>
              <a:t> [6,]  6 0.39263804</a:t>
            </a:r>
          </a:p>
          <a:p>
            <a:r>
              <a:rPr lang="pt-BR" altLang="it-IT" sz="2400" b="1">
                <a:solidFill>
                  <a:srgbClr val="000000"/>
                </a:solidFill>
                <a:latin typeface="Courier New" pitchFamily="49" charset="0"/>
              </a:rPr>
              <a:t> [7,]  7 0.56387665</a:t>
            </a:r>
          </a:p>
          <a:p>
            <a:r>
              <a:rPr lang="pt-BR" altLang="it-IT" sz="2400" b="1">
                <a:solidFill>
                  <a:srgbClr val="000000"/>
                </a:solidFill>
                <a:latin typeface="Courier New" pitchFamily="49" charset="0"/>
              </a:rPr>
              <a:t> [8,]  8 0.72112676</a:t>
            </a:r>
          </a:p>
          <a:p>
            <a:r>
              <a:rPr lang="pt-BR" altLang="it-IT" sz="2400" b="1">
                <a:solidFill>
                  <a:srgbClr val="000000"/>
                </a:solidFill>
                <a:latin typeface="Courier New" pitchFamily="49" charset="0"/>
              </a:rPr>
              <a:t> [9,]  9 0.83797054</a:t>
            </a:r>
          </a:p>
          <a:p>
            <a:r>
              <a:rPr lang="pt-BR" altLang="it-IT" sz="2400" b="1">
                <a:solidFill>
                  <a:srgbClr val="000000"/>
                </a:solidFill>
                <a:latin typeface="Courier New" pitchFamily="49" charset="0"/>
              </a:rPr>
              <a:t>[10,] 10 0.91184328</a:t>
            </a:r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7984" y="2132856"/>
            <a:ext cx="4500066" cy="4493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7263" y="1519238"/>
            <a:ext cx="7229475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990725"/>
            <a:ext cx="7315200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1075" y="2386013"/>
            <a:ext cx="7181850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2025" y="1738313"/>
            <a:ext cx="7219950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/>
        </p:nvSpPr>
        <p:spPr bwMode="auto">
          <a:xfrm>
            <a:off x="971600" y="3861048"/>
            <a:ext cx="7272808" cy="165618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Rettangolo 3"/>
          <p:cNvSpPr/>
          <p:nvPr/>
        </p:nvSpPr>
        <p:spPr bwMode="auto">
          <a:xfrm>
            <a:off x="179512" y="3789040"/>
            <a:ext cx="8964488" cy="9361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137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8213" y="1167383"/>
            <a:ext cx="7267575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3493" name="Object 3"/>
          <p:cNvGraphicFramePr>
            <a:graphicFrameLocks noChangeAspect="1"/>
          </p:cNvGraphicFramePr>
          <p:nvPr/>
        </p:nvGraphicFramePr>
        <p:xfrm>
          <a:off x="2645569" y="4315494"/>
          <a:ext cx="3852862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423" name="Equation" r:id="rId4" imgW="1371600" imgH="431640" progId="">
                  <p:embed/>
                </p:oleObj>
              </mc:Choice>
              <mc:Fallback>
                <p:oleObj name="Equation" r:id="rId4" imgW="1371600" imgH="43164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5569" y="4315494"/>
                        <a:ext cx="3852862" cy="1201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8" y="2575520"/>
            <a:ext cx="8886825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6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3450" y="836712"/>
            <a:ext cx="7277100" cy="139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4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88" y="404813"/>
            <a:ext cx="9115425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7650" name="Object 3"/>
          <p:cNvGraphicFramePr>
            <a:graphicFrameLocks noChangeAspect="1"/>
          </p:cNvGraphicFramePr>
          <p:nvPr/>
        </p:nvGraphicFramePr>
        <p:xfrm>
          <a:off x="2168525" y="2852738"/>
          <a:ext cx="1347788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2" name="Equazione" r:id="rId4" imgW="660113" imgH="393529" progId="">
                  <p:embed/>
                </p:oleObj>
              </mc:Choice>
              <mc:Fallback>
                <p:oleObj name="Equazione" r:id="rId4" imgW="660113" imgH="393529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525" y="2852738"/>
                        <a:ext cx="1347788" cy="804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5132388" y="2871788"/>
          <a:ext cx="181610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3" name="Equazione" r:id="rId6" imgW="888614" imgH="393529" progId="">
                  <p:embed/>
                </p:oleObj>
              </mc:Choice>
              <mc:Fallback>
                <p:oleObj name="Equazione" r:id="rId6" imgW="888614" imgH="393529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2388" y="2871788"/>
                        <a:ext cx="1816100" cy="804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1331913" y="3933825"/>
          <a:ext cx="674687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4" name="Equazione" r:id="rId8" imgW="3302000" imgH="393700" progId="">
                  <p:embed/>
                </p:oleObj>
              </mc:Choice>
              <mc:Fallback>
                <p:oleObj name="Equazione" r:id="rId8" imgW="3302000" imgH="3937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933825"/>
                        <a:ext cx="6746875" cy="806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"/>
          <p:cNvGraphicFramePr>
            <a:graphicFrameLocks noChangeAspect="1"/>
          </p:cNvGraphicFramePr>
          <p:nvPr/>
        </p:nvGraphicFramePr>
        <p:xfrm>
          <a:off x="1981200" y="4910138"/>
          <a:ext cx="5346700" cy="156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5" name="Equazione" r:id="rId10" imgW="2616200" imgH="762000" progId="">
                  <p:embed/>
                </p:oleObj>
              </mc:Choice>
              <mc:Fallback>
                <p:oleObj name="Equazione" r:id="rId10" imgW="2616200" imgH="76200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910138"/>
                        <a:ext cx="5346700" cy="1560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026" name="Immagine 2" descr="Immagin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3013" y="1431925"/>
            <a:ext cx="6657975" cy="399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050" name="Immagine 1" descr="Immagin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1588" y="1449388"/>
            <a:ext cx="6600825" cy="395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1026"/>
          <p:cNvSpPr>
            <a:spLocks noChangeArrowheads="1"/>
          </p:cNvSpPr>
          <p:nvPr/>
        </p:nvSpPr>
        <p:spPr bwMode="auto">
          <a:xfrm>
            <a:off x="468313" y="1374775"/>
            <a:ext cx="8064500" cy="410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609600" indent="-609600" eaLnBrk="1" hangingPunct="1">
              <a:defRPr/>
            </a:pPr>
            <a:r>
              <a:rPr lang="it-IT" sz="2400" b="1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Esercizio 3.32.</a:t>
            </a:r>
            <a:r>
              <a:rPr lang="it-IT" sz="24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 Presso due banche, indicate con </a:t>
            </a:r>
            <a:r>
              <a:rPr lang="it-IT" sz="2400" i="1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A</a:t>
            </a:r>
            <a:r>
              <a:rPr lang="it-IT" sz="24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 e </a:t>
            </a:r>
            <a:r>
              <a:rPr lang="it-IT" sz="2400" i="1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B</a:t>
            </a:r>
            <a:r>
              <a:rPr lang="it-IT" sz="24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, è possibile effettuare le operazioni </a:t>
            </a:r>
            <a:r>
              <a:rPr lang="it-IT" sz="2400" i="1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O</a:t>
            </a:r>
            <a:r>
              <a:rPr lang="it-IT" sz="2400" i="1" baseline="-250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1</a:t>
            </a:r>
            <a:r>
              <a:rPr lang="it-IT" sz="24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 e </a:t>
            </a:r>
            <a:r>
              <a:rPr lang="it-IT" sz="2400" i="1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O</a:t>
            </a:r>
            <a:r>
              <a:rPr lang="it-IT" sz="2400" i="1" baseline="-250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2</a:t>
            </a:r>
            <a:r>
              <a:rPr lang="it-IT" sz="24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. La probabilità che un cliente effettui l’operazione </a:t>
            </a:r>
            <a:r>
              <a:rPr lang="it-IT" sz="2400" i="1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O</a:t>
            </a:r>
            <a:r>
              <a:rPr lang="it-IT" sz="2400" i="1" baseline="-250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1</a:t>
            </a:r>
            <a:r>
              <a:rPr lang="it-IT" sz="24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 nella banca </a:t>
            </a:r>
            <a:r>
              <a:rPr lang="it-IT" sz="2400" i="1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A</a:t>
            </a:r>
            <a:r>
              <a:rPr lang="it-IT" sz="24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 è 1/6, mentre la probabilità che un cliente effettui l’operazione </a:t>
            </a:r>
            <a:r>
              <a:rPr lang="it-IT" sz="2400" i="1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O</a:t>
            </a:r>
            <a:r>
              <a:rPr lang="it-IT" sz="2400" i="1" baseline="-250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1</a:t>
            </a:r>
            <a:r>
              <a:rPr lang="it-IT" sz="24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 nella banca </a:t>
            </a:r>
            <a:r>
              <a:rPr lang="it-IT" sz="2400" i="1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B</a:t>
            </a:r>
            <a:r>
              <a:rPr lang="it-IT" sz="24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 è 1/4. Per ragioni di dislocazione territoriale, la probabilità che un cliente scelga la banca </a:t>
            </a:r>
            <a:r>
              <a:rPr lang="it-IT" sz="2400" i="1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A</a:t>
            </a:r>
            <a:r>
              <a:rPr lang="it-IT" sz="24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 è 2/3 e la probabilità che un cliente scelga la banca </a:t>
            </a:r>
            <a:r>
              <a:rPr lang="it-IT" sz="2400" i="1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B</a:t>
            </a:r>
            <a:r>
              <a:rPr lang="it-IT" sz="24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 è 1/3. Sapendo che un cliente ha effettuato l’operazione </a:t>
            </a:r>
            <a:r>
              <a:rPr lang="it-IT" sz="2400" i="1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O</a:t>
            </a:r>
            <a:r>
              <a:rPr lang="it-IT" sz="2400" i="1" baseline="-250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1</a:t>
            </a:r>
            <a:r>
              <a:rPr lang="it-IT" sz="24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, calcolare la probabilità che l’operazione sia stata effettuata presso la banca </a:t>
            </a:r>
            <a:r>
              <a:rPr lang="it-IT" sz="2400" i="1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B</a:t>
            </a:r>
            <a:r>
              <a:rPr lang="it-IT" sz="24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81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925" y="2744788"/>
            <a:ext cx="9109075" cy="149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83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38" y="2533650"/>
            <a:ext cx="9136062" cy="191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8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588" y="2466975"/>
            <a:ext cx="9145588" cy="197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Struttura predefinita">
  <a:themeElements>
    <a:clrScheme name="Struttura predefinita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uttura predefinit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accent1">
              <a:gamma/>
              <a:shade val="60000"/>
              <a:invGamma/>
            </a:schemeClr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accent1">
              <a:gamma/>
              <a:shade val="60000"/>
              <a:invGamma/>
            </a:schemeClr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5_Struttura predefinita">
  <a:themeElements>
    <a:clrScheme name="Struttura predefinita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uttura predefinit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accent1">
              <a:gamma/>
              <a:shade val="60000"/>
              <a:invGamma/>
            </a:schemeClr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accent1">
              <a:gamma/>
              <a:shade val="60000"/>
              <a:invGamma/>
            </a:schemeClr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7_Struttura predefinita">
  <a:themeElements>
    <a:clrScheme name="Struttura predefinita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uttura predefinit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accent1">
              <a:gamma/>
              <a:shade val="60000"/>
              <a:invGamma/>
            </a:schemeClr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accent1">
              <a:gamma/>
              <a:shade val="60000"/>
              <a:invGamma/>
            </a:schemeClr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8_Struttura predefinita">
  <a:themeElements>
    <a:clrScheme name="1_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Struttura predefinita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accent1">
              <a:gamma/>
              <a:shade val="60000"/>
              <a:invGamma/>
            </a:schemeClr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accent1">
              <a:gamma/>
              <a:shade val="60000"/>
              <a:invGamma/>
            </a:schemeClr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 predefini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 predefini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 predefini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 predefini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 predefini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 predefini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71_Struttura predefinita">
  <a:themeElements>
    <a:clrScheme name="71_Struttura predefinita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71_Struttura predefinita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71_Struttura predefinit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1_Struttura predefinit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1_Struttura predefinit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1_Struttura predefinit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1_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1_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1_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1977</TotalTime>
  <Words>2002</Words>
  <Application>Microsoft Office PowerPoint</Application>
  <PresentationFormat>Presentazione su schermo (4:3)</PresentationFormat>
  <Paragraphs>264</Paragraphs>
  <Slides>52</Slides>
  <Notes>3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5</vt:i4>
      </vt:variant>
      <vt:variant>
        <vt:lpstr>Server OLE incorporati</vt:lpstr>
      </vt:variant>
      <vt:variant>
        <vt:i4>2</vt:i4>
      </vt:variant>
      <vt:variant>
        <vt:lpstr>Titoli diapositive</vt:lpstr>
      </vt:variant>
      <vt:variant>
        <vt:i4>52</vt:i4>
      </vt:variant>
    </vt:vector>
  </HeadingPairs>
  <TitlesOfParts>
    <vt:vector size="67" baseType="lpstr">
      <vt:lpstr>-apple-system</vt:lpstr>
      <vt:lpstr>Arial</vt:lpstr>
      <vt:lpstr>Cambria Math</vt:lpstr>
      <vt:lpstr>Courier New</vt:lpstr>
      <vt:lpstr>Symbol</vt:lpstr>
      <vt:lpstr>Tahoma</vt:lpstr>
      <vt:lpstr>Times New Roman</vt:lpstr>
      <vt:lpstr>YouTube Noto</vt:lpstr>
      <vt:lpstr>2_Struttura predefinita</vt:lpstr>
      <vt:lpstr>5_Struttura predefinita</vt:lpstr>
      <vt:lpstr>7_Struttura predefinita</vt:lpstr>
      <vt:lpstr>8_Struttura predefinita</vt:lpstr>
      <vt:lpstr>71_Struttura predefinita</vt:lpstr>
      <vt:lpstr>Equazione</vt:lpstr>
      <vt:lpstr>Equation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Teorema di Bayes (pagina 50)</vt:lpstr>
      <vt:lpstr>Il teorema di Bayes</vt:lpstr>
      <vt:lpstr>Metodo  delle  frequenze  naturali</vt:lpstr>
      <vt:lpstr>Presentazione standard di PowerPoint</vt:lpstr>
      <vt:lpstr>Presentazione standard di PowerPoint</vt:lpstr>
      <vt:lpstr>Esercizi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Utente UNITN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rocco.micciolo</dc:creator>
  <cp:lastModifiedBy>Canal, Luisa</cp:lastModifiedBy>
  <cp:revision>298</cp:revision>
  <cp:lastPrinted>2018-12-13T07:16:45Z</cp:lastPrinted>
  <dcterms:created xsi:type="dcterms:W3CDTF">2010-02-03T14:41:20Z</dcterms:created>
  <dcterms:modified xsi:type="dcterms:W3CDTF">2026-02-24T16:36:14Z</dcterms:modified>
</cp:coreProperties>
</file>