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938" r:id="rId3"/>
  </p:sldMasterIdLst>
  <p:notesMasterIdLst>
    <p:notesMasterId r:id="rId18"/>
  </p:notesMasterIdLst>
  <p:handoutMasterIdLst>
    <p:handoutMasterId r:id="rId19"/>
  </p:handoutMasterIdLst>
  <p:sldIdLst>
    <p:sldId id="509" r:id="rId4"/>
    <p:sldId id="270" r:id="rId5"/>
    <p:sldId id="597" r:id="rId6"/>
    <p:sldId id="598" r:id="rId7"/>
    <p:sldId id="599" r:id="rId8"/>
    <p:sldId id="600" r:id="rId9"/>
    <p:sldId id="605" r:id="rId10"/>
    <p:sldId id="604" r:id="rId11"/>
    <p:sldId id="601" r:id="rId12"/>
    <p:sldId id="606" r:id="rId13"/>
    <p:sldId id="602" r:id="rId14"/>
    <p:sldId id="607" r:id="rId15"/>
    <p:sldId id="603" r:id="rId16"/>
    <p:sldId id="608" r:id="rId17"/>
  </p:sldIdLst>
  <p:sldSz cx="9144000" cy="6858000" type="screen4x3"/>
  <p:notesSz cx="7099300" cy="10234613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2" autoAdjust="0"/>
    <p:restoredTop sz="94651" autoAdjust="0"/>
  </p:normalViewPr>
  <p:slideViewPr>
    <p:cSldViewPr>
      <p:cViewPr varScale="1">
        <p:scale>
          <a:sx n="82" d="100"/>
          <a:sy n="82" d="100"/>
        </p:scale>
        <p:origin x="190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30585122-6441-4912-8666-8E321B27CC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A6D915AF-C7DF-406B-8672-A8180DC5E58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7AE1F-56EF-4A02-8B70-C2CB1603E9A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9302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5E1426-7AD7-4364-9B73-3127501D0DC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66133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3074CF-3E9D-4624-9840-A6DF5905DC2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6675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7C8E00-AE0D-43D0-9196-E0AD461A100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2821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99368-A8D3-4BF5-AE54-5262C4334CD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909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BEE816-DE1E-445C-AFF6-F99529185C5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7834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2A3FB-D98C-4F90-B543-99A1706D898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10097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9976EE-6556-41CE-A518-32B0432C6C5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46334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AB7DD-0AF0-4A7E-8652-E68AB63870C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92450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37048-9CBE-46F8-8B3E-185A73F851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9394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5B94A7-35DD-42DF-BA90-F21E8124A2B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69396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19BA65-72E9-4830-B564-E9F2EDAF8FC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27534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9529A0-4CAD-40AB-A244-2541FACE914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82570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0CF4F-28E8-41B9-99D6-E0583409E92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11728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F31F37-C823-44DD-89F9-BC3F1293E75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58485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7CF6A3-3B4B-406F-8E40-F003F4429CD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58690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68E17-8599-4BCA-BA9C-E0134D1B406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127224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991E0-D02B-4DB6-9E23-21276D47FDD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216595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6CF324-AEFD-4F66-AA5E-0988C570E17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850225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1149A4-76A5-483A-8B0E-321B9DB403F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452691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62EAB3-D481-4FC9-B8C1-1F5797D321A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451249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4BCC62-10FB-4813-ADF2-C297852B989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03475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874713"/>
            <a:ext cx="4210050" cy="58658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3950" y="874713"/>
            <a:ext cx="4210050" cy="58658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0875" y="371475"/>
            <a:ext cx="2143125" cy="636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71475"/>
            <a:ext cx="6276975" cy="6369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71500" y="371475"/>
            <a:ext cx="8572500" cy="6369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CE1EAAE-211F-474C-B520-03415F4173C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E1F7F0C-4821-4BB5-BC60-4D5702716D1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cal1a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71475"/>
            <a:ext cx="53340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STYLE</a:t>
            </a: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874713"/>
            <a:ext cx="8572500" cy="58658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stylesnnnnnnnnnnnnnnnnnnnnnnn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  <p:sldLayoutId id="214748395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9pPr>
    </p:titleStyle>
    <p:bodyStyle>
      <a:lvl1pPr marL="342900" indent="-339725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defRPr sz="3200">
          <a:solidFill>
            <a:srgbClr val="800000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800">
          <a:solidFill>
            <a:srgbClr val="AC4600"/>
          </a:solidFill>
          <a:latin typeface="+mn-lt"/>
        </a:defRPr>
      </a:lvl2pPr>
      <a:lvl3pPr marL="1431925" indent="-228600" algn="l" rtl="0" eaLnBrk="0" fontAlgn="base" hangingPunct="0">
        <a:spcBef>
          <a:spcPct val="20000"/>
        </a:spcBef>
        <a:spcAft>
          <a:spcPct val="0"/>
        </a:spcAft>
        <a:defRPr sz="2800">
          <a:solidFill>
            <a:srgbClr val="AC4600"/>
          </a:solidFill>
          <a:latin typeface="+mn-lt"/>
        </a:defRPr>
      </a:lvl3pPr>
      <a:lvl4pPr marL="177482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11772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749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30321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893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9465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hyperlink" Target="https://hostingwin.unitn.it/micciolo/PeM/home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hostingwin.unitn.it/micciolo/PeM/home.html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Text Box 2"/>
          <p:cNvSpPr txBox="1">
            <a:spLocks noChangeArrowheads="1"/>
          </p:cNvSpPr>
          <p:nvPr/>
        </p:nvSpPr>
        <p:spPr bwMode="auto">
          <a:xfrm>
            <a:off x="647700" y="2560638"/>
            <a:ext cx="7848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it-IT" sz="4400" dirty="0">
                <a:latin typeface="Tahoma" pitchFamily="34" charset="0"/>
                <a:cs typeface="Tahoma" pitchFamily="34" charset="0"/>
              </a:rPr>
              <a:t>Variabile casuale di </a:t>
            </a:r>
            <a:r>
              <a:rPr lang="it-IT" sz="4400" dirty="0" err="1">
                <a:latin typeface="Tahoma" pitchFamily="34" charset="0"/>
                <a:cs typeface="Tahoma" pitchFamily="34" charset="0"/>
              </a:rPr>
              <a:t>Bernoulli</a:t>
            </a:r>
            <a:endParaRPr lang="it-IT" sz="4400" dirty="0"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585902"/>
            <a:ext cx="8280920" cy="2088232"/>
          </a:xfrm>
        </p:spPr>
        <p:txBody>
          <a:bodyPr/>
          <a:lstStyle/>
          <a:p>
            <a:pPr marL="0" indent="0">
              <a:buNone/>
            </a:pP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Consideriamo una variabile casuale X che può assumere </a:t>
            </a:r>
            <a:r>
              <a:rPr lang="it-IT" altLang="it-IT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due 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soli</a:t>
            </a:r>
            <a:r>
              <a:rPr lang="it-IT" altLang="it-IT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valori </a:t>
            </a:r>
            <a:r>
              <a:rPr lang="it-IT" altLang="it-IT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 </a:t>
            </a:r>
            <a:r>
              <a:rPr lang="it-IT" altLang="it-IT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it-IT" altLang="it-IT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successo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it-IT" altLang="it-IT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insuccesso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0" indent="0" algn="just">
              <a:buNone/>
            </a:pP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Indichiamo la </a:t>
            </a:r>
            <a:r>
              <a:rPr lang="it-IT" altLang="it-IT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probabilità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 successo con </a:t>
            </a:r>
            <a:r>
              <a:rPr lang="it-IT" altLang="it-IT" sz="24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 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 di conseguenza la probabilità di insuccesso con </a:t>
            </a:r>
            <a:r>
              <a:rPr lang="it-IT" altLang="it-IT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(1-p), 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talvolta indicato con </a:t>
            </a:r>
            <a:r>
              <a:rPr lang="it-IT" altLang="it-IT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 </a:t>
            </a:r>
            <a:endParaRPr lang="it-IT" altLang="it-IT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70E93DE8-53B7-4376-8E9E-742B061F6BEC}"/>
                  </a:ext>
                </a:extLst>
              </p:cNvPr>
              <p:cNvSpPr txBox="1"/>
              <p:nvPr/>
            </p:nvSpPr>
            <p:spPr>
              <a:xfrm>
                <a:off x="683568" y="4591288"/>
                <a:ext cx="42795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+1×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70E93DE8-53B7-4376-8E9E-742B061F6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591288"/>
                <a:ext cx="4279569" cy="369332"/>
              </a:xfrm>
              <a:prstGeom prst="rect">
                <a:avLst/>
              </a:prstGeom>
              <a:blipFill>
                <a:blip r:embed="rId2"/>
                <a:stretch>
                  <a:fillRect l="-997" r="-1140" b="-26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C36F7D65-AA8B-4DA6-B43E-F33AE1B92CE7}"/>
                  </a:ext>
                </a:extLst>
              </p:cNvPr>
              <p:cNvSpPr txBox="1"/>
              <p:nvPr/>
            </p:nvSpPr>
            <p:spPr>
              <a:xfrm>
                <a:off x="706331" y="5316311"/>
                <a:ext cx="649382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it-IT" dirty="0"/>
                  <a:t>Var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0−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it-IT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it-IT" dirty="0"/>
                  <a:t>=</a:t>
                </a:r>
                <a:r>
                  <a:rPr lang="it-IT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C36F7D65-AA8B-4DA6-B43E-F33AE1B92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31" y="5316311"/>
                <a:ext cx="6493829" cy="738664"/>
              </a:xfrm>
              <a:prstGeom prst="rect">
                <a:avLst/>
              </a:prstGeom>
              <a:blipFill>
                <a:blip r:embed="rId3"/>
                <a:stretch>
                  <a:fillRect l="-2911" t="-12397" r="-657" b="-247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FA394BC4-AC38-4AFE-A0AF-16B7696A44E3}"/>
              </a:ext>
            </a:extLst>
          </p:cNvPr>
          <p:cNvSpPr txBox="1"/>
          <p:nvPr/>
        </p:nvSpPr>
        <p:spPr>
          <a:xfrm>
            <a:off x="7812360" y="13295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dirty="0"/>
              <a:t>Pag. 86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14D0E572-629F-4746-9652-E6F3A158EECB}"/>
                  </a:ext>
                </a:extLst>
              </p:cNvPr>
              <p:cNvSpPr txBox="1"/>
              <p:nvPr/>
            </p:nvSpPr>
            <p:spPr>
              <a:xfrm>
                <a:off x="683568" y="3127601"/>
                <a:ext cx="32696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it-IT" dirty="0"/>
                  <a:t>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14D0E572-629F-4746-9652-E6F3A158E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127601"/>
                <a:ext cx="3269678" cy="369332"/>
              </a:xfrm>
              <a:prstGeom prst="rect">
                <a:avLst/>
              </a:prstGeom>
              <a:blipFill>
                <a:blip r:embed="rId4"/>
                <a:stretch>
                  <a:fillRect l="-5597" t="-24590" r="-2052" b="-491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C4F7DDF0-DB43-4231-B8F6-D9B211D2AD9A}"/>
                  </a:ext>
                </a:extLst>
              </p:cNvPr>
              <p:cNvSpPr/>
              <p:nvPr/>
            </p:nvSpPr>
            <p:spPr>
              <a:xfrm>
                <a:off x="611560" y="3768489"/>
                <a:ext cx="291836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dirty="0"/>
                  <a:t>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C4F7DDF0-DB43-4231-B8F6-D9B211D2AD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768489"/>
                <a:ext cx="2918363" cy="461665"/>
              </a:xfrm>
              <a:prstGeom prst="rect">
                <a:avLst/>
              </a:prstGeom>
              <a:blipFill>
                <a:blip r:embed="rId5"/>
                <a:stretch>
                  <a:fillRect l="-3132" t="-10526" b="-2894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2F5D247-CD61-4452-B706-AFC57E0EABA0}"/>
              </a:ext>
            </a:extLst>
          </p:cNvPr>
          <p:cNvSpPr/>
          <p:nvPr/>
        </p:nvSpPr>
        <p:spPr>
          <a:xfrm>
            <a:off x="1979712" y="1772816"/>
            <a:ext cx="45442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it-IT" sz="3200" b="1" dirty="0">
                <a:latin typeface="Tahoma" pitchFamily="34" charset="0"/>
                <a:cs typeface="Tahoma" pitchFamily="34" charset="0"/>
              </a:rPr>
              <a:t>Variabile casuale geometrica</a:t>
            </a:r>
          </a:p>
        </p:txBody>
      </p:sp>
    </p:spTree>
    <p:extLst>
      <p:ext uri="{BB962C8B-B14F-4D97-AF65-F5344CB8AC3E}">
        <p14:creationId xmlns:p14="http://schemas.microsoft.com/office/powerpoint/2010/main" val="2804653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2ECA740-9D35-4C87-B4F1-964B75139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0" y="980728"/>
            <a:ext cx="8892480" cy="161681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6E26AC09-673E-4164-B3E9-0F7477270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68960"/>
            <a:ext cx="9018240" cy="158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88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729EFC6-A4E1-4C81-9864-15BB532DD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00" y="1844824"/>
            <a:ext cx="9144000" cy="263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20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9421A6C-D1A0-4087-9707-0BB71D991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1" y="260648"/>
            <a:ext cx="9144000" cy="12824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tangolo 6">
                <a:extLst>
                  <a:ext uri="{FF2B5EF4-FFF2-40B4-BE49-F238E27FC236}">
                    <a16:creationId xmlns:a16="http://schemas.microsoft.com/office/drawing/2014/main" id="{01CF1D53-E61F-4CF7-9065-50E9353AD44F}"/>
                  </a:ext>
                </a:extLst>
              </p:cNvPr>
              <p:cNvSpPr/>
              <p:nvPr/>
            </p:nvSpPr>
            <p:spPr>
              <a:xfrm>
                <a:off x="463493" y="1792236"/>
                <a:ext cx="4572000" cy="120032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it-IT" b="0" dirty="0">
                  <a:latin typeface="Times-Roman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1−0.6</m:t>
                              </m:r>
                            </m:e>
                          </m:d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0.6=0.6</m:t>
                      </m:r>
                    </m:oMath>
                  </m:oMathPara>
                </a14:m>
                <a:endParaRPr lang="it-IT" b="0" dirty="0">
                  <a:latin typeface="Times-Roman"/>
                </a:endParaRPr>
              </a:p>
              <a:p>
                <a:endParaRPr lang="it-IT" b="0" dirty="0">
                  <a:latin typeface="Times-Roman"/>
                </a:endParaRPr>
              </a:p>
            </p:txBody>
          </p:sp>
        </mc:Choice>
        <mc:Fallback xmlns="">
          <p:sp>
            <p:nvSpPr>
              <p:cNvPr id="7" name="Rettangolo 6">
                <a:extLst>
                  <a:ext uri="{FF2B5EF4-FFF2-40B4-BE49-F238E27FC236}">
                    <a16:creationId xmlns:a16="http://schemas.microsoft.com/office/drawing/2014/main" id="{01CF1D53-E61F-4CF7-9065-50E9353AD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93" y="1792236"/>
                <a:ext cx="4572000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>
            <a:extLst>
              <a:ext uri="{FF2B5EF4-FFF2-40B4-BE49-F238E27FC236}">
                <a16:creationId xmlns:a16="http://schemas.microsoft.com/office/drawing/2014/main" id="{0C604085-5466-4903-827D-D6E03EBDD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4" y="4944635"/>
            <a:ext cx="911018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 &lt;- c(0:5)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 &lt;- 0.6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 &lt;- (1-p)^x * 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</a:p>
          <a:p>
            <a:pPr lvl="0"/>
            <a:r>
              <a:rPr lang="it-IT" altLang="it-IT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0.600000 0.240000 0.096000 0.038400 0.015360 0.006144 </a:t>
            </a:r>
            <a:endParaRPr kumimoji="0" lang="it-IT" alt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69D1B91-3A42-436D-824A-7310056C8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4" y="4365104"/>
            <a:ext cx="6552728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https://hostingwin.unitn.it/micciolo/PeM/home.html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</a:rPr>
              <a:t> </a:t>
            </a:r>
            <a:endParaRPr kumimoji="0" lang="it-IT" altLang="it-IT" sz="18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D598E071-82EC-4B19-8ABB-C0421B3A5501}"/>
                  </a:ext>
                </a:extLst>
              </p:cNvPr>
              <p:cNvSpPr txBox="1"/>
              <p:nvPr/>
            </p:nvSpPr>
            <p:spPr>
              <a:xfrm>
                <a:off x="817554" y="2689865"/>
                <a:ext cx="4045146" cy="2215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1−0.6</m:t>
                              </m:r>
                            </m:e>
                          </m:d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it-IT" i="1">
                          <a:latin typeface="Cambria Math" panose="02040503050406030204" pitchFamily="18" charset="0"/>
                        </a:rPr>
                        <m:t>0.6=0.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it-IT" b="0" dirty="0">
                  <a:latin typeface="Times-Roman"/>
                </a:endParaRPr>
              </a:p>
              <a:p>
                <a:endParaRPr lang="it-IT" b="0" dirty="0">
                  <a:latin typeface="Times-Roman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1−0.6</m:t>
                              </m:r>
                            </m:e>
                          </m:d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i="1">
                          <a:latin typeface="Cambria Math" panose="02040503050406030204" pitchFamily="18" charset="0"/>
                        </a:rPr>
                        <m:t>0.6=0.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09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it-IT" dirty="0">
                  <a:latin typeface="Times-Roman"/>
                </a:endParaRPr>
              </a:p>
              <a:p>
                <a:endParaRPr lang="it-IT" b="0" dirty="0">
                  <a:latin typeface="Times-Roman"/>
                </a:endParaRPr>
              </a:p>
              <a:p>
                <a:endParaRPr lang="it-IT" dirty="0">
                  <a:latin typeface="Times-Roman"/>
                </a:endParaRP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D598E071-82EC-4B19-8ABB-C0421B3A5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554" y="2689865"/>
                <a:ext cx="4045146" cy="2215991"/>
              </a:xfrm>
              <a:prstGeom prst="rect">
                <a:avLst/>
              </a:prstGeom>
              <a:blipFill>
                <a:blip r:embed="rId5"/>
                <a:stretch>
                  <a:fillRect l="-1054" r="-30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15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2FDCE4F0-BF11-49A4-9CB0-376AD3EFF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692696"/>
            <a:ext cx="7172325" cy="504825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6F3D0A6-8F1C-4541-BD44-1552172E92C1}"/>
              </a:ext>
            </a:extLst>
          </p:cNvPr>
          <p:cNvSpPr txBox="1"/>
          <p:nvPr/>
        </p:nvSpPr>
        <p:spPr>
          <a:xfrm>
            <a:off x="8301932" y="6165304"/>
            <a:ext cx="837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Pag.89</a:t>
            </a:r>
          </a:p>
        </p:txBody>
      </p:sp>
    </p:spTree>
    <p:extLst>
      <p:ext uri="{BB962C8B-B14F-4D97-AF65-F5344CB8AC3E}">
        <p14:creationId xmlns:p14="http://schemas.microsoft.com/office/powerpoint/2010/main" val="216054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A741C64-F8B0-4BE3-A87F-946628EE2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628800"/>
            <a:ext cx="3680520" cy="773151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649BE17D-2E22-4ACF-B34D-3907C001E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081" y="2924944"/>
            <a:ext cx="4893697" cy="773151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3BD75598-255A-4BB2-99E3-7E90A2880D14}"/>
              </a:ext>
            </a:extLst>
          </p:cNvPr>
          <p:cNvSpPr/>
          <p:nvPr/>
        </p:nvSpPr>
        <p:spPr>
          <a:xfrm>
            <a:off x="827584" y="4653136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t-IT" altLang="it-IT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https://hostingwin.unitn.it/micciolo/PeM/home.html</a:t>
            </a:r>
            <a:r>
              <a:rPr lang="it-IT" altLang="it-IT" b="1" dirty="0">
                <a:solidFill>
                  <a:schemeClr val="accent2"/>
                </a:solidFill>
              </a:rPr>
              <a:t> </a:t>
            </a:r>
            <a:endParaRPr lang="it-IT" altLang="it-IT" b="1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763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6339ABE6-C2FC-4C8F-9575-2972B2388604}"/>
              </a:ext>
            </a:extLst>
          </p:cNvPr>
          <p:cNvSpPr/>
          <p:nvPr/>
        </p:nvSpPr>
        <p:spPr>
          <a:xfrm>
            <a:off x="1556792" y="1052736"/>
            <a:ext cx="60304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ea typeface="Times New Roman" panose="02020603050405020304" pitchFamily="18" charset="0"/>
              </a:rPr>
              <a:t>Probabilità e Statistica – 17 gennaio 2024</a:t>
            </a:r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97206E6-7805-425A-A760-3496843BD983}"/>
              </a:ext>
            </a:extLst>
          </p:cNvPr>
          <p:cNvSpPr/>
          <p:nvPr/>
        </p:nvSpPr>
        <p:spPr>
          <a:xfrm>
            <a:off x="467544" y="2040523"/>
            <a:ext cx="799288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arabicParenR"/>
            </a:pPr>
            <a:r>
              <a:rPr lang="it-IT" sz="2000" dirty="0">
                <a:ea typeface="Times New Roman" panose="02020603050405020304" pitchFamily="18" charset="0"/>
              </a:rPr>
              <a:t>In una popolazione è presente una caratteristica </a:t>
            </a:r>
            <a:r>
              <a:rPr lang="it-IT" sz="2000" i="1" dirty="0">
                <a:ea typeface="Times New Roman" panose="02020603050405020304" pitchFamily="18" charset="0"/>
              </a:rPr>
              <a:t>C</a:t>
            </a:r>
            <a:r>
              <a:rPr lang="it-IT" sz="2000" dirty="0">
                <a:ea typeface="Times New Roman" panose="02020603050405020304" pitchFamily="18" charset="0"/>
              </a:rPr>
              <a:t> con frequenza 0.4 (ossia ogni 10 soggetti 4 hanno la caratteristica </a:t>
            </a:r>
            <a:r>
              <a:rPr lang="it-IT" sz="2000" i="1" dirty="0">
                <a:ea typeface="Times New Roman" panose="02020603050405020304" pitchFamily="18" charset="0"/>
              </a:rPr>
              <a:t>C</a:t>
            </a:r>
            <a:r>
              <a:rPr lang="it-IT" sz="2000" dirty="0">
                <a:ea typeface="Times New Roman" panose="02020603050405020304" pitchFamily="18" charset="0"/>
              </a:rPr>
              <a:t>). Dalla popolazione si estraggono dei soggetti e indichiamo con X il numero di estrazioni necessarie prima di osservare un soggetto con la caratteristica:</a:t>
            </a:r>
          </a:p>
          <a:p>
            <a:pPr marL="342900" lvl="0" indent="-342900" algn="just">
              <a:spcAft>
                <a:spcPts val="0"/>
              </a:spcAft>
              <a:buSzPts val="1200"/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scrivere la distribuzione di probabilità della variabile casuale X.</a:t>
            </a:r>
          </a:p>
          <a:p>
            <a:pPr marL="342900" lvl="0" indent="-342900" algn="just">
              <a:spcAft>
                <a:spcPts val="600"/>
              </a:spcAft>
              <a:buSzPts val="1200"/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come si chiama la distribuzione di probabilità della variabile casuale X?</a:t>
            </a:r>
          </a:p>
        </p:txBody>
      </p:sp>
    </p:spTree>
    <p:extLst>
      <p:ext uri="{BB962C8B-B14F-4D97-AF65-F5344CB8AC3E}">
        <p14:creationId xmlns:p14="http://schemas.microsoft.com/office/powerpoint/2010/main" val="4256278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6339ABE6-C2FC-4C8F-9575-2972B2388604}"/>
              </a:ext>
            </a:extLst>
          </p:cNvPr>
          <p:cNvSpPr/>
          <p:nvPr/>
        </p:nvSpPr>
        <p:spPr>
          <a:xfrm>
            <a:off x="1448780" y="591071"/>
            <a:ext cx="60304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ea typeface="Times New Roman" panose="02020603050405020304" pitchFamily="18" charset="0"/>
              </a:rPr>
              <a:t>Probabilità e Statistica – 17 gennaio 2024</a:t>
            </a:r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97206E6-7805-425A-A760-3496843BD983}"/>
              </a:ext>
            </a:extLst>
          </p:cNvPr>
          <p:cNvSpPr/>
          <p:nvPr/>
        </p:nvSpPr>
        <p:spPr>
          <a:xfrm>
            <a:off x="323528" y="1355284"/>
            <a:ext cx="799288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arabicParenR"/>
            </a:pPr>
            <a:r>
              <a:rPr lang="it-IT" sz="2000" dirty="0">
                <a:ea typeface="Times New Roman" panose="02020603050405020304" pitchFamily="18" charset="0"/>
              </a:rPr>
              <a:t>In una popolazione è presente una caratteristica </a:t>
            </a:r>
            <a:r>
              <a:rPr lang="it-IT" sz="2000" i="1" dirty="0">
                <a:ea typeface="Times New Roman" panose="02020603050405020304" pitchFamily="18" charset="0"/>
              </a:rPr>
              <a:t>C</a:t>
            </a:r>
            <a:r>
              <a:rPr lang="it-IT" sz="2000" dirty="0">
                <a:ea typeface="Times New Roman" panose="02020603050405020304" pitchFamily="18" charset="0"/>
              </a:rPr>
              <a:t> con frequenza 0.4 (ossia ogni 10 soggetti 4 hanno la caratteristica </a:t>
            </a:r>
            <a:r>
              <a:rPr lang="it-IT" sz="2000" i="1" dirty="0">
                <a:ea typeface="Times New Roman" panose="02020603050405020304" pitchFamily="18" charset="0"/>
              </a:rPr>
              <a:t>C</a:t>
            </a:r>
            <a:r>
              <a:rPr lang="it-IT" sz="2000" dirty="0">
                <a:ea typeface="Times New Roman" panose="02020603050405020304" pitchFamily="18" charset="0"/>
              </a:rPr>
              <a:t>). Dalla popolazione si estraggono dei soggetti e indichiamo con X il numero di estrazioni necessarie prima di osservare un soggetto con la caratteristica:</a:t>
            </a:r>
          </a:p>
          <a:p>
            <a:pPr marL="342900" lvl="0" indent="-342900" algn="just">
              <a:spcAft>
                <a:spcPts val="0"/>
              </a:spcAft>
              <a:buSzPts val="1200"/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scrivere la distribuzione di probabilità della variabile casuale X.</a:t>
            </a:r>
          </a:p>
          <a:p>
            <a:pPr marL="342900" lvl="0" indent="-342900" algn="just">
              <a:spcAft>
                <a:spcPts val="600"/>
              </a:spcAft>
              <a:buSzPts val="1200"/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come si chiama la distribuzione di probabilità della variabile casuale X?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4634472-390D-463F-BF95-2806F4835EE5}"/>
                  </a:ext>
                </a:extLst>
              </p:cNvPr>
              <p:cNvSpPr txBox="1"/>
              <p:nvPr/>
            </p:nvSpPr>
            <p:spPr>
              <a:xfrm>
                <a:off x="1100663" y="3784394"/>
                <a:ext cx="38661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it-IT" dirty="0"/>
                  <a:t>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4634472-390D-463F-BF95-2806F4835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63" y="3784394"/>
                <a:ext cx="3866187" cy="369332"/>
              </a:xfrm>
              <a:prstGeom prst="rect">
                <a:avLst/>
              </a:prstGeom>
              <a:blipFill>
                <a:blip r:embed="rId2"/>
                <a:stretch>
                  <a:fillRect l="-4890" t="-26667" r="-1577" b="-5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FA0B580-7C20-4146-B190-05A0263C473C}"/>
                  </a:ext>
                </a:extLst>
              </p:cNvPr>
              <p:cNvSpPr txBox="1"/>
              <p:nvPr/>
            </p:nvSpPr>
            <p:spPr>
              <a:xfrm>
                <a:off x="1141603" y="4530418"/>
                <a:ext cx="37843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it-IT" dirty="0"/>
                  <a:t>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0.6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FA0B580-7C20-4146-B190-05A0263C4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603" y="4530418"/>
                <a:ext cx="3784306" cy="369332"/>
              </a:xfrm>
              <a:prstGeom prst="rect">
                <a:avLst/>
              </a:prstGeom>
              <a:blipFill>
                <a:blip r:embed="rId3"/>
                <a:stretch>
                  <a:fillRect l="-4831" t="-24590" r="-1771" b="-491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D1D7F237-4101-4965-BCA6-8F967616A1BC}"/>
              </a:ext>
            </a:extLst>
          </p:cNvPr>
          <p:cNvSpPr txBox="1"/>
          <p:nvPr/>
        </p:nvSpPr>
        <p:spPr>
          <a:xfrm>
            <a:off x="1112225" y="5157192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Distribuzione Geometrica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7C167E9-A4D0-4AC4-9703-1CD447E43BF8}"/>
              </a:ext>
            </a:extLst>
          </p:cNvPr>
          <p:cNvSpPr/>
          <p:nvPr/>
        </p:nvSpPr>
        <p:spPr>
          <a:xfrm>
            <a:off x="4716016" y="6171084"/>
            <a:ext cx="42562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>
                <a:latin typeface="Times-Roman"/>
              </a:rPr>
              <a:t>Formulario Probabilità e Modelli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31358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91283513-6565-47E5-8F31-01A39DC1FF18}"/>
              </a:ext>
            </a:extLst>
          </p:cNvPr>
          <p:cNvSpPr/>
          <p:nvPr/>
        </p:nvSpPr>
        <p:spPr>
          <a:xfrm>
            <a:off x="1628800" y="548680"/>
            <a:ext cx="5886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" algn="ctr">
              <a:spcBef>
                <a:spcPts val="300"/>
              </a:spcBef>
              <a:spcAft>
                <a:spcPts val="0"/>
              </a:spcAft>
            </a:pPr>
            <a:r>
              <a:rPr lang="it-IT" b="1" dirty="0">
                <a:ea typeface="Times New Roman" panose="02020603050405020304" pitchFamily="18" charset="0"/>
              </a:rPr>
              <a:t>Probabilità e Statistica – 8 febbraio 2024</a:t>
            </a:r>
            <a:endParaRPr lang="it-IT" sz="1400" dirty="0">
              <a:ea typeface="Times New Roman" panose="02020603050405020304" pitchFamily="18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D6854AC-9107-41CA-B07C-B6595E688ACF}"/>
              </a:ext>
            </a:extLst>
          </p:cNvPr>
          <p:cNvSpPr/>
          <p:nvPr/>
        </p:nvSpPr>
        <p:spPr>
          <a:xfrm>
            <a:off x="251520" y="1340768"/>
            <a:ext cx="871296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arabicParenR"/>
            </a:pPr>
            <a:r>
              <a:rPr lang="it-IT" sz="2000" dirty="0">
                <a:ea typeface="Times New Roman" panose="02020603050405020304" pitchFamily="18" charset="0"/>
              </a:rPr>
              <a:t>Nel sistema numerico binario, impiegato per la rappresentazione dell’informazione, si utilizzano solo due simboli, convenzionalmente indicati con 0 e 1. Un sistema casuale estrae, con ripetizione, una sequenza di simboli. Si chiami </a:t>
            </a:r>
            <a:r>
              <a:rPr lang="it-IT" sz="2000" i="1" dirty="0">
                <a:ea typeface="Times New Roman" panose="02020603050405020304" pitchFamily="18" charset="0"/>
              </a:rPr>
              <a:t>X</a:t>
            </a:r>
            <a:r>
              <a:rPr lang="it-IT" sz="2000" dirty="0">
                <a:ea typeface="Times New Roman" panose="02020603050405020304" pitchFamily="18" charset="0"/>
              </a:rPr>
              <a:t> la variabile casuale numero di estrazioni necessarie prima di estrarre il primo 1.</a:t>
            </a:r>
          </a:p>
          <a:p>
            <a:pPr marL="742950" lvl="1" indent="-285750" algn="just">
              <a:spcAft>
                <a:spcPts val="0"/>
              </a:spcAft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Calcolare la probabilità che il primo 1 venga estratto alla prima estrazione (corrisponde a </a:t>
            </a:r>
            <a:r>
              <a:rPr lang="it-IT" sz="2000" i="1" dirty="0">
                <a:ea typeface="Times New Roman" panose="02020603050405020304" pitchFamily="18" charset="0"/>
              </a:rPr>
              <a:t>X=0</a:t>
            </a:r>
            <a:r>
              <a:rPr lang="it-IT" sz="2000" dirty="0">
                <a:ea typeface="Times New Roman" panose="02020603050405020304" pitchFamily="18" charset="0"/>
              </a:rPr>
              <a:t>).</a:t>
            </a:r>
          </a:p>
          <a:p>
            <a:pPr marL="742950" lvl="1" indent="-285750" algn="just">
              <a:spcAft>
                <a:spcPts val="0"/>
              </a:spcAft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Calcolare la probabilità che il primo 1 venga estratto alla seconda estrazione.</a:t>
            </a:r>
          </a:p>
          <a:p>
            <a:pPr marL="742950" lvl="1" indent="-285750" algn="just">
              <a:spcAft>
                <a:spcPts val="600"/>
              </a:spcAft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Scrivere (in formula) la distribuzione di probabilità di </a:t>
            </a:r>
            <a:r>
              <a:rPr lang="it-IT" sz="2000" i="1" dirty="0">
                <a:ea typeface="Times New Roman" panose="02020603050405020304" pitchFamily="18" charset="0"/>
              </a:rPr>
              <a:t>X</a:t>
            </a:r>
            <a:r>
              <a:rPr lang="it-IT" sz="2000" dirty="0"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6544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91283513-6565-47E5-8F31-01A39DC1FF18}"/>
              </a:ext>
            </a:extLst>
          </p:cNvPr>
          <p:cNvSpPr/>
          <p:nvPr/>
        </p:nvSpPr>
        <p:spPr>
          <a:xfrm>
            <a:off x="1628800" y="548680"/>
            <a:ext cx="5886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" algn="ctr">
              <a:spcBef>
                <a:spcPts val="300"/>
              </a:spcBef>
              <a:spcAft>
                <a:spcPts val="0"/>
              </a:spcAft>
            </a:pPr>
            <a:r>
              <a:rPr lang="it-IT" b="1" dirty="0">
                <a:ea typeface="Times New Roman" panose="02020603050405020304" pitchFamily="18" charset="0"/>
              </a:rPr>
              <a:t>Probabilità e Statistica – 8 febbraio 2024</a:t>
            </a:r>
            <a:endParaRPr lang="it-IT" sz="1400" dirty="0">
              <a:ea typeface="Times New Roman" panose="02020603050405020304" pitchFamily="18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D6854AC-9107-41CA-B07C-B6595E688ACF}"/>
              </a:ext>
            </a:extLst>
          </p:cNvPr>
          <p:cNvSpPr/>
          <p:nvPr/>
        </p:nvSpPr>
        <p:spPr>
          <a:xfrm>
            <a:off x="251520" y="1340768"/>
            <a:ext cx="871296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arabicParenR"/>
            </a:pPr>
            <a:r>
              <a:rPr lang="it-IT" sz="2000" dirty="0">
                <a:ea typeface="Times New Roman" panose="02020603050405020304" pitchFamily="18" charset="0"/>
              </a:rPr>
              <a:t>Nel sistema numerico binario, impiegato per la rappresentazione dell’informazione, si utilizzano solo due simboli, convenzionalmente indicati con 0 e 1. Un sistema casuale estrae, con ripetizione, una sequenza di simboli. Si chiami </a:t>
            </a:r>
            <a:r>
              <a:rPr lang="it-IT" sz="2000" i="1" dirty="0">
                <a:ea typeface="Times New Roman" panose="02020603050405020304" pitchFamily="18" charset="0"/>
              </a:rPr>
              <a:t>X</a:t>
            </a:r>
            <a:r>
              <a:rPr lang="it-IT" sz="2000" dirty="0">
                <a:ea typeface="Times New Roman" panose="02020603050405020304" pitchFamily="18" charset="0"/>
              </a:rPr>
              <a:t> la variabile casuale numero di estrazioni necessarie prima di estrarre il primo 1.</a:t>
            </a:r>
          </a:p>
          <a:p>
            <a:pPr marL="742950" lvl="1" indent="-285750" algn="just">
              <a:spcAft>
                <a:spcPts val="0"/>
              </a:spcAft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Calcolare la probabilità che il primo 1 venga estratto alla prima estrazione (corrisponde a </a:t>
            </a:r>
            <a:r>
              <a:rPr lang="it-IT" sz="2000" i="1" dirty="0">
                <a:ea typeface="Times New Roman" panose="02020603050405020304" pitchFamily="18" charset="0"/>
              </a:rPr>
              <a:t>X=0</a:t>
            </a:r>
            <a:r>
              <a:rPr lang="it-IT" sz="2000" dirty="0">
                <a:ea typeface="Times New Roman" panose="02020603050405020304" pitchFamily="18" charset="0"/>
              </a:rPr>
              <a:t>).</a:t>
            </a:r>
          </a:p>
          <a:p>
            <a:pPr marL="742950" lvl="1" indent="-285750" algn="just">
              <a:spcAft>
                <a:spcPts val="0"/>
              </a:spcAft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Calcolare la probabilità che il primo 1 venga estratto alla seconda estrazione.</a:t>
            </a:r>
          </a:p>
          <a:p>
            <a:pPr marL="742950" lvl="1" indent="-285750" algn="just">
              <a:spcAft>
                <a:spcPts val="600"/>
              </a:spcAft>
              <a:buFont typeface="+mj-lt"/>
              <a:buAutoNum type="alphaLcParenR"/>
            </a:pPr>
            <a:r>
              <a:rPr lang="it-IT" sz="2000" dirty="0">
                <a:ea typeface="Times New Roman" panose="02020603050405020304" pitchFamily="18" charset="0"/>
              </a:rPr>
              <a:t>Scrivere (in formula) la distribuzione di probabilità di </a:t>
            </a:r>
            <a:r>
              <a:rPr lang="it-IT" sz="2000" i="1" dirty="0">
                <a:ea typeface="Times New Roman" panose="02020603050405020304" pitchFamily="18" charset="0"/>
              </a:rPr>
              <a:t>X</a:t>
            </a:r>
            <a:r>
              <a:rPr lang="it-IT" sz="2000" dirty="0">
                <a:ea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90685467-B07E-4457-AB50-D303A2B09B25}"/>
                  </a:ext>
                </a:extLst>
              </p:cNvPr>
              <p:cNvSpPr txBox="1"/>
              <p:nvPr/>
            </p:nvSpPr>
            <p:spPr>
              <a:xfrm>
                <a:off x="683568" y="4653136"/>
                <a:ext cx="734481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it-IT" b="0" dirty="0"/>
              </a:p>
              <a:p>
                <a:pPr marL="457200" indent="-457200">
                  <a:buFontTx/>
                  <a:buAutoNum type="alphaLcParenR"/>
                </a:pP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=0.5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0.5=0.25</m:t>
                    </m:r>
                  </m:oMath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Tx/>
                  <a:buAutoNum type="alphaLcParenR"/>
                </a:pPr>
                <a:r>
                  <a:rPr lang="it-IT" dirty="0"/>
                  <a:t>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(0.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5=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(0.5)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it-IT" dirty="0"/>
              </a:p>
              <a:p>
                <a:pPr marL="457200" indent="-457200">
                  <a:buFontTx/>
                  <a:buAutoNum type="alphaLcParenR"/>
                </a:pPr>
                <a:endParaRPr lang="it-IT" dirty="0"/>
              </a:p>
              <a:p>
                <a:pPr marL="457200" indent="-457200">
                  <a:buAutoNum type="alphaLcParenR"/>
                </a:pPr>
                <a:endParaRPr lang="it-IT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90685467-B07E-4457-AB50-D303A2B09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653136"/>
                <a:ext cx="7344816" cy="1938992"/>
              </a:xfrm>
              <a:prstGeom prst="rect">
                <a:avLst/>
              </a:prstGeom>
              <a:blipFill>
                <a:blip r:embed="rId2"/>
                <a:stretch>
                  <a:fillRect l="-1245" t="-220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933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488C4EE2-9951-4E52-9FCF-A68043BDD878}"/>
              </a:ext>
            </a:extLst>
          </p:cNvPr>
          <p:cNvSpPr/>
          <p:nvPr/>
        </p:nvSpPr>
        <p:spPr>
          <a:xfrm>
            <a:off x="1304764" y="332656"/>
            <a:ext cx="63184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" algn="ctr">
              <a:spcBef>
                <a:spcPts val="600"/>
              </a:spcBef>
              <a:spcAft>
                <a:spcPts val="0"/>
              </a:spcAft>
            </a:pPr>
            <a:r>
              <a:rPr lang="it-IT" sz="2200" b="1" dirty="0">
                <a:ea typeface="Times New Roman" panose="02020603050405020304" pitchFamily="18" charset="0"/>
              </a:rPr>
              <a:t>Probabilità e Statistica – 2 febbraio 2023</a:t>
            </a:r>
            <a:endParaRPr lang="it-IT" sz="2200" dirty="0">
              <a:ea typeface="Times New Roman" panose="02020603050405020304" pitchFamily="18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63CF0EC4-A4E1-4663-9954-AD0EC2427505}"/>
              </a:ext>
            </a:extLst>
          </p:cNvPr>
          <p:cNvSpPr/>
          <p:nvPr/>
        </p:nvSpPr>
        <p:spPr>
          <a:xfrm>
            <a:off x="467544" y="980728"/>
            <a:ext cx="799288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arabicParenR"/>
            </a:pPr>
            <a:r>
              <a:rPr lang="it-IT" sz="1800" dirty="0">
                <a:ea typeface="Times New Roman" panose="02020603050405020304" pitchFamily="18" charset="0"/>
              </a:rPr>
              <a:t>In una popolazione è presente una caratteristica con frequenza 0.1 (ossia ogni 10 soggetti 1 ha la caratteristica). </a:t>
            </a:r>
          </a:p>
          <a:p>
            <a:pPr marL="457200">
              <a:spcAft>
                <a:spcPts val="0"/>
              </a:spcAft>
            </a:pPr>
            <a:r>
              <a:rPr lang="it-IT" sz="1800" dirty="0">
                <a:ea typeface="Times New Roman" panose="02020603050405020304" pitchFamily="18" charset="0"/>
              </a:rPr>
              <a:t>Dalla popolazione si estraggono (con ripetizione) soggetti finché non si trova un soggetto con la caratteristica. </a:t>
            </a:r>
          </a:p>
          <a:p>
            <a:pPr marL="342900" lvl="0" indent="-342900">
              <a:spcAft>
                <a:spcPts val="0"/>
              </a:spcAft>
              <a:buSzPts val="1200"/>
              <a:buFont typeface="+mj-lt"/>
              <a:buAutoNum type="alphaLcParenR"/>
            </a:pPr>
            <a:r>
              <a:rPr lang="it-IT" sz="1800" dirty="0">
                <a:ea typeface="Times New Roman" panose="02020603050405020304" pitchFamily="18" charset="0"/>
              </a:rPr>
              <a:t>Calcolare la probabilità che si estraggano (in sequenza) 6 soggetti senza la caratteristica e alla settima estrazione un soggetto con la caratteristica.</a:t>
            </a:r>
          </a:p>
          <a:p>
            <a:pPr marL="342900" lvl="0" indent="-342900">
              <a:spcAft>
                <a:spcPts val="0"/>
              </a:spcAft>
              <a:buSzPts val="1200"/>
              <a:buFont typeface="+mj-lt"/>
              <a:buAutoNum type="alphaLcParenR"/>
            </a:pPr>
            <a:r>
              <a:rPr lang="it-IT" sz="1800" dirty="0">
                <a:ea typeface="Times New Roman" panose="02020603050405020304" pitchFamily="18" charset="0"/>
              </a:rPr>
              <a:t>Indichiamo ora con X il numero di estrazioni necessarie prima di osservare un soggetto con la caratteristica; scrivere la distribuzione di probabilità della variabile casuale X.</a:t>
            </a:r>
          </a:p>
          <a:p>
            <a:pPr marL="342900" lvl="0" indent="-342900" algn="just">
              <a:spcAft>
                <a:spcPts val="600"/>
              </a:spcAft>
              <a:buSzPts val="1200"/>
              <a:buFont typeface="+mj-lt"/>
              <a:buAutoNum type="alphaLcParenR"/>
            </a:pPr>
            <a:r>
              <a:rPr lang="it-IT" sz="1800" dirty="0">
                <a:ea typeface="Times New Roman" panose="02020603050405020304" pitchFamily="18" charset="0"/>
              </a:rPr>
              <a:t>Come si chiama la distribuzione di probabilità della variabile casuale X?</a:t>
            </a:r>
          </a:p>
        </p:txBody>
      </p:sp>
    </p:spTree>
    <p:extLst>
      <p:ext uri="{BB962C8B-B14F-4D97-AF65-F5344CB8AC3E}">
        <p14:creationId xmlns:p14="http://schemas.microsoft.com/office/powerpoint/2010/main" val="4186239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488C4EE2-9951-4E52-9FCF-A68043BDD878}"/>
              </a:ext>
            </a:extLst>
          </p:cNvPr>
          <p:cNvSpPr/>
          <p:nvPr/>
        </p:nvSpPr>
        <p:spPr>
          <a:xfrm>
            <a:off x="1304764" y="332656"/>
            <a:ext cx="63184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" algn="ctr">
              <a:spcBef>
                <a:spcPts val="600"/>
              </a:spcBef>
              <a:spcAft>
                <a:spcPts val="0"/>
              </a:spcAft>
            </a:pPr>
            <a:r>
              <a:rPr lang="it-IT" sz="2200" b="1" dirty="0">
                <a:ea typeface="Times New Roman" panose="02020603050405020304" pitchFamily="18" charset="0"/>
              </a:rPr>
              <a:t>Probabilità e Statistica – 2 febbraio 2023</a:t>
            </a:r>
            <a:endParaRPr lang="it-IT" sz="2200" dirty="0">
              <a:ea typeface="Times New Roman" panose="02020603050405020304" pitchFamily="18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63CF0EC4-A4E1-4663-9954-AD0EC2427505}"/>
              </a:ext>
            </a:extLst>
          </p:cNvPr>
          <p:cNvSpPr/>
          <p:nvPr/>
        </p:nvSpPr>
        <p:spPr>
          <a:xfrm>
            <a:off x="467544" y="980728"/>
            <a:ext cx="799288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arabicParenR"/>
            </a:pPr>
            <a:r>
              <a:rPr lang="it-IT" sz="1800" dirty="0">
                <a:ea typeface="Times New Roman" panose="02020603050405020304" pitchFamily="18" charset="0"/>
              </a:rPr>
              <a:t>In una popolazione è presente una caratteristica con frequenza 0.1 (ossia ogni 10 soggetti 1 ha la caratteristica). </a:t>
            </a:r>
          </a:p>
          <a:p>
            <a:pPr marL="457200">
              <a:spcAft>
                <a:spcPts val="0"/>
              </a:spcAft>
            </a:pPr>
            <a:r>
              <a:rPr lang="it-IT" sz="1800" dirty="0">
                <a:ea typeface="Times New Roman" panose="02020603050405020304" pitchFamily="18" charset="0"/>
              </a:rPr>
              <a:t>Dalla popolazione si estraggono (con ripetizione) soggetti finché non si trova un soggetto con la caratteristica. </a:t>
            </a:r>
          </a:p>
          <a:p>
            <a:pPr marL="342900" lvl="0" indent="-342900">
              <a:spcAft>
                <a:spcPts val="0"/>
              </a:spcAft>
              <a:buSzPts val="1200"/>
              <a:buFont typeface="+mj-lt"/>
              <a:buAutoNum type="alphaLcParenR"/>
            </a:pPr>
            <a:r>
              <a:rPr lang="it-IT" sz="1800" dirty="0">
                <a:ea typeface="Times New Roman" panose="02020603050405020304" pitchFamily="18" charset="0"/>
              </a:rPr>
              <a:t>Calcolare la probabilità che si estraggano (in sequenza) 6 soggetti senza la caratteristica e alla settima estrazione un soggetto con la caratteristica.</a:t>
            </a:r>
          </a:p>
          <a:p>
            <a:pPr marL="342900" lvl="0" indent="-342900">
              <a:spcAft>
                <a:spcPts val="0"/>
              </a:spcAft>
              <a:buSzPts val="1200"/>
              <a:buFont typeface="+mj-lt"/>
              <a:buAutoNum type="alphaLcParenR"/>
            </a:pPr>
            <a:r>
              <a:rPr lang="it-IT" sz="1800" dirty="0">
                <a:ea typeface="Times New Roman" panose="02020603050405020304" pitchFamily="18" charset="0"/>
              </a:rPr>
              <a:t>Indichiamo ora con X il numero di estrazioni necessarie prima di osservare un soggetto con la caratteristica; scrivere la distribuzione di probabilità della variabile casuale X.</a:t>
            </a:r>
          </a:p>
          <a:p>
            <a:pPr marL="342900" lvl="0" indent="-342900" algn="just">
              <a:spcAft>
                <a:spcPts val="600"/>
              </a:spcAft>
              <a:buSzPts val="1200"/>
              <a:buFont typeface="+mj-lt"/>
              <a:buAutoNum type="alphaLcParenR"/>
            </a:pPr>
            <a:r>
              <a:rPr lang="it-IT" sz="1800" dirty="0">
                <a:ea typeface="Times New Roman" panose="02020603050405020304" pitchFamily="18" charset="0"/>
              </a:rPr>
              <a:t>Come si chiama la distribuzione di probabilità della variabile casuale X?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CC992589-3E01-419B-9A2D-381E63915A16}"/>
                  </a:ext>
                </a:extLst>
              </p:cNvPr>
              <p:cNvSpPr txBox="1"/>
              <p:nvPr/>
            </p:nvSpPr>
            <p:spPr>
              <a:xfrm>
                <a:off x="395536" y="4070783"/>
                <a:ext cx="8064896" cy="6769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it-IT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it-IT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it-IT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it-IT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it-IT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it-IT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  <m:r>
                            <a:rPr lang="it-IT" sz="2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it-IT" sz="2200" b="0" i="1" smtClean="0">
                          <a:latin typeface="Cambria Math" panose="02040503050406030204" pitchFamily="18" charset="0"/>
                        </a:rPr>
                        <m:t>=0.9</m:t>
                      </m:r>
                      <m:r>
                        <a:rPr lang="it-I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×0.9</m:t>
                      </m:r>
                      <m:r>
                        <a:rPr lang="it-IT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×0.9×0.9×0.9×0.9</m:t>
                      </m:r>
                      <m:r>
                        <a:rPr lang="it-IT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it-IT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0.1=</m:t>
                      </m:r>
                    </m:oMath>
                  </m:oMathPara>
                </a14:m>
                <a:endParaRPr lang="it-IT" sz="2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                                   0.9</m:t>
                        </m:r>
                      </m:e>
                      <m:sup>
                        <m:r>
                          <a:rPr lang="it-IT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it-IT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</m:t>
                    </m:r>
                    <m:r>
                      <a:rPr lang="it-IT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1=</m:t>
                    </m:r>
                  </m:oMath>
                </a14:m>
                <a:r>
                  <a:rPr lang="it-IT" sz="2200" dirty="0"/>
                  <a:t> 0.0531441</a:t>
                </a: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CC992589-3E01-419B-9A2D-381E63915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070783"/>
                <a:ext cx="8064896" cy="676917"/>
              </a:xfrm>
              <a:prstGeom prst="rect">
                <a:avLst/>
              </a:prstGeom>
              <a:blipFill>
                <a:blip r:embed="rId2"/>
                <a:stretch>
                  <a:fillRect l="-76" b="-243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>
                <a:extLst>
                  <a:ext uri="{FF2B5EF4-FFF2-40B4-BE49-F238E27FC236}">
                    <a16:creationId xmlns:a16="http://schemas.microsoft.com/office/drawing/2014/main" id="{F5CAEB76-4821-41EB-866F-01A754648B64}"/>
                  </a:ext>
                </a:extLst>
              </p:cNvPr>
              <p:cNvSpPr/>
              <p:nvPr/>
            </p:nvSpPr>
            <p:spPr>
              <a:xfrm>
                <a:off x="1043608" y="5229200"/>
                <a:ext cx="39689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dirty="0"/>
                  <a:t>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(0.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5" name="Rettangolo 4">
                <a:extLst>
                  <a:ext uri="{FF2B5EF4-FFF2-40B4-BE49-F238E27FC236}">
                    <a16:creationId xmlns:a16="http://schemas.microsoft.com/office/drawing/2014/main" id="{F5CAEB76-4821-41EB-866F-01A754648B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5229200"/>
                <a:ext cx="3968972" cy="461665"/>
              </a:xfrm>
              <a:prstGeom prst="rect">
                <a:avLst/>
              </a:prstGeom>
              <a:blipFill>
                <a:blip r:embed="rId3"/>
                <a:stretch>
                  <a:fillRect l="-2304" t="-10526" b="-2894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F9A75775-4ACB-4D1E-9E17-6344E3D921DF}"/>
              </a:ext>
            </a:extLst>
          </p:cNvPr>
          <p:cNvSpPr txBox="1"/>
          <p:nvPr/>
        </p:nvSpPr>
        <p:spPr>
          <a:xfrm>
            <a:off x="1088740" y="6063679"/>
            <a:ext cx="3483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Geometrica</a:t>
            </a:r>
          </a:p>
        </p:txBody>
      </p:sp>
    </p:spTree>
    <p:extLst>
      <p:ext uri="{BB962C8B-B14F-4D97-AF65-F5344CB8AC3E}">
        <p14:creationId xmlns:p14="http://schemas.microsoft.com/office/powerpoint/2010/main" val="97508405"/>
      </p:ext>
    </p:extLst>
  </p:cSld>
  <p:clrMapOvr>
    <a:masterClrMapping/>
  </p:clrMapOvr>
</p:sld>
</file>

<file path=ppt/theme/theme1.xml><?xml version="1.0" encoding="utf-8"?>
<a:theme xmlns:a="http://schemas.openxmlformats.org/drawingml/2006/main" name="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6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64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truttura predefinita">
  <a:themeElements>
    <a:clrScheme name="1_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Struttura predefinita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calc">
  <a:themeElements>
    <a:clrScheme name="cal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al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al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2850</TotalTime>
  <Words>828</Words>
  <Application>Microsoft Office PowerPoint</Application>
  <PresentationFormat>Presentazione su schermo (4:3)</PresentationFormat>
  <Paragraphs>65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14</vt:i4>
      </vt:variant>
    </vt:vector>
  </HeadingPairs>
  <TitlesOfParts>
    <vt:vector size="24" baseType="lpstr">
      <vt:lpstr>Arial</vt:lpstr>
      <vt:lpstr>Cambria Math</vt:lpstr>
      <vt:lpstr>Courier New</vt:lpstr>
      <vt:lpstr>Tahoma</vt:lpstr>
      <vt:lpstr>Times New Roman</vt:lpstr>
      <vt:lpstr>Times-Roman</vt:lpstr>
      <vt:lpstr>Wingdings</vt:lpstr>
      <vt:lpstr>Struttura predefinita</vt:lpstr>
      <vt:lpstr>1_Struttura predefinita</vt:lpstr>
      <vt:lpstr>calc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VARIABILI CASUALI</dc:title>
  <dc:creator>Rocco Micciolo</dc:creator>
  <cp:lastModifiedBy>Canal Luisa</cp:lastModifiedBy>
  <cp:revision>464</cp:revision>
  <dcterms:created xsi:type="dcterms:W3CDTF">2006-10-21T07:26:54Z</dcterms:created>
  <dcterms:modified xsi:type="dcterms:W3CDTF">2026-03-03T17:06:33Z</dcterms:modified>
</cp:coreProperties>
</file>