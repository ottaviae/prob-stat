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938" r:id="rId2"/>
  </p:sldMasterIdLst>
  <p:notesMasterIdLst>
    <p:notesMasterId r:id="rId28"/>
  </p:notesMasterIdLst>
  <p:handoutMasterIdLst>
    <p:handoutMasterId r:id="rId29"/>
  </p:handoutMasterIdLst>
  <p:sldIdLst>
    <p:sldId id="270" r:id="rId3"/>
    <p:sldId id="597" r:id="rId4"/>
    <p:sldId id="598" r:id="rId5"/>
    <p:sldId id="599" r:id="rId6"/>
    <p:sldId id="605" r:id="rId7"/>
    <p:sldId id="609" r:id="rId8"/>
    <p:sldId id="610" r:id="rId9"/>
    <p:sldId id="611" r:id="rId10"/>
    <p:sldId id="612" r:id="rId11"/>
    <p:sldId id="613" r:id="rId12"/>
    <p:sldId id="624" r:id="rId13"/>
    <p:sldId id="614" r:id="rId14"/>
    <p:sldId id="615" r:id="rId15"/>
    <p:sldId id="616" r:id="rId16"/>
    <p:sldId id="625" r:id="rId17"/>
    <p:sldId id="617" r:id="rId18"/>
    <p:sldId id="618" r:id="rId19"/>
    <p:sldId id="619" r:id="rId20"/>
    <p:sldId id="623" r:id="rId21"/>
    <p:sldId id="620" r:id="rId22"/>
    <p:sldId id="621" r:id="rId23"/>
    <p:sldId id="622" r:id="rId24"/>
    <p:sldId id="626" r:id="rId25"/>
    <p:sldId id="627" r:id="rId26"/>
    <p:sldId id="628" r:id="rId27"/>
  </p:sldIdLst>
  <p:sldSz cx="9144000" cy="6858000" type="screen4x3"/>
  <p:notesSz cx="7099300" cy="10234613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22" autoAdjust="0"/>
    <p:restoredTop sz="94651" autoAdjust="0"/>
  </p:normalViewPr>
  <p:slideViewPr>
    <p:cSldViewPr>
      <p:cViewPr varScale="1">
        <p:scale>
          <a:sx n="82" d="100"/>
          <a:sy n="82" d="100"/>
        </p:scale>
        <p:origin x="1901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62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62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fld id="{30585122-6441-4912-8666-8E321B27CCE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fld id="{A6D915AF-C7DF-406B-8672-A8180DC5E58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6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6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6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6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6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F7AE1F-56EF-4A02-8B70-C2CB1603E9A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93028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5E1426-7AD7-4364-9B73-3127501D0DC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666133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3074CF-3E9D-4624-9840-A6DF5905DC2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566754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7C8E00-AE0D-43D0-9196-E0AD461A100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28210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799368-A8D3-4BF5-AE54-5262C4334CDF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4909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BEE816-DE1E-445C-AFF6-F99529185C5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478341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2A3FB-D98C-4F90-B543-99A1706D898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10097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9976EE-6556-41CE-A518-32B0432C6C5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446334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AB7DD-0AF0-4A7E-8652-E68AB63870C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924502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837048-9CBE-46F8-8B3E-185A73F851E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893940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5B94A7-35DD-42DF-BA90-F21E8124A2B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069396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874713"/>
            <a:ext cx="4210050" cy="58658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3950" y="874713"/>
            <a:ext cx="4210050" cy="58658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0875" y="371475"/>
            <a:ext cx="2143125" cy="6369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71475"/>
            <a:ext cx="6276975" cy="63690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571500" y="371475"/>
            <a:ext cx="8572500" cy="6369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CE1EAAE-211F-474C-B520-03415F4173C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cal1a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71475"/>
            <a:ext cx="533400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STYLE</a:t>
            </a:r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0" y="874713"/>
            <a:ext cx="8572500" cy="58658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stylesnnnnnnnnnnnnnnnnnnnnnnn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1" r:id="rId3"/>
    <p:sldLayoutId id="2147483942" r:id="rId4"/>
    <p:sldLayoutId id="2147483943" r:id="rId5"/>
    <p:sldLayoutId id="2147483944" r:id="rId6"/>
    <p:sldLayoutId id="2147483945" r:id="rId7"/>
    <p:sldLayoutId id="2147483946" r:id="rId8"/>
    <p:sldLayoutId id="2147483947" r:id="rId9"/>
    <p:sldLayoutId id="2147483948" r:id="rId10"/>
    <p:sldLayoutId id="2147483949" r:id="rId11"/>
    <p:sldLayoutId id="214748395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9pPr>
    </p:titleStyle>
    <p:bodyStyle>
      <a:lvl1pPr marL="342900" indent="-339725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defRPr sz="3200">
          <a:solidFill>
            <a:srgbClr val="800000"/>
          </a:solidFill>
          <a:latin typeface="+mn-lt"/>
          <a:ea typeface="+mn-ea"/>
          <a:cs typeface="+mn-cs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800">
          <a:solidFill>
            <a:srgbClr val="AC4600"/>
          </a:solidFill>
          <a:latin typeface="+mn-lt"/>
        </a:defRPr>
      </a:lvl2pPr>
      <a:lvl3pPr marL="1431925" indent="-228600" algn="l" rtl="0" eaLnBrk="0" fontAlgn="base" hangingPunct="0">
        <a:spcBef>
          <a:spcPct val="20000"/>
        </a:spcBef>
        <a:spcAft>
          <a:spcPct val="0"/>
        </a:spcAft>
        <a:defRPr sz="2800">
          <a:solidFill>
            <a:srgbClr val="AC4600"/>
          </a:solidFill>
          <a:latin typeface="+mn-lt"/>
        </a:defRPr>
      </a:lvl3pPr>
      <a:lvl4pPr marL="177482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117725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74925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3032125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89325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946525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412776"/>
            <a:ext cx="8280920" cy="5040560"/>
          </a:xfrm>
        </p:spPr>
        <p:txBody>
          <a:bodyPr/>
          <a:lstStyle/>
          <a:p>
            <a:pPr marL="0" lvl="0" indent="0">
              <a:buNone/>
            </a:pPr>
            <a:r>
              <a:rPr lang="it-IT" sz="2400" dirty="0"/>
              <a:t>1) Un generatore automatico di titoli per articoli giornalistici, dopo l’introduzione “La crisi”, sceglie con probabilità 0.4 il verbo “colpisce” e con probabilità 0.6 il verbo “travolge”. Se sceglie “colpisce”, seleziona poi con probabilità 0.55 il complemento “l’economia” e con 0.45 “la politica”. Se sceglie “travolge”, seleziona con probabilità 0.8 il complemento “l’economia” e con 0.2 “l’opinione pubblica”.</a:t>
            </a:r>
          </a:p>
          <a:p>
            <a:pPr marL="0" indent="0">
              <a:buNone/>
            </a:pPr>
            <a:r>
              <a:rPr lang="it-IT" sz="2400" dirty="0"/>
              <a:t>a) Calcolare la probabilità che il titolo finale sia “La crisi colpisce l’economia”.</a:t>
            </a:r>
            <a:br>
              <a:rPr lang="it-IT" sz="2400" dirty="0"/>
            </a:br>
            <a:r>
              <a:rPr lang="it-IT" sz="2400" dirty="0"/>
              <a:t>b) Calcolare la probabilità che il titolo finale termini con “l’economia”.</a:t>
            </a:r>
            <a:br>
              <a:rPr lang="it-IT" sz="2400" dirty="0"/>
            </a:br>
            <a:r>
              <a:rPr lang="it-IT" sz="2400" dirty="0"/>
              <a:t>c) Se il titolo termina con “l’economia”, calcolare la probabilità che il titolo finale sia “La crisi colpisce l’economia”.</a:t>
            </a:r>
          </a:p>
        </p:txBody>
      </p:sp>
      <p:sp>
        <p:nvSpPr>
          <p:cNvPr id="11" name="Text Box 2">
            <a:extLst>
              <a:ext uri="{FF2B5EF4-FFF2-40B4-BE49-F238E27FC236}">
                <a16:creationId xmlns:a16="http://schemas.microsoft.com/office/drawing/2014/main" id="{3652861B-E317-49A7-99A5-D466B2A43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620688"/>
            <a:ext cx="60486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it-IT" b="1" dirty="0"/>
              <a:t>Probabilità e Statistica – 11 settembre 2025</a:t>
            </a:r>
            <a:endParaRPr lang="it-I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D5FC65D1-A410-4DA6-BF92-0EDA85449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1412776"/>
            <a:ext cx="7581900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653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7FE7690F-7ACD-4B2F-AA5C-DE5726543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5013176"/>
            <a:ext cx="6229350" cy="105727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F9C4AF46-D0C1-4215-A0B0-F926F634F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1412776"/>
            <a:ext cx="7581900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688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FBC0B860-0B0B-4F6B-B43D-A22F9E583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980728"/>
            <a:ext cx="7905750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208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352C62E6-C6E5-40B3-B2E7-8EC6A3EB704C}"/>
              </a:ext>
            </a:extLst>
          </p:cNvPr>
          <p:cNvSpPr/>
          <p:nvPr/>
        </p:nvSpPr>
        <p:spPr>
          <a:xfrm>
            <a:off x="611560" y="548680"/>
            <a:ext cx="69665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/>
              <a:t>b) Calcolare la probabilità che il titolo finale termini con “l’economia”.</a:t>
            </a:r>
            <a:br>
              <a:rPr lang="it-IT" dirty="0"/>
            </a:br>
            <a:endParaRPr lang="it-IT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4125E8B-6652-495E-B5DD-4BC60A6DF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" y="1749009"/>
            <a:ext cx="8315325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54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1EA7C7FF-19E9-4B09-8DEC-D4BF1D5CC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548680"/>
            <a:ext cx="8524875" cy="857250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456CEDBE-5E85-4922-833C-480150B72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1772816"/>
            <a:ext cx="1704975" cy="542925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E36CC979-2620-4089-87FB-9347EE4D0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2682627"/>
            <a:ext cx="4819650" cy="168592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DFF9E2F9-974A-4837-A0E7-F037B353E0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4607" y="4941168"/>
            <a:ext cx="1085850" cy="29527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580D5BA5-65A5-4020-BA02-396739D28A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4416" y="5236443"/>
            <a:ext cx="1162050" cy="40005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24051DEA-41CA-4DEE-9ABC-A86C68DD98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2040" y="4884018"/>
            <a:ext cx="3419475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825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8D8CCA6D-1F52-4A29-B0CC-B03A0EF65BA6}"/>
              </a:ext>
            </a:extLst>
          </p:cNvPr>
          <p:cNvSpPr/>
          <p:nvPr/>
        </p:nvSpPr>
        <p:spPr>
          <a:xfrm>
            <a:off x="1547664" y="548680"/>
            <a:ext cx="58326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90" algn="ctr">
              <a:spcBef>
                <a:spcPts val="300"/>
              </a:spcBef>
              <a:spcAft>
                <a:spcPts val="0"/>
              </a:spcAft>
            </a:pPr>
            <a:r>
              <a:rPr lang="it-IT" b="1" dirty="0">
                <a:ea typeface="Times New Roman" panose="02020603050405020304" pitchFamily="18" charset="0"/>
              </a:rPr>
              <a:t>Probabilità e Statistica – 2 luglio 2025</a:t>
            </a:r>
            <a:endParaRPr lang="it-IT" sz="1400" dirty="0">
              <a:ea typeface="Times New Roman" panose="02020603050405020304" pitchFamily="18" charset="0"/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DE1D98CC-3E1C-4967-B25E-DDDA15A6714E}"/>
              </a:ext>
            </a:extLst>
          </p:cNvPr>
          <p:cNvSpPr/>
          <p:nvPr/>
        </p:nvSpPr>
        <p:spPr>
          <a:xfrm>
            <a:off x="71500" y="1802465"/>
            <a:ext cx="8784976" cy="325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it-IT" sz="1600" i="1" dirty="0">
                <a:ea typeface="Calibri" panose="020F0502020204030204" pitchFamily="34" charset="0"/>
                <a:cs typeface="Times New Roman" panose="02020603050405020304" pitchFamily="18" charset="0"/>
              </a:rPr>
              <a:t>“Siccome mi sembrava che per puro caso alcuni fatti fossero avvenuti così com’erano stati predetti dagl’indovini, tu hai parlato a lungo del caso, e hai detto, per esempio, che si può ottenere il “colpo di Venere” lanciando a caso quattro dadi […].</a:t>
            </a:r>
            <a:r>
              <a:rPr lang="it-IT" sz="1600" dirty="0">
                <a:ea typeface="Calibri" panose="020F0502020204030204" pitchFamily="34" charset="0"/>
                <a:cs typeface="Times New Roman" panose="02020603050405020304" pitchFamily="18" charset="0"/>
              </a:rPr>
              <a:t>“ Cicerone, De </a:t>
            </a:r>
            <a:r>
              <a:rPr lang="it-IT" sz="1600" dirty="0" err="1">
                <a:ea typeface="Calibri" panose="020F0502020204030204" pitchFamily="34" charset="0"/>
                <a:cs typeface="Times New Roman" panose="02020603050405020304" pitchFamily="18" charset="0"/>
              </a:rPr>
              <a:t>divinatione</a:t>
            </a:r>
            <a:r>
              <a:rPr lang="it-IT" sz="1600" dirty="0">
                <a:ea typeface="Calibri" panose="020F0502020204030204" pitchFamily="34" charset="0"/>
                <a:cs typeface="Times New Roman" panose="02020603050405020304" pitchFamily="18" charset="0"/>
              </a:rPr>
              <a:t>, II, 21, 48 - traduzione e cura di S. </a:t>
            </a:r>
            <a:r>
              <a:rPr lang="it-IT" sz="1600" dirty="0" err="1">
                <a:ea typeface="Calibri" panose="020F0502020204030204" pitchFamily="34" charset="0"/>
                <a:cs typeface="Times New Roman" panose="02020603050405020304" pitchFamily="18" charset="0"/>
              </a:rPr>
              <a:t>Timpanaro</a:t>
            </a:r>
            <a:r>
              <a:rPr lang="it-IT" sz="1600" dirty="0">
                <a:ea typeface="Calibri" panose="020F0502020204030204" pitchFamily="34" charset="0"/>
                <a:cs typeface="Times New Roman" panose="02020603050405020304" pitchFamily="18" charset="0"/>
              </a:rPr>
              <a:t>, Garzanti, Milano 1999. Testo originale: “</a:t>
            </a:r>
            <a:r>
              <a:rPr lang="it-IT" sz="1600" dirty="0" err="1">
                <a:ea typeface="Calibri" panose="020F0502020204030204" pitchFamily="34" charset="0"/>
                <a:cs typeface="Times New Roman" panose="02020603050405020304" pitchFamily="18" charset="0"/>
              </a:rPr>
              <a:t>Nam</a:t>
            </a:r>
            <a:r>
              <a:rPr lang="it-IT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dirty="0" err="1">
                <a:ea typeface="Calibri" panose="020F0502020204030204" pitchFamily="34" charset="0"/>
                <a:cs typeface="Times New Roman" panose="02020603050405020304" pitchFamily="18" charset="0"/>
              </a:rPr>
              <a:t>cum</a:t>
            </a:r>
            <a:r>
              <a:rPr lang="it-IT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dirty="0" err="1">
                <a:ea typeface="Calibri" panose="020F0502020204030204" pitchFamily="34" charset="0"/>
                <a:cs typeface="Times New Roman" panose="02020603050405020304" pitchFamily="18" charset="0"/>
              </a:rPr>
              <a:t>mihi</a:t>
            </a:r>
            <a:r>
              <a:rPr lang="it-IT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dirty="0" err="1">
                <a:ea typeface="Calibri" panose="020F0502020204030204" pitchFamily="34" charset="0"/>
                <a:cs typeface="Times New Roman" panose="02020603050405020304" pitchFamily="18" charset="0"/>
              </a:rPr>
              <a:t>quaedam</a:t>
            </a:r>
            <a:r>
              <a:rPr lang="it-IT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dirty="0" err="1">
                <a:ea typeface="Calibri" panose="020F0502020204030204" pitchFamily="34" charset="0"/>
                <a:cs typeface="Times New Roman" panose="02020603050405020304" pitchFamily="18" charset="0"/>
              </a:rPr>
              <a:t>casu</a:t>
            </a:r>
            <a:r>
              <a:rPr lang="it-IT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dirty="0" err="1">
                <a:ea typeface="Calibri" panose="020F0502020204030204" pitchFamily="34" charset="0"/>
                <a:cs typeface="Times New Roman" panose="02020603050405020304" pitchFamily="18" charset="0"/>
              </a:rPr>
              <a:t>viderentur</a:t>
            </a:r>
            <a:r>
              <a:rPr lang="it-IT" sz="1600" dirty="0">
                <a:ea typeface="Calibri" panose="020F0502020204030204" pitchFamily="34" charset="0"/>
                <a:cs typeface="Times New Roman" panose="02020603050405020304" pitchFamily="18" charset="0"/>
              </a:rPr>
              <a:t> sic </a:t>
            </a:r>
            <a:r>
              <a:rPr lang="it-IT" sz="1600" dirty="0" err="1">
                <a:ea typeface="Calibri" panose="020F0502020204030204" pitchFamily="34" charset="0"/>
                <a:cs typeface="Times New Roman" panose="02020603050405020304" pitchFamily="18" charset="0"/>
              </a:rPr>
              <a:t>evenire</a:t>
            </a:r>
            <a:r>
              <a:rPr lang="it-IT" sz="1600" dirty="0">
                <a:ea typeface="Calibri" panose="020F0502020204030204" pitchFamily="34" charset="0"/>
                <a:cs typeface="Times New Roman" panose="02020603050405020304" pitchFamily="18" charset="0"/>
              </a:rPr>
              <a:t> ut </a:t>
            </a:r>
            <a:r>
              <a:rPr lang="it-IT" sz="1600" dirty="0" err="1">
                <a:ea typeface="Calibri" panose="020F0502020204030204" pitchFamily="34" charset="0"/>
                <a:cs typeface="Times New Roman" panose="02020603050405020304" pitchFamily="18" charset="0"/>
              </a:rPr>
              <a:t>praedicta</a:t>
            </a:r>
            <a:r>
              <a:rPr lang="it-IT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dirty="0" err="1">
                <a:ea typeface="Calibri" panose="020F0502020204030204" pitchFamily="34" charset="0"/>
                <a:cs typeface="Times New Roman" panose="02020603050405020304" pitchFamily="18" charset="0"/>
              </a:rPr>
              <a:t>essent</a:t>
            </a:r>
            <a:r>
              <a:rPr lang="it-IT" sz="1600" dirty="0"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it-IT" sz="1600" dirty="0" err="1">
                <a:ea typeface="Calibri" panose="020F0502020204030204" pitchFamily="34" charset="0"/>
                <a:cs typeface="Times New Roman" panose="02020603050405020304" pitchFamily="18" charset="0"/>
              </a:rPr>
              <a:t>divinantibus</a:t>
            </a:r>
            <a:r>
              <a:rPr lang="it-IT" sz="1600" dirty="0"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it-IT" sz="1600" dirty="0" err="1">
                <a:ea typeface="Calibri" panose="020F0502020204030204" pitchFamily="34" charset="0"/>
                <a:cs typeface="Times New Roman" panose="02020603050405020304" pitchFamily="18" charset="0"/>
              </a:rPr>
              <a:t>dixisti</a:t>
            </a:r>
            <a:r>
              <a:rPr lang="it-IT" sz="1600" dirty="0">
                <a:ea typeface="Calibri" panose="020F0502020204030204" pitchFamily="34" charset="0"/>
                <a:cs typeface="Times New Roman" panose="02020603050405020304" pitchFamily="18" charset="0"/>
              </a:rPr>
              <a:t> multa de </a:t>
            </a:r>
            <a:r>
              <a:rPr lang="it-IT" sz="1600" dirty="0" err="1">
                <a:ea typeface="Calibri" panose="020F0502020204030204" pitchFamily="34" charset="0"/>
                <a:cs typeface="Times New Roman" panose="02020603050405020304" pitchFamily="18" charset="0"/>
              </a:rPr>
              <a:t>casu</a:t>
            </a:r>
            <a:r>
              <a:rPr lang="it-IT" sz="1600" dirty="0">
                <a:ea typeface="Calibri" panose="020F0502020204030204" pitchFamily="34" charset="0"/>
                <a:cs typeface="Times New Roman" panose="02020603050405020304" pitchFamily="18" charset="0"/>
              </a:rPr>
              <a:t>, ut </a:t>
            </a:r>
            <a:r>
              <a:rPr lang="it-IT" sz="1600" dirty="0" err="1">
                <a:ea typeface="Calibri" panose="020F0502020204030204" pitchFamily="34" charset="0"/>
                <a:cs typeface="Times New Roman" panose="02020603050405020304" pitchFamily="18" charset="0"/>
              </a:rPr>
              <a:t>Venerium</a:t>
            </a:r>
            <a:r>
              <a:rPr lang="it-IT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dirty="0" err="1">
                <a:ea typeface="Calibri" panose="020F0502020204030204" pitchFamily="34" charset="0"/>
                <a:cs typeface="Times New Roman" panose="02020603050405020304" pitchFamily="18" charset="0"/>
              </a:rPr>
              <a:t>iaci</a:t>
            </a:r>
            <a:r>
              <a:rPr lang="it-IT" sz="1600" dirty="0">
                <a:ea typeface="Calibri" panose="020F0502020204030204" pitchFamily="34" charset="0"/>
                <a:cs typeface="Times New Roman" panose="02020603050405020304" pitchFamily="18" charset="0"/>
              </a:rPr>
              <a:t> posse </a:t>
            </a:r>
            <a:r>
              <a:rPr lang="it-IT" sz="1600" dirty="0" err="1">
                <a:ea typeface="Calibri" panose="020F0502020204030204" pitchFamily="34" charset="0"/>
                <a:cs typeface="Times New Roman" panose="02020603050405020304" pitchFamily="18" charset="0"/>
              </a:rPr>
              <a:t>casu</a:t>
            </a:r>
            <a:r>
              <a:rPr lang="it-IT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dirty="0" err="1">
                <a:ea typeface="Calibri" panose="020F0502020204030204" pitchFamily="34" charset="0"/>
                <a:cs typeface="Times New Roman" panose="02020603050405020304" pitchFamily="18" charset="0"/>
              </a:rPr>
              <a:t>quattuor</a:t>
            </a:r>
            <a:r>
              <a:rPr lang="it-IT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dirty="0" err="1">
                <a:ea typeface="Calibri" panose="020F0502020204030204" pitchFamily="34" charset="0"/>
                <a:cs typeface="Times New Roman" panose="02020603050405020304" pitchFamily="18" charset="0"/>
              </a:rPr>
              <a:t>talis</a:t>
            </a:r>
            <a:r>
              <a:rPr lang="it-IT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600" dirty="0" err="1">
                <a:ea typeface="Calibri" panose="020F0502020204030204" pitchFamily="34" charset="0"/>
                <a:cs typeface="Times New Roman" panose="02020603050405020304" pitchFamily="18" charset="0"/>
              </a:rPr>
              <a:t>iactis</a:t>
            </a:r>
            <a:r>
              <a:rPr lang="it-IT" sz="1600" dirty="0">
                <a:ea typeface="Calibri" panose="020F0502020204030204" pitchFamily="34" charset="0"/>
                <a:cs typeface="Times New Roman" panose="02020603050405020304" pitchFamily="18" charset="0"/>
              </a:rPr>
              <a:t> […].” </a:t>
            </a:r>
            <a:endParaRPr lang="it-IT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6990" algn="just">
              <a:spcAft>
                <a:spcPts val="0"/>
              </a:spcAft>
            </a:pPr>
            <a:r>
              <a:rPr lang="it-IT" sz="1600" dirty="0">
                <a:ea typeface="Times New Roman" panose="02020603050405020304" pitchFamily="18" charset="0"/>
              </a:rPr>
              <a:t>Cicerone, nel dialogo con il fratello Quinto, parla del colpo di Venere, che consiste nel lanciare 4 dadi a 4 facce ottenendo 4 risultati diversi.</a:t>
            </a:r>
          </a:p>
          <a:p>
            <a:pPr marL="46990" algn="just">
              <a:spcAft>
                <a:spcPts val="0"/>
              </a:spcAft>
            </a:pPr>
            <a:r>
              <a:rPr lang="it-IT" sz="1600" dirty="0">
                <a:ea typeface="Times New Roman" panose="02020603050405020304" pitchFamily="18" charset="0"/>
              </a:rPr>
              <a:t>Ciò premesso, determinare la probabilità nel lanciare 4 dadi a 4 facce (supponendo che le facce di ciascun dado siano equiprobabili): </a:t>
            </a:r>
          </a:p>
          <a:p>
            <a:pPr marL="46990">
              <a:spcAft>
                <a:spcPts val="0"/>
              </a:spcAft>
            </a:pPr>
            <a:r>
              <a:rPr lang="it-IT" sz="1600" dirty="0">
                <a:ea typeface="Times New Roman" panose="02020603050405020304" pitchFamily="18" charset="0"/>
              </a:rPr>
              <a:t>a) di ottenere il colpo di Venere (che consiste nell’ottenere 4 risultati diversi); </a:t>
            </a:r>
          </a:p>
          <a:p>
            <a:pPr marL="46990">
              <a:spcAft>
                <a:spcPts val="600"/>
              </a:spcAft>
            </a:pPr>
            <a:r>
              <a:rPr lang="it-IT" sz="1600" dirty="0">
                <a:ea typeface="Times New Roman" panose="02020603050405020304" pitchFamily="18" charset="0"/>
              </a:rPr>
              <a:t>b</a:t>
            </a:r>
            <a:r>
              <a:rPr lang="it-IT" sz="1600" b="1" dirty="0">
                <a:ea typeface="Times New Roman" panose="02020603050405020304" pitchFamily="18" charset="0"/>
              </a:rPr>
              <a:t>)</a:t>
            </a:r>
            <a:r>
              <a:rPr lang="it-IT" sz="1600" dirty="0">
                <a:ea typeface="Times New Roman" panose="02020603050405020304" pitchFamily="18" charset="0"/>
              </a:rPr>
              <a:t> di ottenere 4 numeri tutti uguali.</a:t>
            </a:r>
          </a:p>
        </p:txBody>
      </p:sp>
    </p:spTree>
    <p:extLst>
      <p:ext uri="{BB962C8B-B14F-4D97-AF65-F5344CB8AC3E}">
        <p14:creationId xmlns:p14="http://schemas.microsoft.com/office/powerpoint/2010/main" val="2302898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FC3A7D49-9F0A-45B7-8B48-52BC57A5D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772816"/>
            <a:ext cx="7972425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263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BBDB6F12-8521-49F9-A08A-A62FAAE79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412776"/>
            <a:ext cx="6734175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381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DDBD6822-8654-4490-8AE5-4E743B45FC10}"/>
              </a:ext>
            </a:extLst>
          </p:cNvPr>
          <p:cNvSpPr/>
          <p:nvPr/>
        </p:nvSpPr>
        <p:spPr>
          <a:xfrm>
            <a:off x="539552" y="620688"/>
            <a:ext cx="8424936" cy="32993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0"/>
              </a:spcAft>
            </a:pPr>
            <a:r>
              <a:rPr lang="it-IT" sz="2000" dirty="0">
                <a:ea typeface="Calibri" panose="020F0502020204030204" pitchFamily="34" charset="0"/>
                <a:cs typeface="Times New Roman" panose="02020603050405020304" pitchFamily="18" charset="0"/>
              </a:rPr>
              <a:t>2) In un sistema di trasmissione dati, i pacchetti binari (sequenze di 0 e 1) vengono inviati uno alla volta. A causa di disturbi, un pacchetto può risultare errato con probabilità (1-</a:t>
            </a:r>
            <a:r>
              <a:rPr lang="it-IT" sz="2000" dirty="0"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𝑝)</a:t>
            </a:r>
            <a:r>
              <a:rPr lang="it-IT" sz="2000" dirty="0">
                <a:ea typeface="Calibri" panose="020F0502020204030204" pitchFamily="34" charset="0"/>
                <a:cs typeface="Times New Roman" panose="02020603050405020304" pitchFamily="18" charset="0"/>
              </a:rPr>
              <a:t>, e in tal caso viene scartato e ritrasmesso. Chiamiamo X la variabile casuale che rappresenta il numero totale di trasmissioni necessarie prima che un pacchetto sia ricevuto correttamente per la prima volta. </a:t>
            </a:r>
            <a:endParaRPr lang="it-IT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spcAft>
                <a:spcPts val="0"/>
              </a:spcAft>
              <a:buFont typeface="+mj-lt"/>
              <a:buAutoNum type="alphaLcParenR"/>
            </a:pPr>
            <a:r>
              <a:rPr lang="it-IT" sz="2000" dirty="0">
                <a:ea typeface="Times New Roman" panose="02020603050405020304" pitchFamily="18" charset="0"/>
              </a:rPr>
              <a:t>Qual è la probabilità che il primo pacchetto ricevuto sia subito corretto?</a:t>
            </a:r>
          </a:p>
          <a:p>
            <a:pPr marL="742950" lvl="1" indent="-285750" algn="just">
              <a:spcAft>
                <a:spcPts val="0"/>
              </a:spcAft>
              <a:buFont typeface="+mj-lt"/>
              <a:buAutoNum type="alphaLcParenR"/>
            </a:pPr>
            <a:r>
              <a:rPr lang="it-IT" sz="2000" dirty="0">
                <a:ea typeface="Times New Roman" panose="02020603050405020304" pitchFamily="18" charset="0"/>
              </a:rPr>
              <a:t>Qual è la probabilità che il primo pacchetto corretto venga ricevuto al terzo tentativo?</a:t>
            </a:r>
          </a:p>
          <a:p>
            <a:pPr marL="742950" lvl="1" indent="-285750" algn="just">
              <a:spcAft>
                <a:spcPts val="600"/>
              </a:spcAft>
              <a:buFont typeface="+mj-lt"/>
              <a:buAutoNum type="alphaLcParenR"/>
            </a:pPr>
            <a:r>
              <a:rPr lang="it-IT" sz="2000" dirty="0">
                <a:ea typeface="Times New Roman" panose="02020603050405020304" pitchFamily="18" charset="0"/>
              </a:rPr>
              <a:t>Scrivere (in formula) la distribuzione di probabilità di </a:t>
            </a:r>
            <a:r>
              <a:rPr lang="it-IT" sz="2000" i="1" dirty="0">
                <a:ea typeface="Times New Roman" panose="02020603050405020304" pitchFamily="18" charset="0"/>
              </a:rPr>
              <a:t>X</a:t>
            </a:r>
            <a:r>
              <a:rPr lang="it-IT" sz="2000" dirty="0"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375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DDBD6822-8654-4490-8AE5-4E743B45FC10}"/>
              </a:ext>
            </a:extLst>
          </p:cNvPr>
          <p:cNvSpPr/>
          <p:nvPr/>
        </p:nvSpPr>
        <p:spPr>
          <a:xfrm>
            <a:off x="539552" y="620688"/>
            <a:ext cx="8424936" cy="32993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0"/>
              </a:spcAft>
            </a:pPr>
            <a:r>
              <a:rPr lang="it-IT" sz="2000" dirty="0">
                <a:ea typeface="Calibri" panose="020F0502020204030204" pitchFamily="34" charset="0"/>
                <a:cs typeface="Times New Roman" panose="02020603050405020304" pitchFamily="18" charset="0"/>
              </a:rPr>
              <a:t>2) In un sistema di trasmissione dati, i pacchetti binari (sequenze di 0 e 1) vengono inviati uno alla volta. A causa di disturbi, un pacchetto può risultare errato con probabilità (1-</a:t>
            </a:r>
            <a:r>
              <a:rPr lang="it-IT" sz="2000" dirty="0"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𝑝)</a:t>
            </a:r>
            <a:r>
              <a:rPr lang="it-IT" sz="2000" dirty="0">
                <a:ea typeface="Calibri" panose="020F0502020204030204" pitchFamily="34" charset="0"/>
                <a:cs typeface="Times New Roman" panose="02020603050405020304" pitchFamily="18" charset="0"/>
              </a:rPr>
              <a:t>, e in tal caso viene scartato e ritrasmesso. Chiamiamo X la variabile casuale che rappresenta il numero totale di trasmissioni necessarie prima che un pacchetto sia ricevuto correttamente per la prima volta. </a:t>
            </a:r>
            <a:endParaRPr lang="it-IT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spcAft>
                <a:spcPts val="0"/>
              </a:spcAft>
              <a:buFont typeface="+mj-lt"/>
              <a:buAutoNum type="alphaLcParenR"/>
            </a:pPr>
            <a:r>
              <a:rPr lang="it-IT" sz="2000" dirty="0">
                <a:ea typeface="Times New Roman" panose="02020603050405020304" pitchFamily="18" charset="0"/>
              </a:rPr>
              <a:t>Qual è la probabilità che il primo pacchetto ricevuto sia subito corretto?</a:t>
            </a:r>
          </a:p>
          <a:p>
            <a:pPr marL="742950" lvl="1" indent="-285750" algn="just">
              <a:spcAft>
                <a:spcPts val="0"/>
              </a:spcAft>
              <a:buFont typeface="+mj-lt"/>
              <a:buAutoNum type="alphaLcParenR"/>
            </a:pPr>
            <a:r>
              <a:rPr lang="it-IT" sz="2000" dirty="0">
                <a:ea typeface="Times New Roman" panose="02020603050405020304" pitchFamily="18" charset="0"/>
              </a:rPr>
              <a:t>Qual è la probabilità che il primo pacchetto corretto venga ricevuto al terzo tentativo?</a:t>
            </a:r>
          </a:p>
          <a:p>
            <a:pPr marL="742950" lvl="1" indent="-285750" algn="just">
              <a:spcAft>
                <a:spcPts val="600"/>
              </a:spcAft>
              <a:buFont typeface="+mj-lt"/>
              <a:buAutoNum type="alphaLcParenR"/>
            </a:pPr>
            <a:r>
              <a:rPr lang="it-IT" sz="2000" dirty="0">
                <a:ea typeface="Times New Roman" panose="02020603050405020304" pitchFamily="18" charset="0"/>
              </a:rPr>
              <a:t>Scrivere (in formula) la distribuzione di probabilità di </a:t>
            </a:r>
            <a:r>
              <a:rPr lang="it-IT" sz="2000" i="1" dirty="0">
                <a:ea typeface="Times New Roman" panose="02020603050405020304" pitchFamily="18" charset="0"/>
              </a:rPr>
              <a:t>X</a:t>
            </a:r>
            <a:r>
              <a:rPr lang="it-IT" sz="2000" dirty="0">
                <a:ea typeface="Times New Roman" panose="02020603050405020304" pitchFamily="18" charset="0"/>
              </a:rPr>
              <a:t>.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A78D00AF-D807-43DA-9AFB-442A0F326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4653136"/>
            <a:ext cx="5381625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623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5CF44AC2-8E94-4336-9916-2B4EDF5E2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052736"/>
            <a:ext cx="6600825" cy="363855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060682EA-86CB-4C9C-93E8-9299D7334937}"/>
              </a:ext>
            </a:extLst>
          </p:cNvPr>
          <p:cNvSpPr txBox="1"/>
          <p:nvPr/>
        </p:nvSpPr>
        <p:spPr>
          <a:xfrm>
            <a:off x="1547664" y="5085184"/>
            <a:ext cx="1617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Geometrica</a:t>
            </a:r>
          </a:p>
        </p:txBody>
      </p:sp>
    </p:spTree>
    <p:extLst>
      <p:ext uri="{BB962C8B-B14F-4D97-AF65-F5344CB8AC3E}">
        <p14:creationId xmlns:p14="http://schemas.microsoft.com/office/powerpoint/2010/main" val="2033744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27C7B9FD-8B72-45F2-855D-6F5A0DEC56F1}"/>
              </a:ext>
            </a:extLst>
          </p:cNvPr>
          <p:cNvSpPr/>
          <p:nvPr/>
        </p:nvSpPr>
        <p:spPr>
          <a:xfrm>
            <a:off x="1259632" y="476672"/>
            <a:ext cx="59584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90" algn="ctr">
              <a:spcBef>
                <a:spcPts val="300"/>
              </a:spcBef>
              <a:spcAft>
                <a:spcPts val="0"/>
              </a:spcAft>
            </a:pPr>
            <a:r>
              <a:rPr lang="it-IT" b="1" dirty="0">
                <a:ea typeface="Times New Roman" panose="02020603050405020304" pitchFamily="18" charset="0"/>
              </a:rPr>
              <a:t>Probabilità e Statistica – 26 maggio 2025</a:t>
            </a:r>
            <a:endParaRPr lang="it-IT" sz="1400" dirty="0">
              <a:ea typeface="Times New Roman" panose="02020603050405020304" pitchFamily="18" charset="0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CE56F9A6-9770-42C2-B501-4381CA592110}"/>
              </a:ext>
            </a:extLst>
          </p:cNvPr>
          <p:cNvSpPr/>
          <p:nvPr/>
        </p:nvSpPr>
        <p:spPr>
          <a:xfrm>
            <a:off x="467544" y="1340768"/>
            <a:ext cx="770485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600"/>
              </a:spcBef>
              <a:spcAft>
                <a:spcPts val="0"/>
              </a:spcAft>
              <a:buSzPts val="1200"/>
            </a:pPr>
            <a:r>
              <a:rPr lang="it-IT" dirty="0">
                <a:ea typeface="Times New Roman" panose="02020603050405020304" pitchFamily="18" charset="0"/>
              </a:rPr>
              <a:t>1) Siano </a:t>
            </a:r>
            <a:r>
              <a:rPr lang="it-IT" i="1" dirty="0">
                <a:ea typeface="Times New Roman" panose="02020603050405020304" pitchFamily="18" charset="0"/>
              </a:rPr>
              <a:t>A</a:t>
            </a:r>
            <a:r>
              <a:rPr lang="it-IT" dirty="0">
                <a:ea typeface="Times New Roman" panose="02020603050405020304" pitchFamily="18" charset="0"/>
              </a:rPr>
              <a:t> e </a:t>
            </a:r>
            <a:r>
              <a:rPr lang="it-IT" i="1" dirty="0">
                <a:ea typeface="Times New Roman" panose="02020603050405020304" pitchFamily="18" charset="0"/>
              </a:rPr>
              <a:t>B</a:t>
            </a:r>
            <a:r>
              <a:rPr lang="it-IT" dirty="0">
                <a:ea typeface="Times New Roman" panose="02020603050405020304" pitchFamily="18" charset="0"/>
              </a:rPr>
              <a:t> due eventi dello spazio campionario Ω tali che P(</a:t>
            </a:r>
            <a:r>
              <a:rPr lang="it-IT" i="1" dirty="0">
                <a:ea typeface="Times New Roman" panose="02020603050405020304" pitchFamily="18" charset="0"/>
              </a:rPr>
              <a:t>A</a:t>
            </a:r>
            <a:r>
              <a:rPr lang="it-IT" dirty="0">
                <a:ea typeface="Times New Roman" panose="02020603050405020304" pitchFamily="18" charset="0"/>
              </a:rPr>
              <a:t>)=0.3 e P(</a:t>
            </a:r>
            <a:r>
              <a:rPr lang="it-IT" i="1" dirty="0">
                <a:ea typeface="Times New Roman" panose="02020603050405020304" pitchFamily="18" charset="0"/>
              </a:rPr>
              <a:t>A</a:t>
            </a:r>
            <a:r>
              <a:rPr lang="it-IT" dirty="0"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∪</a:t>
            </a:r>
            <a:r>
              <a:rPr lang="it-IT" i="1" dirty="0">
                <a:ea typeface="Times New Roman" panose="02020603050405020304" pitchFamily="18" charset="0"/>
              </a:rPr>
              <a:t>B</a:t>
            </a:r>
            <a:r>
              <a:rPr lang="it-IT" dirty="0">
                <a:ea typeface="Times New Roman" panose="02020603050405020304" pitchFamily="18" charset="0"/>
              </a:rPr>
              <a:t>)=0.8. Determinare P(</a:t>
            </a:r>
            <a:r>
              <a:rPr lang="it-IT" i="1" dirty="0">
                <a:ea typeface="Times New Roman" panose="02020603050405020304" pitchFamily="18" charset="0"/>
              </a:rPr>
              <a:t>B</a:t>
            </a:r>
            <a:r>
              <a:rPr lang="it-IT" dirty="0">
                <a:ea typeface="Times New Roman" panose="02020603050405020304" pitchFamily="18" charset="0"/>
              </a:rPr>
              <a:t>):</a:t>
            </a:r>
            <a:endParaRPr lang="it-IT" sz="1600" dirty="0">
              <a:ea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  <a:buSzPts val="1200"/>
            </a:pPr>
            <a:r>
              <a:rPr lang="it-IT" dirty="0">
                <a:ea typeface="Times New Roman" panose="02020603050405020304" pitchFamily="18" charset="0"/>
              </a:rPr>
              <a:t>a) se </a:t>
            </a:r>
            <a:r>
              <a:rPr lang="it-IT" i="1" dirty="0">
                <a:ea typeface="Times New Roman" panose="02020603050405020304" pitchFamily="18" charset="0"/>
              </a:rPr>
              <a:t>A</a:t>
            </a:r>
            <a:r>
              <a:rPr lang="it-IT" dirty="0">
                <a:ea typeface="Times New Roman" panose="02020603050405020304" pitchFamily="18" charset="0"/>
              </a:rPr>
              <a:t> e </a:t>
            </a:r>
            <a:r>
              <a:rPr lang="it-IT" i="1" dirty="0">
                <a:ea typeface="Times New Roman" panose="02020603050405020304" pitchFamily="18" charset="0"/>
              </a:rPr>
              <a:t>B</a:t>
            </a:r>
            <a:r>
              <a:rPr lang="it-IT" dirty="0">
                <a:ea typeface="Times New Roman" panose="02020603050405020304" pitchFamily="18" charset="0"/>
              </a:rPr>
              <a:t> sono indipendenti,</a:t>
            </a:r>
            <a:endParaRPr lang="it-IT" sz="1600" dirty="0">
              <a:ea typeface="Times New Roman" panose="02020603050405020304" pitchFamily="18" charset="0"/>
            </a:endParaRPr>
          </a:p>
          <a:p>
            <a:pPr lvl="0" algn="just">
              <a:spcAft>
                <a:spcPts val="600"/>
              </a:spcAft>
              <a:buSzPts val="1200"/>
            </a:pPr>
            <a:r>
              <a:rPr lang="it-IT" dirty="0">
                <a:ea typeface="Times New Roman" panose="02020603050405020304" pitchFamily="18" charset="0"/>
              </a:rPr>
              <a:t>b) se P(</a:t>
            </a:r>
            <a:r>
              <a:rPr lang="it-IT" i="1" dirty="0">
                <a:ea typeface="Times New Roman" panose="02020603050405020304" pitchFamily="18" charset="0"/>
              </a:rPr>
              <a:t>A</a:t>
            </a:r>
            <a:r>
              <a:rPr lang="it-IT" dirty="0">
                <a:ea typeface="Times New Roman" panose="02020603050405020304" pitchFamily="18" charset="0"/>
              </a:rPr>
              <a:t>|</a:t>
            </a:r>
            <a:r>
              <a:rPr lang="it-IT" i="1" dirty="0">
                <a:ea typeface="Times New Roman" panose="02020603050405020304" pitchFamily="18" charset="0"/>
              </a:rPr>
              <a:t>B</a:t>
            </a:r>
            <a:r>
              <a:rPr lang="it-IT" dirty="0">
                <a:ea typeface="Times New Roman" panose="02020603050405020304" pitchFamily="18" charset="0"/>
              </a:rPr>
              <a:t>)=0.2.     </a:t>
            </a:r>
            <a:endParaRPr lang="it-IT" sz="16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260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27C7B9FD-8B72-45F2-855D-6F5A0DEC56F1}"/>
              </a:ext>
            </a:extLst>
          </p:cNvPr>
          <p:cNvSpPr/>
          <p:nvPr/>
        </p:nvSpPr>
        <p:spPr>
          <a:xfrm>
            <a:off x="1259632" y="476672"/>
            <a:ext cx="59584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90" algn="ctr">
              <a:spcBef>
                <a:spcPts val="300"/>
              </a:spcBef>
              <a:spcAft>
                <a:spcPts val="0"/>
              </a:spcAft>
            </a:pPr>
            <a:r>
              <a:rPr lang="it-IT" b="1" dirty="0">
                <a:ea typeface="Times New Roman" panose="02020603050405020304" pitchFamily="18" charset="0"/>
              </a:rPr>
              <a:t>Probabilità e Statistica – 26 maggio 2025</a:t>
            </a:r>
            <a:endParaRPr lang="it-IT" sz="1400" dirty="0">
              <a:ea typeface="Times New Roman" panose="02020603050405020304" pitchFamily="18" charset="0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CE56F9A6-9770-42C2-B501-4381CA592110}"/>
              </a:ext>
            </a:extLst>
          </p:cNvPr>
          <p:cNvSpPr/>
          <p:nvPr/>
        </p:nvSpPr>
        <p:spPr>
          <a:xfrm>
            <a:off x="386408" y="4164504"/>
            <a:ext cx="77048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600"/>
              </a:spcBef>
              <a:spcAft>
                <a:spcPts val="0"/>
              </a:spcAft>
              <a:buSzPts val="1200"/>
            </a:pPr>
            <a:r>
              <a:rPr lang="it-IT" dirty="0">
                <a:ea typeface="Times New Roman" panose="02020603050405020304" pitchFamily="18" charset="0"/>
              </a:rPr>
              <a:t>Determinare P(</a:t>
            </a:r>
            <a:r>
              <a:rPr lang="it-IT" i="1" dirty="0">
                <a:ea typeface="Times New Roman" panose="02020603050405020304" pitchFamily="18" charset="0"/>
              </a:rPr>
              <a:t>B</a:t>
            </a:r>
            <a:r>
              <a:rPr lang="it-IT" dirty="0">
                <a:ea typeface="Times New Roman" panose="02020603050405020304" pitchFamily="18" charset="0"/>
              </a:rPr>
              <a:t>):</a:t>
            </a:r>
            <a:endParaRPr lang="it-IT" sz="1600" dirty="0">
              <a:ea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  <a:buSzPts val="1200"/>
            </a:pPr>
            <a:r>
              <a:rPr lang="it-IT" dirty="0">
                <a:ea typeface="Times New Roman" panose="02020603050405020304" pitchFamily="18" charset="0"/>
              </a:rPr>
              <a:t>a) se </a:t>
            </a:r>
            <a:r>
              <a:rPr lang="it-IT" i="1" dirty="0">
                <a:ea typeface="Times New Roman" panose="02020603050405020304" pitchFamily="18" charset="0"/>
              </a:rPr>
              <a:t>A</a:t>
            </a:r>
            <a:r>
              <a:rPr lang="it-IT" dirty="0">
                <a:ea typeface="Times New Roman" panose="02020603050405020304" pitchFamily="18" charset="0"/>
              </a:rPr>
              <a:t> e </a:t>
            </a:r>
            <a:r>
              <a:rPr lang="it-IT" i="1" dirty="0">
                <a:ea typeface="Times New Roman" panose="02020603050405020304" pitchFamily="18" charset="0"/>
              </a:rPr>
              <a:t>B</a:t>
            </a:r>
            <a:r>
              <a:rPr lang="it-IT" dirty="0">
                <a:ea typeface="Times New Roman" panose="02020603050405020304" pitchFamily="18" charset="0"/>
              </a:rPr>
              <a:t> sono indipendenti</a:t>
            </a:r>
            <a:endParaRPr lang="it-IT" sz="1600" dirty="0">
              <a:ea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76383D9-9C06-4C78-B5F3-677961CD5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738740"/>
            <a:ext cx="3800475" cy="40957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569D8028-A8AA-4074-AE2B-441E1DD2B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5" y="3429000"/>
            <a:ext cx="4104456" cy="441339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E5627285-2081-4FCF-908B-5150592748EB}"/>
              </a:ext>
            </a:extLst>
          </p:cNvPr>
          <p:cNvSpPr/>
          <p:nvPr/>
        </p:nvSpPr>
        <p:spPr>
          <a:xfrm>
            <a:off x="619944" y="1493168"/>
            <a:ext cx="77048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600"/>
              </a:spcBef>
              <a:spcAft>
                <a:spcPts val="0"/>
              </a:spcAft>
              <a:buSzPts val="1200"/>
            </a:pPr>
            <a:r>
              <a:rPr lang="it-IT" dirty="0">
                <a:ea typeface="Times New Roman" panose="02020603050405020304" pitchFamily="18" charset="0"/>
              </a:rPr>
              <a:t>1) Siano </a:t>
            </a:r>
            <a:r>
              <a:rPr lang="it-IT" i="1" dirty="0">
                <a:ea typeface="Times New Roman" panose="02020603050405020304" pitchFamily="18" charset="0"/>
              </a:rPr>
              <a:t>A</a:t>
            </a:r>
            <a:r>
              <a:rPr lang="it-IT" dirty="0">
                <a:ea typeface="Times New Roman" panose="02020603050405020304" pitchFamily="18" charset="0"/>
              </a:rPr>
              <a:t> e </a:t>
            </a:r>
            <a:r>
              <a:rPr lang="it-IT" i="1" dirty="0">
                <a:ea typeface="Times New Roman" panose="02020603050405020304" pitchFamily="18" charset="0"/>
              </a:rPr>
              <a:t>B</a:t>
            </a:r>
            <a:r>
              <a:rPr lang="it-IT" dirty="0">
                <a:ea typeface="Times New Roman" panose="02020603050405020304" pitchFamily="18" charset="0"/>
              </a:rPr>
              <a:t> due eventi dello spazio campionario Ω tali che P(</a:t>
            </a:r>
            <a:r>
              <a:rPr lang="it-IT" i="1" dirty="0">
                <a:ea typeface="Times New Roman" panose="02020603050405020304" pitchFamily="18" charset="0"/>
              </a:rPr>
              <a:t>A</a:t>
            </a:r>
            <a:r>
              <a:rPr lang="it-IT" dirty="0">
                <a:ea typeface="Times New Roman" panose="02020603050405020304" pitchFamily="18" charset="0"/>
              </a:rPr>
              <a:t>)=0.3 e P(</a:t>
            </a:r>
            <a:r>
              <a:rPr lang="it-IT" i="1" dirty="0">
                <a:ea typeface="Times New Roman" panose="02020603050405020304" pitchFamily="18" charset="0"/>
              </a:rPr>
              <a:t>A</a:t>
            </a:r>
            <a:r>
              <a:rPr lang="it-IT" dirty="0"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∪</a:t>
            </a:r>
            <a:r>
              <a:rPr lang="it-IT" i="1" dirty="0">
                <a:ea typeface="Times New Roman" panose="02020603050405020304" pitchFamily="18" charset="0"/>
              </a:rPr>
              <a:t>B</a:t>
            </a:r>
            <a:r>
              <a:rPr lang="it-IT" dirty="0">
                <a:ea typeface="Times New Roman" panose="02020603050405020304" pitchFamily="18" charset="0"/>
              </a:rPr>
              <a:t>)=0.8</a:t>
            </a:r>
            <a:endParaRPr lang="it-IT" sz="16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755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27C7B9FD-8B72-45F2-855D-6F5A0DEC56F1}"/>
              </a:ext>
            </a:extLst>
          </p:cNvPr>
          <p:cNvSpPr/>
          <p:nvPr/>
        </p:nvSpPr>
        <p:spPr>
          <a:xfrm>
            <a:off x="1259632" y="476672"/>
            <a:ext cx="59584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90" algn="ctr">
              <a:spcBef>
                <a:spcPts val="300"/>
              </a:spcBef>
              <a:spcAft>
                <a:spcPts val="0"/>
              </a:spcAft>
            </a:pPr>
            <a:r>
              <a:rPr lang="it-IT" b="1" dirty="0">
                <a:ea typeface="Times New Roman" panose="02020603050405020304" pitchFamily="18" charset="0"/>
              </a:rPr>
              <a:t>Probabilità e Statistica – 26 maggio 2025</a:t>
            </a:r>
            <a:endParaRPr lang="it-IT" sz="1400" dirty="0">
              <a:ea typeface="Times New Roman" panose="02020603050405020304" pitchFamily="18" charset="0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CE56F9A6-9770-42C2-B501-4381CA592110}"/>
              </a:ext>
            </a:extLst>
          </p:cNvPr>
          <p:cNvSpPr/>
          <p:nvPr/>
        </p:nvSpPr>
        <p:spPr>
          <a:xfrm>
            <a:off x="386408" y="4164504"/>
            <a:ext cx="77048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600"/>
              </a:spcBef>
              <a:spcAft>
                <a:spcPts val="0"/>
              </a:spcAft>
              <a:buSzPts val="1200"/>
            </a:pPr>
            <a:r>
              <a:rPr lang="it-IT" dirty="0">
                <a:ea typeface="Times New Roman" panose="02020603050405020304" pitchFamily="18" charset="0"/>
              </a:rPr>
              <a:t>Determinare P(</a:t>
            </a:r>
            <a:r>
              <a:rPr lang="it-IT" i="1" dirty="0">
                <a:ea typeface="Times New Roman" panose="02020603050405020304" pitchFamily="18" charset="0"/>
              </a:rPr>
              <a:t>B</a:t>
            </a:r>
            <a:r>
              <a:rPr lang="it-IT" dirty="0">
                <a:ea typeface="Times New Roman" panose="02020603050405020304" pitchFamily="18" charset="0"/>
              </a:rPr>
              <a:t>):</a:t>
            </a:r>
            <a:endParaRPr lang="it-IT" sz="1600" dirty="0">
              <a:ea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  <a:buSzPts val="1200"/>
            </a:pPr>
            <a:r>
              <a:rPr lang="it-IT" dirty="0">
                <a:ea typeface="Times New Roman" panose="02020603050405020304" pitchFamily="18" charset="0"/>
              </a:rPr>
              <a:t>a) se </a:t>
            </a:r>
            <a:r>
              <a:rPr lang="it-IT" i="1" dirty="0">
                <a:ea typeface="Times New Roman" panose="02020603050405020304" pitchFamily="18" charset="0"/>
              </a:rPr>
              <a:t>A</a:t>
            </a:r>
            <a:r>
              <a:rPr lang="it-IT" dirty="0">
                <a:ea typeface="Times New Roman" panose="02020603050405020304" pitchFamily="18" charset="0"/>
              </a:rPr>
              <a:t> e </a:t>
            </a:r>
            <a:r>
              <a:rPr lang="it-IT" i="1" dirty="0">
                <a:ea typeface="Times New Roman" panose="02020603050405020304" pitchFamily="18" charset="0"/>
              </a:rPr>
              <a:t>B</a:t>
            </a:r>
            <a:r>
              <a:rPr lang="it-IT" dirty="0">
                <a:ea typeface="Times New Roman" panose="02020603050405020304" pitchFamily="18" charset="0"/>
              </a:rPr>
              <a:t> sono indipendenti</a:t>
            </a:r>
            <a:endParaRPr lang="it-IT" sz="1600" dirty="0">
              <a:ea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76383D9-9C06-4C78-B5F3-677961CD5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738740"/>
            <a:ext cx="3800475" cy="40957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569D8028-A8AA-4074-AE2B-441E1DD2B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5" y="3429000"/>
            <a:ext cx="4104456" cy="441339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E5627285-2081-4FCF-908B-5150592748EB}"/>
              </a:ext>
            </a:extLst>
          </p:cNvPr>
          <p:cNvSpPr/>
          <p:nvPr/>
        </p:nvSpPr>
        <p:spPr>
          <a:xfrm>
            <a:off x="619944" y="1493168"/>
            <a:ext cx="77048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600"/>
              </a:spcBef>
              <a:spcAft>
                <a:spcPts val="0"/>
              </a:spcAft>
              <a:buSzPts val="1200"/>
            </a:pPr>
            <a:r>
              <a:rPr lang="it-IT" dirty="0">
                <a:ea typeface="Times New Roman" panose="02020603050405020304" pitchFamily="18" charset="0"/>
              </a:rPr>
              <a:t>1) Siano </a:t>
            </a:r>
            <a:r>
              <a:rPr lang="it-IT" i="1" dirty="0">
                <a:ea typeface="Times New Roman" panose="02020603050405020304" pitchFamily="18" charset="0"/>
              </a:rPr>
              <a:t>A</a:t>
            </a:r>
            <a:r>
              <a:rPr lang="it-IT" dirty="0">
                <a:ea typeface="Times New Roman" panose="02020603050405020304" pitchFamily="18" charset="0"/>
              </a:rPr>
              <a:t> e </a:t>
            </a:r>
            <a:r>
              <a:rPr lang="it-IT" i="1" dirty="0">
                <a:ea typeface="Times New Roman" panose="02020603050405020304" pitchFamily="18" charset="0"/>
              </a:rPr>
              <a:t>B</a:t>
            </a:r>
            <a:r>
              <a:rPr lang="it-IT" dirty="0">
                <a:ea typeface="Times New Roman" panose="02020603050405020304" pitchFamily="18" charset="0"/>
              </a:rPr>
              <a:t> due eventi dello spazio campionario Ω tali che P(</a:t>
            </a:r>
            <a:r>
              <a:rPr lang="it-IT" i="1" dirty="0">
                <a:ea typeface="Times New Roman" panose="02020603050405020304" pitchFamily="18" charset="0"/>
              </a:rPr>
              <a:t>A</a:t>
            </a:r>
            <a:r>
              <a:rPr lang="it-IT" dirty="0">
                <a:ea typeface="Times New Roman" panose="02020603050405020304" pitchFamily="18" charset="0"/>
              </a:rPr>
              <a:t>)=0.3 e P(</a:t>
            </a:r>
            <a:r>
              <a:rPr lang="it-IT" i="1" dirty="0">
                <a:ea typeface="Times New Roman" panose="02020603050405020304" pitchFamily="18" charset="0"/>
              </a:rPr>
              <a:t>A</a:t>
            </a:r>
            <a:r>
              <a:rPr lang="it-IT" dirty="0"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∪</a:t>
            </a:r>
            <a:r>
              <a:rPr lang="it-IT" i="1" dirty="0">
                <a:ea typeface="Times New Roman" panose="02020603050405020304" pitchFamily="18" charset="0"/>
              </a:rPr>
              <a:t>B</a:t>
            </a:r>
            <a:r>
              <a:rPr lang="it-IT" dirty="0">
                <a:ea typeface="Times New Roman" panose="02020603050405020304" pitchFamily="18" charset="0"/>
              </a:rPr>
              <a:t>)=0.8</a:t>
            </a:r>
            <a:endParaRPr lang="it-IT" sz="1600" dirty="0">
              <a:ea typeface="Times New Roman" panose="02020603050405020304" pitchFamily="18" charset="0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8F6818F8-F743-4A5B-90E1-7747037EDB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408" y="5289666"/>
            <a:ext cx="6629400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44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1C5E990D-4AEE-4415-8C9D-7C9C42FC1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2" y="1090612"/>
            <a:ext cx="7419975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791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8245ED1D-5396-4F2D-B1DB-6623F3228D1A}"/>
              </a:ext>
            </a:extLst>
          </p:cNvPr>
          <p:cNvSpPr/>
          <p:nvPr/>
        </p:nvSpPr>
        <p:spPr>
          <a:xfrm>
            <a:off x="467544" y="620688"/>
            <a:ext cx="770485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600"/>
              </a:spcBef>
              <a:spcAft>
                <a:spcPts val="0"/>
              </a:spcAft>
              <a:buSzPts val="1200"/>
            </a:pPr>
            <a:r>
              <a:rPr lang="it-IT" dirty="0">
                <a:ea typeface="Times New Roman" panose="02020603050405020304" pitchFamily="18" charset="0"/>
              </a:rPr>
              <a:t>1) Siano </a:t>
            </a:r>
            <a:r>
              <a:rPr lang="it-IT" i="1" dirty="0">
                <a:ea typeface="Times New Roman" panose="02020603050405020304" pitchFamily="18" charset="0"/>
              </a:rPr>
              <a:t>A</a:t>
            </a:r>
            <a:r>
              <a:rPr lang="it-IT" dirty="0">
                <a:ea typeface="Times New Roman" panose="02020603050405020304" pitchFamily="18" charset="0"/>
              </a:rPr>
              <a:t> e </a:t>
            </a:r>
            <a:r>
              <a:rPr lang="it-IT" i="1" dirty="0">
                <a:ea typeface="Times New Roman" panose="02020603050405020304" pitchFamily="18" charset="0"/>
              </a:rPr>
              <a:t>B</a:t>
            </a:r>
            <a:r>
              <a:rPr lang="it-IT" dirty="0">
                <a:ea typeface="Times New Roman" panose="02020603050405020304" pitchFamily="18" charset="0"/>
              </a:rPr>
              <a:t> due eventi dello spazio campionario Ω tali che P(</a:t>
            </a:r>
            <a:r>
              <a:rPr lang="it-IT" i="1" dirty="0">
                <a:ea typeface="Times New Roman" panose="02020603050405020304" pitchFamily="18" charset="0"/>
              </a:rPr>
              <a:t>A</a:t>
            </a:r>
            <a:r>
              <a:rPr lang="it-IT" dirty="0">
                <a:ea typeface="Times New Roman" panose="02020603050405020304" pitchFamily="18" charset="0"/>
              </a:rPr>
              <a:t>)=0.3 e P(</a:t>
            </a:r>
            <a:r>
              <a:rPr lang="it-IT" i="1" dirty="0">
                <a:ea typeface="Times New Roman" panose="02020603050405020304" pitchFamily="18" charset="0"/>
              </a:rPr>
              <a:t>A</a:t>
            </a:r>
            <a:r>
              <a:rPr lang="it-IT" dirty="0"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∪</a:t>
            </a:r>
            <a:r>
              <a:rPr lang="it-IT" i="1" dirty="0">
                <a:ea typeface="Times New Roman" panose="02020603050405020304" pitchFamily="18" charset="0"/>
              </a:rPr>
              <a:t>B</a:t>
            </a:r>
            <a:r>
              <a:rPr lang="it-IT" dirty="0">
                <a:ea typeface="Times New Roman" panose="02020603050405020304" pitchFamily="18" charset="0"/>
              </a:rPr>
              <a:t>)=0.8. Determinare P(</a:t>
            </a:r>
            <a:r>
              <a:rPr lang="it-IT" i="1" dirty="0">
                <a:ea typeface="Times New Roman" panose="02020603050405020304" pitchFamily="18" charset="0"/>
              </a:rPr>
              <a:t>B</a:t>
            </a:r>
            <a:r>
              <a:rPr lang="it-IT" dirty="0">
                <a:ea typeface="Times New Roman" panose="02020603050405020304" pitchFamily="18" charset="0"/>
              </a:rPr>
              <a:t>):</a:t>
            </a:r>
            <a:endParaRPr lang="it-IT" sz="1600" dirty="0">
              <a:ea typeface="Times New Roman" panose="02020603050405020304" pitchFamily="18" charset="0"/>
            </a:endParaRPr>
          </a:p>
          <a:p>
            <a:pPr lvl="0" algn="just">
              <a:spcAft>
                <a:spcPts val="600"/>
              </a:spcAft>
              <a:buSzPts val="1200"/>
            </a:pPr>
            <a:r>
              <a:rPr lang="it-IT" dirty="0">
                <a:ea typeface="Times New Roman" panose="02020603050405020304" pitchFamily="18" charset="0"/>
              </a:rPr>
              <a:t>b) se P(</a:t>
            </a:r>
            <a:r>
              <a:rPr lang="it-IT" i="1" dirty="0">
                <a:ea typeface="Times New Roman" panose="02020603050405020304" pitchFamily="18" charset="0"/>
              </a:rPr>
              <a:t>A</a:t>
            </a:r>
            <a:r>
              <a:rPr lang="it-IT" dirty="0">
                <a:ea typeface="Times New Roman" panose="02020603050405020304" pitchFamily="18" charset="0"/>
              </a:rPr>
              <a:t>|</a:t>
            </a:r>
            <a:r>
              <a:rPr lang="it-IT" i="1" dirty="0">
                <a:ea typeface="Times New Roman" panose="02020603050405020304" pitchFamily="18" charset="0"/>
              </a:rPr>
              <a:t>B</a:t>
            </a:r>
            <a:r>
              <a:rPr lang="it-IT" dirty="0">
                <a:ea typeface="Times New Roman" panose="02020603050405020304" pitchFamily="18" charset="0"/>
              </a:rPr>
              <a:t>)=0.2.     </a:t>
            </a:r>
            <a:endParaRPr lang="it-IT" sz="1600" dirty="0">
              <a:ea typeface="Times New Roman" panose="02020603050405020304" pitchFamily="18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848B7FE6-31DC-4272-8AFA-858D3CFBF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988840"/>
            <a:ext cx="2771775" cy="2686050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812EFF13-CF54-475D-BF05-823BEDE91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6402" y="4005064"/>
            <a:ext cx="3438525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0457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DB18CB67-5D72-45AB-8D1F-44A24105FF48}"/>
              </a:ext>
            </a:extLst>
          </p:cNvPr>
          <p:cNvSpPr/>
          <p:nvPr/>
        </p:nvSpPr>
        <p:spPr>
          <a:xfrm>
            <a:off x="251520" y="980728"/>
            <a:ext cx="81369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600"/>
              </a:spcBef>
              <a:spcAft>
                <a:spcPts val="0"/>
              </a:spcAft>
              <a:buSzPts val="1200"/>
            </a:pPr>
            <a:r>
              <a:rPr lang="it-IT" sz="1800" dirty="0">
                <a:ea typeface="Times New Roman" panose="02020603050405020304" pitchFamily="18" charset="0"/>
              </a:rPr>
              <a:t>3) Un test per valutare se una connessione Internet è funzionante viene applicato a 50 connessioni, delle quali 45 sono funzionanti e 5 non sono funzionanti. Il test classifica correttamente come funzionanti (test positivo) l’88.89% di coloro che effettivamente funzionano; purtroppo classifica come funzionanti (test positivo) il 20% di coloro che non funzionano. Considerando a caso una connessione, calcolare:</a:t>
            </a:r>
          </a:p>
          <a:p>
            <a:pPr marL="342900" lvl="0" indent="-342900" algn="just">
              <a:spcAft>
                <a:spcPts val="0"/>
              </a:spcAft>
              <a:buSzPts val="1200"/>
              <a:buFont typeface="+mj-lt"/>
              <a:buAutoNum type="alphaLcParenR"/>
            </a:pPr>
            <a:r>
              <a:rPr lang="it-IT" sz="1800" dirty="0">
                <a:ea typeface="Times New Roman" panose="02020603050405020304" pitchFamily="18" charset="0"/>
              </a:rPr>
              <a:t>la probabilità che il test sia positivo;</a:t>
            </a:r>
          </a:p>
          <a:p>
            <a:pPr marL="342900" lvl="0" indent="-342900" algn="just">
              <a:spcAft>
                <a:spcPts val="0"/>
              </a:spcAft>
              <a:buSzPts val="1200"/>
              <a:buFont typeface="+mj-lt"/>
              <a:buAutoNum type="alphaLcParenR"/>
            </a:pPr>
            <a:r>
              <a:rPr lang="it-IT" sz="1800" dirty="0">
                <a:ea typeface="Times New Roman" panose="02020603050405020304" pitchFamily="18" charset="0"/>
              </a:rPr>
              <a:t>la probabilità che una connessione con test positivo non sia funzionante;</a:t>
            </a:r>
          </a:p>
          <a:p>
            <a:pPr marL="342900" lvl="0" indent="-342900" algn="just">
              <a:spcAft>
                <a:spcPts val="600"/>
              </a:spcAft>
              <a:buSzPts val="1200"/>
              <a:buFont typeface="+mj-lt"/>
              <a:buAutoNum type="alphaLcParenR"/>
            </a:pPr>
            <a:r>
              <a:rPr lang="it-IT" sz="1800" dirty="0">
                <a:ea typeface="Times New Roman" panose="02020603050405020304" pitchFamily="18" charset="0"/>
              </a:rPr>
              <a:t>la probabilità che una connessione con test negativo sia funzionante.</a:t>
            </a:r>
          </a:p>
        </p:txBody>
      </p:sp>
    </p:spTree>
    <p:extLst>
      <p:ext uri="{BB962C8B-B14F-4D97-AF65-F5344CB8AC3E}">
        <p14:creationId xmlns:p14="http://schemas.microsoft.com/office/powerpoint/2010/main" val="1309412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DB18CB67-5D72-45AB-8D1F-44A24105FF48}"/>
              </a:ext>
            </a:extLst>
          </p:cNvPr>
          <p:cNvSpPr/>
          <p:nvPr/>
        </p:nvSpPr>
        <p:spPr>
          <a:xfrm>
            <a:off x="251520" y="230088"/>
            <a:ext cx="81369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600"/>
              </a:spcBef>
              <a:spcAft>
                <a:spcPts val="0"/>
              </a:spcAft>
              <a:buSzPts val="1200"/>
            </a:pPr>
            <a:r>
              <a:rPr lang="it-IT" sz="1800" dirty="0">
                <a:ea typeface="Times New Roman" panose="02020603050405020304" pitchFamily="18" charset="0"/>
              </a:rPr>
              <a:t>3) Un test per valutare se una connessione Internet è funzionante viene applicato a 50 connessioni, delle quali 45 sono funzionanti e 5 non sono funzionanti. Il test classifica correttamente come funzionanti (test positivo) l’88.89% di coloro che effettivamente funzionano; purtroppo classifica come funzionanti (test positivo) il 20% di coloro che non funzionano. Considerando a caso una connessione, calcolare:</a:t>
            </a:r>
          </a:p>
          <a:p>
            <a:pPr marL="342900" lvl="0" indent="-342900" algn="just">
              <a:spcAft>
                <a:spcPts val="0"/>
              </a:spcAft>
              <a:buSzPts val="1200"/>
              <a:buFont typeface="+mj-lt"/>
              <a:buAutoNum type="alphaLcParenR"/>
            </a:pPr>
            <a:r>
              <a:rPr lang="it-IT" sz="1800" dirty="0">
                <a:ea typeface="Times New Roman" panose="02020603050405020304" pitchFamily="18" charset="0"/>
              </a:rPr>
              <a:t>la probabilità che il test sia positivo;</a:t>
            </a:r>
          </a:p>
          <a:p>
            <a:pPr marL="342900" lvl="0" indent="-342900" algn="just">
              <a:spcAft>
                <a:spcPts val="0"/>
              </a:spcAft>
              <a:buSzPts val="1200"/>
              <a:buFont typeface="+mj-lt"/>
              <a:buAutoNum type="alphaLcParenR"/>
            </a:pPr>
            <a:r>
              <a:rPr lang="it-IT" sz="1800" dirty="0">
                <a:ea typeface="Times New Roman" panose="02020603050405020304" pitchFamily="18" charset="0"/>
              </a:rPr>
              <a:t>la probabilità che una connessione con test positivo non sia funzionante;</a:t>
            </a:r>
          </a:p>
          <a:p>
            <a:pPr marL="342900" lvl="0" indent="-342900" algn="just">
              <a:spcAft>
                <a:spcPts val="600"/>
              </a:spcAft>
              <a:buSzPts val="1200"/>
              <a:buFont typeface="+mj-lt"/>
              <a:buAutoNum type="alphaLcParenR"/>
            </a:pPr>
            <a:r>
              <a:rPr lang="it-IT" sz="1800" dirty="0">
                <a:ea typeface="Times New Roman" panose="02020603050405020304" pitchFamily="18" charset="0"/>
              </a:rPr>
              <a:t>la probabilità che una connessione con test negativo sia funzionante.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73290188-155A-48A2-B114-930737FE5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852936"/>
            <a:ext cx="6048375" cy="2009775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87932413-7676-4632-AA77-5B3FCC6FF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4941168"/>
            <a:ext cx="5838825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114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2761099C-9EEF-42F8-ADE5-A11BB3269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2121"/>
            <a:ext cx="9144000" cy="261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01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05D436C3-AF0D-4CF9-A9E7-27098F4C7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4725144"/>
            <a:ext cx="4438650" cy="1181100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979C111E-B6B2-4DA6-AB1A-E3B5C17A9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5" y="1484784"/>
            <a:ext cx="9144000" cy="261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649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A2E6856F-25F5-40DF-A789-E88900CDB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9" y="1052736"/>
            <a:ext cx="9144000" cy="2648139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4ED6C1A7-627D-41B1-A49A-0D89B7F31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4437112"/>
            <a:ext cx="476250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2076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92384672-33DF-4924-99D6-52E77130E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412776"/>
            <a:ext cx="4162425" cy="476250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5501EA66-3B43-49E7-9036-6F1B4F985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476672"/>
            <a:ext cx="4152900" cy="48577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DACC3B80-120C-482C-A18F-5E59A357A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32" y="2708920"/>
            <a:ext cx="5638800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066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3E801A1C-26E9-4801-AD69-D7C0FA770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052736"/>
            <a:ext cx="7467600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993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0658904"/>
      </p:ext>
    </p:extLst>
  </p:cSld>
  <p:clrMapOvr>
    <a:masterClrMapping/>
  </p:clrMapOvr>
</p:sld>
</file>

<file path=ppt/theme/theme1.xml><?xml version="1.0" encoding="utf-8"?>
<a:theme xmlns:a="http://schemas.openxmlformats.org/drawingml/2006/main" name="Struttura predefinita">
  <a:themeElements>
    <a:clrScheme name="Struttura predefini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ruttura predefinita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6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64" charset="0"/>
          </a:defRPr>
        </a:defPPr>
      </a:lstStyle>
    </a:lnDef>
  </a:objectDefaults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alc">
  <a:themeElements>
    <a:clrScheme name="cal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al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E45C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E45C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al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2931</TotalTime>
  <Words>981</Words>
  <Application>Microsoft Office PowerPoint</Application>
  <PresentationFormat>Presentazione su schermo (4:3)</PresentationFormat>
  <Paragraphs>41</Paragraphs>
  <Slides>25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25</vt:i4>
      </vt:variant>
    </vt:vector>
  </HeadingPairs>
  <TitlesOfParts>
    <vt:vector size="32" baseType="lpstr">
      <vt:lpstr>Arial</vt:lpstr>
      <vt:lpstr>Calibri</vt:lpstr>
      <vt:lpstr>Cambria Math</vt:lpstr>
      <vt:lpstr>Times New Roman</vt:lpstr>
      <vt:lpstr>Wingdings</vt:lpstr>
      <vt:lpstr>Struttura predefinita</vt:lpstr>
      <vt:lpstr>calc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VARIABILI CASUALI</dc:title>
  <dc:creator>Rocco Micciolo</dc:creator>
  <cp:lastModifiedBy>Canal Luisa</cp:lastModifiedBy>
  <cp:revision>475</cp:revision>
  <dcterms:created xsi:type="dcterms:W3CDTF">2006-10-21T07:26:54Z</dcterms:created>
  <dcterms:modified xsi:type="dcterms:W3CDTF">2026-03-03T18:31:29Z</dcterms:modified>
</cp:coreProperties>
</file>