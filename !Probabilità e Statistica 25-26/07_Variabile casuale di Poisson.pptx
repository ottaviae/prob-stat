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790" r:id="rId3"/>
    <p:sldMasterId id="2147483938" r:id="rId4"/>
  </p:sldMasterIdLst>
  <p:notesMasterIdLst>
    <p:notesMasterId r:id="rId29"/>
  </p:notesMasterIdLst>
  <p:handoutMasterIdLst>
    <p:handoutMasterId r:id="rId30"/>
  </p:handoutMasterIdLst>
  <p:sldIdLst>
    <p:sldId id="538" r:id="rId5"/>
    <p:sldId id="280" r:id="rId6"/>
    <p:sldId id="281" r:id="rId7"/>
    <p:sldId id="571" r:id="rId8"/>
    <p:sldId id="572" r:id="rId9"/>
    <p:sldId id="573" r:id="rId10"/>
    <p:sldId id="486" r:id="rId11"/>
    <p:sldId id="575" r:id="rId12"/>
    <p:sldId id="576" r:id="rId13"/>
    <p:sldId id="577" r:id="rId14"/>
    <p:sldId id="536" r:id="rId15"/>
    <p:sldId id="579" r:id="rId16"/>
    <p:sldId id="578" r:id="rId17"/>
    <p:sldId id="580" r:id="rId18"/>
    <p:sldId id="581" r:id="rId19"/>
    <p:sldId id="582" r:id="rId20"/>
    <p:sldId id="583" r:id="rId21"/>
    <p:sldId id="380" r:id="rId22"/>
    <p:sldId id="584" r:id="rId23"/>
    <p:sldId id="585" r:id="rId24"/>
    <p:sldId id="586" r:id="rId25"/>
    <p:sldId id="587" r:id="rId26"/>
    <p:sldId id="588" r:id="rId27"/>
    <p:sldId id="589" r:id="rId28"/>
  </p:sldIdLst>
  <p:sldSz cx="9144000" cy="6858000" type="screen4x3"/>
  <p:notesSz cx="7099300" cy="102346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4651" autoAdjust="0"/>
  </p:normalViewPr>
  <p:slideViewPr>
    <p:cSldViewPr>
      <p:cViewPr varScale="1">
        <p:scale>
          <a:sx n="109" d="100"/>
          <a:sy n="109" d="100"/>
        </p:scale>
        <p:origin x="220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30585122-6441-4912-8666-8E321B27CC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A6D915AF-C7DF-406B-8672-A8180DC5E58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6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7AE1F-56EF-4A02-8B70-C2CB1603E9A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9302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5E1426-7AD7-4364-9B73-3127501D0DC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66133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074CF-3E9D-4624-9840-A6DF5905DC2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6675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7C8E00-AE0D-43D0-9196-E0AD461A10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2821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99368-A8D3-4BF5-AE54-5262C4334CD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909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EE816-DE1E-445C-AFF6-F99529185C5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7834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2A3FB-D98C-4F90-B543-99A1706D898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10097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976EE-6556-41CE-A518-32B0432C6C5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4633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AB7DD-0AF0-4A7E-8652-E68AB63870C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2450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37048-9CBE-46F8-8B3E-185A73F851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93940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B94A7-35DD-42DF-BA90-F21E8124A2B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69396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9BA65-72E9-4830-B564-E9F2EDAF8FC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27534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9529A0-4CAD-40AB-A244-2541FACE914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82570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0CF4F-28E8-41B9-99D6-E0583409E92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11728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F31F37-C823-44DD-89F9-BC3F1293E75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584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CF6A3-3B4B-406F-8E40-F003F4429CD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58690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68E17-8599-4BCA-BA9C-E0134D1B406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12722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991E0-D02B-4DB6-9E23-21276D47FDD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21659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CF324-AEFD-4F66-AA5E-0988C570E17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85022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149A4-76A5-483A-8B0E-321B9DB403F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452691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2EAB3-D481-4FC9-B8C1-1F5797D321A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45124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4BCC62-10FB-4813-ADF2-C297852B989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03475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AC3861-A16E-4E9D-902D-B620D8696DF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893992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A6455-9DE5-45E0-A0FF-0E6E8A2377E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265170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4CC4-9261-4E09-8D12-B6EA3482BD6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8745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C030-D43A-48B6-B89B-8DF7AAE8754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60061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B9A02-51F9-452E-921D-84B0912D326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253090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A08AF-980F-403F-A7D4-0CC3E79690F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319124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6DD2B-F01F-4E1F-B578-2D171EA1F03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845212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A24431-A66B-4E15-98BF-1980035364A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983460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12A7C2-66C3-4DBE-8F73-0B255F61D26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735043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371836-903F-4E6C-ACC9-4C1B35F52BA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796139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666650-9C8B-4D78-BFBA-2EC3079E0FC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01637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874713"/>
            <a:ext cx="4210050" cy="58658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3950" y="874713"/>
            <a:ext cx="4210050" cy="58658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0875" y="371475"/>
            <a:ext cx="2143125" cy="636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71475"/>
            <a:ext cx="6276975" cy="6369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71500" y="371475"/>
            <a:ext cx="8572500" cy="6369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6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CE1EAAE-211F-474C-B520-03415F4173C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6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E1F7F0C-4821-4BB5-BC60-4D5702716D1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284772DC-F9B9-45D9-BD3D-3E0552B2D83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cal1a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71475"/>
            <a:ext cx="5334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STYLE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874713"/>
            <a:ext cx="8572500" cy="58658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stylesnnnnnnnnnnnnnnnnnnnnnnn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E45C00"/>
          </a:solidFill>
          <a:latin typeface="Arial" charset="0"/>
        </a:defRPr>
      </a:lvl9pPr>
    </p:titleStyle>
    <p:bodyStyle>
      <a:lvl1pPr marL="342900" indent="-339725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defRPr sz="3200">
          <a:solidFill>
            <a:srgbClr val="800000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rgbClr val="AC4600"/>
          </a:solidFill>
          <a:latin typeface="+mn-lt"/>
        </a:defRPr>
      </a:lvl2pPr>
      <a:lvl3pPr marL="1431925" indent="-228600" algn="l" rtl="0" eaLnBrk="0" fontAlgn="base" hangingPunct="0">
        <a:spcBef>
          <a:spcPct val="20000"/>
        </a:spcBef>
        <a:spcAft>
          <a:spcPct val="0"/>
        </a:spcAft>
        <a:defRPr sz="2800">
          <a:solidFill>
            <a:srgbClr val="AC4600"/>
          </a:solidFill>
          <a:latin typeface="+mn-lt"/>
        </a:defRPr>
      </a:lvl3pPr>
      <a:lvl4pPr marL="177482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117725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749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30321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893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9465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7.png"/><Relationship Id="rId7" Type="http://schemas.openxmlformats.org/officeDocument/2006/relationships/image" Target="../media/image210.png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0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Text Box 2"/>
          <p:cNvSpPr txBox="1">
            <a:spLocks noChangeArrowheads="1"/>
          </p:cNvSpPr>
          <p:nvPr/>
        </p:nvSpPr>
        <p:spPr bwMode="auto">
          <a:xfrm>
            <a:off x="647700" y="2560638"/>
            <a:ext cx="7848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it-IT" sz="4400" dirty="0">
                <a:latin typeface="Tahoma" pitchFamily="34" charset="0"/>
                <a:cs typeface="Tahoma" pitchFamily="34" charset="0"/>
              </a:rPr>
              <a:t>MODELLO  POISSONIANO</a:t>
            </a:r>
          </a:p>
        </p:txBody>
      </p:sp>
    </p:spTree>
    <p:extLst>
      <p:ext uri="{BB962C8B-B14F-4D97-AF65-F5344CB8AC3E}">
        <p14:creationId xmlns:p14="http://schemas.microsoft.com/office/powerpoint/2010/main" val="1751524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it-IT" altLang="it-IT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V.C. DI POISSON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467880"/>
            <a:ext cx="8206680" cy="5085319"/>
          </a:xfrm>
        </p:spPr>
        <p:txBody>
          <a:bodyPr/>
          <a:lstStyle/>
          <a:p>
            <a:pPr algn="just"/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Trova impiego quando </a:t>
            </a:r>
            <a:r>
              <a:rPr lang="it-IT" altLang="it-IT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contiamo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eventi che avvengono in un tempo fissato (numero di telefonate, numero di transazioni su un sito di e-commerce, numero di donazioni in un sito di fundraising, numero di laureati che trovano lavoro) o in uno spazio definito (numero di errori in una pagina web, …).</a:t>
            </a:r>
          </a:p>
          <a:p>
            <a:pPr algn="just"/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variabile casuale di Poisson, essendo un conteggio, può assumere i valori 0,1,2,… </a:t>
            </a:r>
            <a:r>
              <a:rPr lang="it-IT" altLang="it-IT" sz="24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senza un limite superiore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/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Può essere vista come la distribuzione cui tende la binomiale quando </a:t>
            </a:r>
            <a:r>
              <a:rPr lang="it-IT" altLang="it-IT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tende a 0 e </a:t>
            </a:r>
            <a:r>
              <a:rPr lang="it-IT" altLang="it-IT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tende all’infinito (eventi rari)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4822304" cy="875184"/>
          </a:xfrm>
        </p:spPr>
        <p:txBody>
          <a:bodyPr/>
          <a:lstStyle/>
          <a:p>
            <a:r>
              <a:rPr lang="it-IT" altLang="it-IT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V.C. DI POISSON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609600" y="1981200"/>
            <a:ext cx="8001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un </a:t>
            </a:r>
            <a:r>
              <a:rPr lang="it-IT" altLang="it-IT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esperimento </a:t>
            </a:r>
            <a:r>
              <a:rPr lang="it-IT" altLang="it-IT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poissoniano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la distribuzione del </a:t>
            </a:r>
            <a:r>
              <a:rPr lang="it-IT" altLang="it-IT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numero di eventi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altLang="it-IT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è la distribuzione di Poisson con </a:t>
            </a:r>
            <a:r>
              <a:rPr lang="it-IT" altLang="it-IT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parametro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t-IT" altLang="it-IT" sz="2400" i="1" dirty="0">
                <a:latin typeface="Symbol" panose="05050102010706020507" pitchFamily="18" charset="2"/>
              </a:rPr>
              <a:t>m </a:t>
            </a: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3122613" y="3163888"/>
          <a:ext cx="2898775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8" name="Equazione" r:id="rId3" imgW="1028700" imgH="419100" progId="">
                  <p:embed/>
                </p:oleObj>
              </mc:Choice>
              <mc:Fallback>
                <p:oleObj name="Equazione" r:id="rId3" imgW="1028700" imgH="4191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613" y="3163888"/>
                        <a:ext cx="2898775" cy="1179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Text Box 6"/>
          <p:cNvSpPr txBox="1">
            <a:spLocks noChangeArrowheads="1"/>
          </p:cNvSpPr>
          <p:nvPr/>
        </p:nvSpPr>
        <p:spPr bwMode="auto">
          <a:xfrm>
            <a:off x="609600" y="46482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media di una variabile casuale di Poisson è </a:t>
            </a:r>
            <a:r>
              <a:rPr lang="it-IT" altLang="it-IT" sz="2400" i="1" dirty="0">
                <a:latin typeface="Symbol" panose="05050102010706020507" pitchFamily="18" charset="2"/>
              </a:rPr>
              <a:t>m.</a:t>
            </a:r>
            <a:endParaRPr lang="it-IT" altLang="it-IT" sz="2400" dirty="0"/>
          </a:p>
        </p:txBody>
      </p:sp>
      <p:sp>
        <p:nvSpPr>
          <p:cNvPr id="76806" name="Text Box 7"/>
          <p:cNvSpPr txBox="1">
            <a:spLocks noChangeArrowheads="1"/>
          </p:cNvSpPr>
          <p:nvPr/>
        </p:nvSpPr>
        <p:spPr bwMode="auto">
          <a:xfrm>
            <a:off x="609600" y="52578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it-IT" altLang="it-IT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varianza di una variabile casuale di Poisson è </a:t>
            </a:r>
            <a:r>
              <a:rPr lang="it-IT" altLang="it-IT" sz="2400" i="1" dirty="0">
                <a:latin typeface="Symbol" panose="05050102010706020507" pitchFamily="18" charset="2"/>
              </a:rPr>
              <a:t>m.</a:t>
            </a:r>
            <a:endParaRPr lang="it-IT" altLang="it-IT" sz="240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7E54542-EE02-4744-9369-DA2558F605D8}"/>
              </a:ext>
            </a:extLst>
          </p:cNvPr>
          <p:cNvSpPr/>
          <p:nvPr/>
        </p:nvSpPr>
        <p:spPr>
          <a:xfrm>
            <a:off x="6960789" y="3531632"/>
            <a:ext cx="16498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i="1" dirty="0">
                <a:solidFill>
                  <a:srgbClr val="202124"/>
                </a:solidFill>
                <a:latin typeface="arial" panose="020B0604020202020204" pitchFamily="34" charset="0"/>
              </a:rPr>
              <a:t>e</a:t>
            </a:r>
            <a:r>
              <a:rPr lang="it-IT" dirty="0">
                <a:solidFill>
                  <a:srgbClr val="202124"/>
                </a:solidFill>
                <a:latin typeface="arial" panose="020B0604020202020204" pitchFamily="34" charset="0"/>
              </a:rPr>
              <a:t>=2,71828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012C63-A323-427C-A5CA-4943C74B8E69}"/>
              </a:ext>
            </a:extLst>
          </p:cNvPr>
          <p:cNvSpPr txBox="1"/>
          <p:nvPr/>
        </p:nvSpPr>
        <p:spPr>
          <a:xfrm>
            <a:off x="6960789" y="378767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Pag. 105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78A10767-BE3F-491F-90A7-DA1BE1CC6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88640"/>
            <a:ext cx="6125560" cy="565742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7E801DE-E9BA-4A42-A1E5-F63B30730DD4}"/>
              </a:ext>
            </a:extLst>
          </p:cNvPr>
          <p:cNvSpPr txBox="1"/>
          <p:nvPr/>
        </p:nvSpPr>
        <p:spPr>
          <a:xfrm>
            <a:off x="1331640" y="6207695"/>
            <a:ext cx="1560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107</a:t>
            </a:r>
          </a:p>
        </p:txBody>
      </p:sp>
    </p:spTree>
    <p:extLst>
      <p:ext uri="{BB962C8B-B14F-4D97-AF65-F5344CB8AC3E}">
        <p14:creationId xmlns:p14="http://schemas.microsoft.com/office/powerpoint/2010/main" val="200379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67117DE-5A7B-4C88-B531-EB4289774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704849"/>
            <a:ext cx="6227018" cy="582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2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70BC5F1-B755-4F1F-982B-0F3183241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1000125"/>
            <a:ext cx="5476875" cy="485775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74DD394-0A45-4630-921B-3C72ADCAB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165791"/>
            <a:ext cx="228600" cy="31432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FF6B5CD-8311-4901-AD0E-5148EF9020EB}"/>
              </a:ext>
            </a:extLst>
          </p:cNvPr>
          <p:cNvSpPr txBox="1"/>
          <p:nvPr/>
        </p:nvSpPr>
        <p:spPr>
          <a:xfrm>
            <a:off x="480120" y="3041004"/>
            <a:ext cx="511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=4</a:t>
            </a:r>
          </a:p>
        </p:txBody>
      </p:sp>
    </p:spTree>
    <p:extLst>
      <p:ext uri="{BB962C8B-B14F-4D97-AF65-F5344CB8AC3E}">
        <p14:creationId xmlns:p14="http://schemas.microsoft.com/office/powerpoint/2010/main" val="203042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116632"/>
            <a:ext cx="81153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4F18B31A-1CAE-4CFA-B23E-F320F933F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195538"/>
              </p:ext>
            </p:extLst>
          </p:nvPr>
        </p:nvGraphicFramePr>
        <p:xfrm>
          <a:off x="971600" y="2659062"/>
          <a:ext cx="289877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78" name="Equazione" r:id="rId4" imgW="1028700" imgH="419100" progId="">
                  <p:embed/>
                </p:oleObj>
              </mc:Choice>
              <mc:Fallback>
                <p:oleObj name="Equazione" r:id="rId4" imgW="1028700" imgH="419100" progId="">
                  <p:embed/>
                  <p:pic>
                    <p:nvPicPr>
                      <p:cNvPr id="768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659062"/>
                        <a:ext cx="2898775" cy="7699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C904779-7FE6-4263-A371-C1F1B976AC3E}"/>
                  </a:ext>
                </a:extLst>
              </p:cNvPr>
              <p:cNvSpPr txBox="1"/>
              <p:nvPr/>
            </p:nvSpPr>
            <p:spPr>
              <a:xfrm>
                <a:off x="1081126" y="3861048"/>
                <a:ext cx="2296847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−3.1</m:t>
                              </m:r>
                            </m:sup>
                          </m:sSup>
                          <m:sSup>
                            <m:s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3.1</m:t>
                              </m:r>
                            </m:e>
                            <m:sup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C904779-7FE6-4263-A371-C1F1B976A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26" y="3861048"/>
                <a:ext cx="2296847" cy="7411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D0D5748D-9662-4654-B9C1-A00D8F5C7081}"/>
                  </a:ext>
                </a:extLst>
              </p:cNvPr>
              <p:cNvSpPr txBox="1"/>
              <p:nvPr/>
            </p:nvSpPr>
            <p:spPr>
              <a:xfrm>
                <a:off x="4788024" y="2859365"/>
                <a:ext cx="7344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it-IT" dirty="0"/>
                  <a:t>=3.1</a:t>
                </a: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D0D5748D-9662-4654-B9C1-A00D8F5C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2859365"/>
                <a:ext cx="734432" cy="369332"/>
              </a:xfrm>
              <a:prstGeom prst="rect">
                <a:avLst/>
              </a:prstGeom>
              <a:blipFill>
                <a:blip r:embed="rId7"/>
                <a:stretch>
                  <a:fillRect l="-14050" t="-24590" r="-24793" b="-491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CB623B6C-23DD-4A4B-8C5B-7D2CEEABED74}"/>
                  </a:ext>
                </a:extLst>
              </p:cNvPr>
              <p:cNvSpPr txBox="1"/>
              <p:nvPr/>
            </p:nvSpPr>
            <p:spPr>
              <a:xfrm>
                <a:off x="1081126" y="5034261"/>
                <a:ext cx="3465051" cy="575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dirty="0">
                    <a:highlight>
                      <a:srgbClr val="FFFF00"/>
                    </a:highlight>
                  </a:rPr>
                  <a:t>ii</a:t>
                </a:r>
                <a:r>
                  <a:rPr lang="it-IT" dirty="0"/>
                  <a:t>)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−3.1</m:t>
                            </m:r>
                          </m:sup>
                        </m:sSup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3.1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</m:oMath>
                </a14:m>
                <a:r>
                  <a:rPr lang="it-IT" dirty="0"/>
                  <a:t>=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0.2237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CB623B6C-23DD-4A4B-8C5B-7D2CEEABE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26" y="5034261"/>
                <a:ext cx="3465051" cy="575927"/>
              </a:xfrm>
              <a:prstGeom prst="rect">
                <a:avLst/>
              </a:prstGeom>
              <a:blipFill>
                <a:blip r:embed="rId8"/>
                <a:stretch>
                  <a:fillRect l="-5272" t="-1064" b="-1702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tangolo 11">
            <a:extLst>
              <a:ext uri="{FF2B5EF4-FFF2-40B4-BE49-F238E27FC236}">
                <a16:creationId xmlns:a16="http://schemas.microsoft.com/office/drawing/2014/main" id="{E2E7D48C-EFC1-40C2-BD63-47B1375AC156}"/>
              </a:ext>
            </a:extLst>
          </p:cNvPr>
          <p:cNvSpPr/>
          <p:nvPr/>
        </p:nvSpPr>
        <p:spPr>
          <a:xfrm>
            <a:off x="5776874" y="4906725"/>
            <a:ext cx="2107494" cy="826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/>
              <a:t>&gt; </a:t>
            </a:r>
            <a:r>
              <a:rPr lang="it-IT" dirty="0" err="1"/>
              <a:t>dpois</a:t>
            </a:r>
            <a:r>
              <a:rPr lang="it-IT" dirty="0"/>
              <a:t>(3,3.1)</a:t>
            </a:r>
          </a:p>
          <a:p>
            <a:r>
              <a:rPr lang="it-IT" dirty="0"/>
              <a:t>[1] 0.2236768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FAE456B-FE8E-4212-AA04-1C751DC4BE4A}"/>
              </a:ext>
            </a:extLst>
          </p:cNvPr>
          <p:cNvSpPr/>
          <p:nvPr/>
        </p:nvSpPr>
        <p:spPr>
          <a:xfrm>
            <a:off x="611560" y="188640"/>
            <a:ext cx="1224136" cy="21602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01CF9036-3BE6-4A1E-A5D3-4B84769E0308}"/>
                  </a:ext>
                </a:extLst>
              </p:cNvPr>
              <p:cNvSpPr txBox="1"/>
              <p:nvPr/>
            </p:nvSpPr>
            <p:spPr>
              <a:xfrm>
                <a:off x="539552" y="908720"/>
                <a:ext cx="7632848" cy="5763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it-IT" dirty="0">
                    <a:highlight>
                      <a:srgbClr val="FFFF00"/>
                    </a:highlight>
                  </a:rPr>
                  <a:t>i</a:t>
                </a:r>
                <a:r>
                  <a:rPr lang="it-IT" dirty="0"/>
                  <a:t>)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−3.1</m:t>
                            </m:r>
                          </m:sup>
                        </m:sSup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3.1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0!</m:t>
                        </m:r>
                      </m:den>
                    </m:f>
                    <m:r>
                      <a:rPr lang="it-IT" b="0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−3.1</m:t>
                            </m:r>
                          </m:sup>
                        </m:sSup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3.1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it-IT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−3.1</m:t>
                            </m:r>
                          </m:sup>
                        </m:sSup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3.1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it-IT" dirty="0"/>
                  <a:t>=0.4012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01CF9036-3BE6-4A1E-A5D3-4B84769E0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908720"/>
                <a:ext cx="7632848" cy="576376"/>
              </a:xfrm>
              <a:prstGeom prst="rect">
                <a:avLst/>
              </a:prstGeom>
              <a:blipFill>
                <a:blip r:embed="rId2"/>
                <a:stretch>
                  <a:fillRect l="-2476" r="-2236" b="-168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tangolo 3">
            <a:extLst>
              <a:ext uri="{FF2B5EF4-FFF2-40B4-BE49-F238E27FC236}">
                <a16:creationId xmlns:a16="http://schemas.microsoft.com/office/drawing/2014/main" id="{3C976FAF-E0DA-49EA-9E3E-60FB0C175D19}"/>
              </a:ext>
            </a:extLst>
          </p:cNvPr>
          <p:cNvSpPr/>
          <p:nvPr/>
        </p:nvSpPr>
        <p:spPr>
          <a:xfrm>
            <a:off x="3659722" y="1844824"/>
            <a:ext cx="2064406" cy="2304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/>
              <a:t>&gt; </a:t>
            </a:r>
            <a:r>
              <a:rPr lang="it-IT" dirty="0" err="1"/>
              <a:t>dpois</a:t>
            </a:r>
            <a:r>
              <a:rPr lang="it-IT" dirty="0"/>
              <a:t>(0,3.1)</a:t>
            </a:r>
          </a:p>
          <a:p>
            <a:r>
              <a:rPr lang="it-IT" dirty="0"/>
              <a:t>[1] 0.0450492</a:t>
            </a:r>
          </a:p>
          <a:p>
            <a:r>
              <a:rPr lang="it-IT" dirty="0"/>
              <a:t>&gt; </a:t>
            </a:r>
            <a:r>
              <a:rPr lang="it-IT" dirty="0" err="1"/>
              <a:t>dpois</a:t>
            </a:r>
            <a:r>
              <a:rPr lang="it-IT" dirty="0"/>
              <a:t>(1,3.1)</a:t>
            </a:r>
          </a:p>
          <a:p>
            <a:r>
              <a:rPr lang="it-IT" dirty="0"/>
              <a:t>[1] 0.1396525</a:t>
            </a:r>
          </a:p>
          <a:p>
            <a:r>
              <a:rPr lang="it-IT" dirty="0"/>
              <a:t>&gt; </a:t>
            </a:r>
            <a:r>
              <a:rPr lang="it-IT" dirty="0" err="1"/>
              <a:t>dpois</a:t>
            </a:r>
            <a:r>
              <a:rPr lang="it-IT" dirty="0"/>
              <a:t>(2,3.1)</a:t>
            </a:r>
          </a:p>
          <a:p>
            <a:r>
              <a:rPr lang="it-IT" dirty="0"/>
              <a:t>[1] 0.2164614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DBE8D1E-6BD7-4FAA-B5DB-DDECCBF4DFEC}"/>
              </a:ext>
            </a:extLst>
          </p:cNvPr>
          <p:cNvSpPr/>
          <p:nvPr/>
        </p:nvSpPr>
        <p:spPr>
          <a:xfrm>
            <a:off x="3707904" y="4581128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/>
              <a:t>0.0450+ 0.1397+ 0.2165=0.4012</a:t>
            </a:r>
          </a:p>
        </p:txBody>
      </p:sp>
    </p:spTree>
    <p:extLst>
      <p:ext uri="{BB962C8B-B14F-4D97-AF65-F5344CB8AC3E}">
        <p14:creationId xmlns:p14="http://schemas.microsoft.com/office/powerpoint/2010/main" val="317054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E40FE76-BF6D-4D6E-8F68-BA726FB382D0}"/>
                  </a:ext>
                </a:extLst>
              </p:cNvPr>
              <p:cNvSpPr txBox="1"/>
              <p:nvPr/>
            </p:nvSpPr>
            <p:spPr>
              <a:xfrm>
                <a:off x="467544" y="404664"/>
                <a:ext cx="7747314" cy="10070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𝑖𝑖𝑖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)  </m:t>
                      </m:r>
                      <m:nary>
                        <m:naryPr>
                          <m:chr m:val="∑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  <m:sup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=1−0.40=0.60</m:t>
                          </m:r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E40FE76-BF6D-4D6E-8F68-BA726FB38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04664"/>
                <a:ext cx="7747314" cy="10070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tangolo 3">
            <a:extLst>
              <a:ext uri="{FF2B5EF4-FFF2-40B4-BE49-F238E27FC236}">
                <a16:creationId xmlns:a16="http://schemas.microsoft.com/office/drawing/2014/main" id="{8A6A9C82-D3C6-4F19-A72E-63D17C51930B}"/>
              </a:ext>
            </a:extLst>
          </p:cNvPr>
          <p:cNvSpPr/>
          <p:nvPr/>
        </p:nvSpPr>
        <p:spPr>
          <a:xfrm>
            <a:off x="971600" y="1628800"/>
            <a:ext cx="624644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Poisson(mu=3.1)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Distribuzione di Poisson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mu:  3.1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Valore atteso (media)   : 3.1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Varianza                : 3.1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Somma delle 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probabilita'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0.9996166 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x        f(x)      F(x)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[1,]  0 0.045049202 0.0450492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[2,]  1 0.139652527 0.1847017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[3,]  2 0.216461418 0.4011631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[4,]  3 0.223676798 0.6248399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[5,]  4 0.173349519 0.7981895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[6,]  5 0.107476701 0.9056662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[7,]  6 0.055529629 0.9611958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[8,]  7 0.024591693 0.9857875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[9,]  8 0.009529281 0.9953168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[10,]  9 0.003282308 0.9985991</a:t>
            </a:r>
          </a:p>
          <a:p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[11,] 10 0.001017515 0.9996166</a:t>
            </a:r>
          </a:p>
        </p:txBody>
      </p:sp>
    </p:spTree>
    <p:extLst>
      <p:ext uri="{BB962C8B-B14F-4D97-AF65-F5344CB8AC3E}">
        <p14:creationId xmlns:p14="http://schemas.microsoft.com/office/powerpoint/2010/main" val="1177334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34BEEF9-443E-44E1-9BD0-B3431DF54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63" y="0"/>
            <a:ext cx="7125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23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3FAA0A0-8FC6-4D7B-914B-8842C3C42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34" y="1484784"/>
            <a:ext cx="8797499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39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8150" y="1830660"/>
            <a:ext cx="8267700" cy="48387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01154E04-7F18-4ACD-B839-43C7C74AE11D}"/>
              </a:ext>
            </a:extLst>
          </p:cNvPr>
          <p:cNvSpPr/>
          <p:nvPr/>
        </p:nvSpPr>
        <p:spPr>
          <a:xfrm>
            <a:off x="252412" y="352450"/>
            <a:ext cx="1007220" cy="268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3FAA0A0-8FC6-4D7B-914B-8842C3C42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2" y="620688"/>
            <a:ext cx="8797499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864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3814752-AC1C-4244-A421-B862C68DF4A1}"/>
              </a:ext>
            </a:extLst>
          </p:cNvPr>
          <p:cNvSpPr/>
          <p:nvPr/>
        </p:nvSpPr>
        <p:spPr>
          <a:xfrm>
            <a:off x="1763688" y="476672"/>
            <a:ext cx="561662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Poisson(mu=7.2)</a:t>
            </a:r>
          </a:p>
          <a:p>
            <a:endParaRPr lang="it-IT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Distribuzione di Poisson </a:t>
            </a:r>
          </a:p>
          <a:p>
            <a:endParaRPr lang="it-IT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mu:  7.2 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Valore atteso (media)   : 7.2 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Varianza                : 7.2 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Somma delle </a:t>
            </a:r>
            <a:r>
              <a:rPr lang="it-IT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probabilita'</a:t>
            </a:r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0.8866766 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x         f(x)         F(x)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[1,]  0 0.0007465858 0.0007465858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[2,]  1 0.0053754178 0.0061220036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[3,]  2 0.0193515042 0.0254735078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[4,]  3 0.0464436100 0.0719171177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[5,]  4 0.0835984979 0.1555156157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[6,]  5 0.1203818370 0.2758974527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[7,]  6 0.1444582044 0.4203556572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[8,]  7 0.1485855817 0.5689412389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[9,]  8 0.1337270235 0.7026682624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[10,]  9 0.1069816188 0.8096498813</a:t>
            </a:r>
          </a:p>
          <a:p>
            <a:r>
              <a:rPr lang="it-IT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[11,] 10 0.0770267656 0.8866766468</a:t>
            </a:r>
          </a:p>
        </p:txBody>
      </p:sp>
    </p:spTree>
    <p:extLst>
      <p:ext uri="{BB962C8B-B14F-4D97-AF65-F5344CB8AC3E}">
        <p14:creationId xmlns:p14="http://schemas.microsoft.com/office/powerpoint/2010/main" val="3895858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30A831F-38E6-4221-86DA-4528E6165BD1}"/>
              </a:ext>
            </a:extLst>
          </p:cNvPr>
          <p:cNvSpPr/>
          <p:nvPr/>
        </p:nvSpPr>
        <p:spPr>
          <a:xfrm>
            <a:off x="1475656" y="692696"/>
            <a:ext cx="6336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it-IT" b="1" dirty="0">
                <a:ea typeface="Times New Roman" panose="02020603050405020304" pitchFamily="18" charset="0"/>
              </a:rPr>
              <a:t>Probabilità e Statistica – 15 febbraio 2022</a:t>
            </a:r>
            <a:endParaRPr lang="it-IT" sz="1400" dirty="0">
              <a:ea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05E3E47-6006-4D4F-8ED5-C12E72A50953}"/>
              </a:ext>
            </a:extLst>
          </p:cNvPr>
          <p:cNvSpPr/>
          <p:nvPr/>
        </p:nvSpPr>
        <p:spPr>
          <a:xfrm>
            <a:off x="251520" y="1772816"/>
            <a:ext cx="84969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it-IT" dirty="0">
                <a:ea typeface="Times New Roman" panose="02020603050405020304" pitchFamily="18" charset="0"/>
              </a:rPr>
              <a:t>I </a:t>
            </a:r>
            <a:r>
              <a:rPr lang="it-IT" i="1" dirty="0">
                <a:ea typeface="Times New Roman" panose="02020603050405020304" pitchFamily="18" charset="0"/>
              </a:rPr>
              <a:t>down</a:t>
            </a:r>
            <a:r>
              <a:rPr lang="it-IT" dirty="0">
                <a:ea typeface="Times New Roman" panose="02020603050405020304" pitchFamily="18" charset="0"/>
              </a:rPr>
              <a:t> di una app di messaggistica seguono una distribuzione di Poisson con un valore atteso pari a 2 all’anno.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ea typeface="Times New Roman" panose="02020603050405020304" pitchFamily="18" charset="0"/>
              </a:rPr>
              <a:t>Qual è la probabilità che in un anno non ci sia nessuna interruzione?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ea typeface="Times New Roman" panose="02020603050405020304" pitchFamily="18" charset="0"/>
              </a:rPr>
              <a:t>Qual è la probabilità che in un anno ci siano 2 o più interruzioni?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600"/>
              </a:spcAft>
              <a:buFont typeface="+mj-lt"/>
              <a:buAutoNum type="alphaLcParenR"/>
            </a:pPr>
            <a:r>
              <a:rPr lang="it-IT" dirty="0">
                <a:ea typeface="Times New Roman" panose="02020603050405020304" pitchFamily="18" charset="0"/>
              </a:rPr>
              <a:t>Scegliamo a caso 2 anni; qual è la probabilità che in entrambi non ci sia nessuna interruzione?</a:t>
            </a:r>
            <a:endParaRPr lang="it-IT" sz="16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999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21E09BF7-903C-4308-8D06-2A38DBF63AF0}"/>
              </a:ext>
            </a:extLst>
          </p:cNvPr>
          <p:cNvSpPr/>
          <p:nvPr/>
        </p:nvSpPr>
        <p:spPr>
          <a:xfrm>
            <a:off x="1043608" y="982176"/>
            <a:ext cx="77768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Poisson(mu=2)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x         f(x)      F(x)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[1,]  0 1.353353e-01 0.1353353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[2,]  1 2.706706e-01 0.4060058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[3,]  2 2.706706e-01 0.6766764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[4,]  3 1.804470e-01 0.8571235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[5,]  4 9.022352e-02 0.9473470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[6,]  5 3.608941e-02 0.9834364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[7,]  6 1.202980e-02 0.9954662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[8,]  7 3.437087e-03 0.9989033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[9,]  8 8.592716e-04 0.9997626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[10,]  9 1.909493e-04 0.9999535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[11,] 10 3.818985e-05 0.9999917</a:t>
            </a:r>
          </a:p>
        </p:txBody>
      </p:sp>
    </p:spTree>
    <p:extLst>
      <p:ext uri="{BB962C8B-B14F-4D97-AF65-F5344CB8AC3E}">
        <p14:creationId xmlns:p14="http://schemas.microsoft.com/office/powerpoint/2010/main" val="1865793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50B2EA38-3901-4ADE-B9F1-19FC1F9268A8}"/>
              </a:ext>
            </a:extLst>
          </p:cNvPr>
          <p:cNvSpPr/>
          <p:nvPr/>
        </p:nvSpPr>
        <p:spPr>
          <a:xfrm>
            <a:off x="971600" y="2924944"/>
            <a:ext cx="36541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0.135*0.135</a:t>
            </a:r>
          </a:p>
          <a:p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0.018225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D8E26A5-7E5D-485E-88B1-CF19DE276CE9}"/>
              </a:ext>
            </a:extLst>
          </p:cNvPr>
          <p:cNvSpPr/>
          <p:nvPr/>
        </p:nvSpPr>
        <p:spPr>
          <a:xfrm>
            <a:off x="827584" y="1124744"/>
            <a:ext cx="76328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600"/>
              </a:spcAft>
            </a:pPr>
            <a:r>
              <a:rPr lang="it-IT" dirty="0">
                <a:ea typeface="Times New Roman" panose="02020603050405020304" pitchFamily="18" charset="0"/>
              </a:rPr>
              <a:t>c) Scegliamo a caso 2 anni; qual è la probabilità che in entrambi non ci sia nessuna interruzione?</a:t>
            </a:r>
            <a:endParaRPr lang="it-IT" sz="16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558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9AB12B2F-60F5-4BB8-BE46-F2C2DD2BAD4E}"/>
              </a:ext>
            </a:extLst>
          </p:cNvPr>
          <p:cNvSpPr/>
          <p:nvPr/>
        </p:nvSpPr>
        <p:spPr>
          <a:xfrm>
            <a:off x="984176" y="1556792"/>
            <a:ext cx="6174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b="1" dirty="0"/>
              <a:t>Probabilità e Statistica – 8 febbraio 2024</a:t>
            </a:r>
            <a:endParaRPr lang="it-IT" sz="1400" dirty="0">
              <a:ea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3C562C9-7879-4188-9430-D36CD867D9F6}"/>
              </a:ext>
            </a:extLst>
          </p:cNvPr>
          <p:cNvSpPr txBox="1"/>
          <p:nvPr/>
        </p:nvSpPr>
        <p:spPr>
          <a:xfrm>
            <a:off x="971600" y="764704"/>
            <a:ext cx="1347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/>
              <a:t>Warning</a:t>
            </a:r>
            <a:endParaRPr lang="it-IT" b="1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4BE71A-BCDD-46AA-895B-F6D7DF4E3533}"/>
              </a:ext>
            </a:extLst>
          </p:cNvPr>
          <p:cNvSpPr/>
          <p:nvPr/>
        </p:nvSpPr>
        <p:spPr>
          <a:xfrm>
            <a:off x="323528" y="2780928"/>
            <a:ext cx="82089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arenR"/>
            </a:pPr>
            <a:r>
              <a:rPr lang="it-IT" dirty="0">
                <a:ea typeface="Times New Roman" panose="02020603050405020304" pitchFamily="18" charset="0"/>
              </a:rPr>
              <a:t>Il tempo </a:t>
            </a:r>
            <a:r>
              <a:rPr lang="it-IT" i="1" dirty="0">
                <a:ea typeface="Times New Roman" panose="02020603050405020304" pitchFamily="18" charset="0"/>
              </a:rPr>
              <a:t>X</a:t>
            </a:r>
            <a:r>
              <a:rPr lang="it-IT" dirty="0">
                <a:ea typeface="Times New Roman" panose="02020603050405020304" pitchFamily="18" charset="0"/>
              </a:rPr>
              <a:t> che intercorre tra gli shut down di </a:t>
            </a:r>
            <a:r>
              <a:rPr lang="it-IT" dirty="0" err="1">
                <a:ea typeface="Times New Roman" panose="02020603050405020304" pitchFamily="18" charset="0"/>
              </a:rPr>
              <a:t>un’App</a:t>
            </a:r>
            <a:r>
              <a:rPr lang="it-IT" dirty="0">
                <a:ea typeface="Times New Roman" panose="02020603050405020304" pitchFamily="18" charset="0"/>
              </a:rPr>
              <a:t> di messaggistica segue una distribuzione Esponenziale con una media di 9 (mesi).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dirty="0">
                <a:ea typeface="Times New Roman" panose="02020603050405020304" pitchFamily="18" charset="0"/>
              </a:rPr>
              <a:t>Quale è la probabilità che </a:t>
            </a:r>
            <a:r>
              <a:rPr lang="it-IT" i="1" dirty="0">
                <a:ea typeface="Times New Roman" panose="02020603050405020304" pitchFamily="18" charset="0"/>
              </a:rPr>
              <a:t>X</a:t>
            </a:r>
            <a:r>
              <a:rPr lang="it-IT" dirty="0">
                <a:ea typeface="Times New Roman" panose="02020603050405020304" pitchFamily="18" charset="0"/>
              </a:rPr>
              <a:t> sia inferiore a 9 (mesi)?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SzPts val="1200"/>
              <a:buFont typeface="+mj-lt"/>
              <a:buAutoNum type="alphaLcParenR"/>
            </a:pPr>
            <a:r>
              <a:rPr lang="it-IT" dirty="0">
                <a:ea typeface="Times New Roman" panose="02020603050405020304" pitchFamily="18" charset="0"/>
              </a:rPr>
              <a:t>Quale è la probabilità che </a:t>
            </a:r>
            <a:r>
              <a:rPr lang="it-IT" i="1" dirty="0">
                <a:ea typeface="Times New Roman" panose="02020603050405020304" pitchFamily="18" charset="0"/>
              </a:rPr>
              <a:t>X</a:t>
            </a:r>
            <a:r>
              <a:rPr lang="it-IT" dirty="0">
                <a:ea typeface="Times New Roman" panose="02020603050405020304" pitchFamily="18" charset="0"/>
              </a:rPr>
              <a:t> sia superiore a 9 (mesi)?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SzPts val="1200"/>
              <a:buFont typeface="+mj-lt"/>
              <a:buAutoNum type="alphaLcParenR"/>
            </a:pPr>
            <a:r>
              <a:rPr lang="it-IT" dirty="0">
                <a:ea typeface="Times New Roman" panose="02020603050405020304" pitchFamily="18" charset="0"/>
              </a:rPr>
              <a:t>Quale è la probabilità che </a:t>
            </a:r>
            <a:r>
              <a:rPr lang="it-IT" i="1" dirty="0">
                <a:ea typeface="Times New Roman" panose="02020603050405020304" pitchFamily="18" charset="0"/>
              </a:rPr>
              <a:t>X</a:t>
            </a:r>
            <a:r>
              <a:rPr lang="it-IT" dirty="0">
                <a:ea typeface="Times New Roman" panose="02020603050405020304" pitchFamily="18" charset="0"/>
              </a:rPr>
              <a:t> sia compreso tra 8 e 10 (mesi)?</a:t>
            </a:r>
            <a:endParaRPr lang="it-IT" sz="16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724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32656"/>
            <a:ext cx="800100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52550" y="2348880"/>
            <a:ext cx="6438900" cy="4076700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18AC7446-794D-4A6D-8C81-B8ABA90878E5}"/>
              </a:ext>
            </a:extLst>
          </p:cNvPr>
          <p:cNvSpPr/>
          <p:nvPr/>
        </p:nvSpPr>
        <p:spPr>
          <a:xfrm>
            <a:off x="571500" y="404664"/>
            <a:ext cx="1552228" cy="2880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3065F5CA-DF1F-4253-9581-23607FA272B1}"/>
              </a:ext>
            </a:extLst>
          </p:cNvPr>
          <p:cNvSpPr/>
          <p:nvPr/>
        </p:nvSpPr>
        <p:spPr>
          <a:xfrm>
            <a:off x="1352550" y="2357196"/>
            <a:ext cx="754139" cy="4957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ED9E657-CB3D-4CB3-AD1C-5797B88A4E2F}"/>
              </a:ext>
            </a:extLst>
          </p:cNvPr>
          <p:cNvSpPr/>
          <p:nvPr/>
        </p:nvSpPr>
        <p:spPr>
          <a:xfrm>
            <a:off x="1187624" y="692696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b="1" dirty="0">
                <a:ea typeface="Times New Roman" panose="02020603050405020304" pitchFamily="18" charset="0"/>
              </a:rPr>
              <a:t>Probabilità e Statistica – 11 febbraio 2025</a:t>
            </a:r>
            <a:endParaRPr lang="it-IT" sz="1400" dirty="0">
              <a:ea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CD5F7D0-5D3E-4B56-8D1E-00F21E9ADAB1}"/>
              </a:ext>
            </a:extLst>
          </p:cNvPr>
          <p:cNvSpPr/>
          <p:nvPr/>
        </p:nvSpPr>
        <p:spPr>
          <a:xfrm>
            <a:off x="215516" y="1916832"/>
            <a:ext cx="87129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SzPts val="1200"/>
              <a:buFont typeface="+mj-lt"/>
              <a:buAutoNum type="arabicParenR"/>
            </a:pPr>
            <a:r>
              <a:rPr lang="it-IT" dirty="0">
                <a:ea typeface="Times New Roman" panose="02020603050405020304" pitchFamily="18" charset="0"/>
              </a:rPr>
              <a:t>Il numero di richieste ricevute in un'ora in un centro di assistenza tecnica segue una distribuzione di Poisson con parametro 4. Determinare la probabilità che: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46990">
              <a:spcAft>
                <a:spcPts val="0"/>
              </a:spcAft>
            </a:pPr>
            <a:r>
              <a:rPr lang="it-IT" dirty="0">
                <a:ea typeface="Times New Roman" panose="02020603050405020304" pitchFamily="18" charset="0"/>
              </a:rPr>
              <a:t>a) in un’ora non ci sia nessuna richiesta;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46990">
              <a:spcAft>
                <a:spcPts val="0"/>
              </a:spcAft>
            </a:pPr>
            <a:r>
              <a:rPr lang="it-IT" dirty="0">
                <a:ea typeface="Times New Roman" panose="02020603050405020304" pitchFamily="18" charset="0"/>
              </a:rPr>
              <a:t>b) in un’ora ci siano almeno 3 richieste;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46990">
              <a:spcAft>
                <a:spcPts val="600"/>
              </a:spcAft>
            </a:pPr>
            <a:r>
              <a:rPr lang="it-IT" dirty="0">
                <a:ea typeface="Times New Roman" panose="02020603050405020304" pitchFamily="18" charset="0"/>
              </a:rPr>
              <a:t>c) in mezz'ora ci sia esattamente una richiesta.</a:t>
            </a:r>
            <a:endParaRPr lang="it-IT" sz="16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558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7D8A421-332F-498A-B616-BD0FD0CAC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70" y="3861048"/>
            <a:ext cx="8877300" cy="1704975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D43E4C2B-C8A9-4979-9913-109A1099A572}"/>
              </a:ext>
            </a:extLst>
          </p:cNvPr>
          <p:cNvSpPr/>
          <p:nvPr/>
        </p:nvSpPr>
        <p:spPr>
          <a:xfrm>
            <a:off x="467544" y="1196752"/>
            <a:ext cx="77048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SzPts val="1200"/>
              <a:buFont typeface="+mj-lt"/>
              <a:buAutoNum type="arabicParenR"/>
            </a:pPr>
            <a:r>
              <a:rPr lang="it-IT" dirty="0">
                <a:ea typeface="Times New Roman" panose="02020603050405020304" pitchFamily="18" charset="0"/>
              </a:rPr>
              <a:t>Il numero di richieste ricevute in un'ora in un centro di assistenza tecnica segue una distribuzione di Poisson con parametro 4. Determinare la probabilità che: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46990">
              <a:spcAft>
                <a:spcPts val="0"/>
              </a:spcAft>
            </a:pPr>
            <a:r>
              <a:rPr lang="it-IT" dirty="0">
                <a:ea typeface="Times New Roman" panose="02020603050405020304" pitchFamily="18" charset="0"/>
              </a:rPr>
              <a:t>a) in un’ora non ci sia nessuna richiesta;</a:t>
            </a:r>
            <a:endParaRPr lang="it-IT" sz="16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101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B0C92595-23BD-4CBD-9767-1738EB22BE61}"/>
              </a:ext>
            </a:extLst>
          </p:cNvPr>
          <p:cNvSpPr/>
          <p:nvPr/>
        </p:nvSpPr>
        <p:spPr>
          <a:xfrm>
            <a:off x="323528" y="908720"/>
            <a:ext cx="84969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SzPts val="1200"/>
              <a:buFont typeface="+mj-lt"/>
              <a:buAutoNum type="arabicParenR"/>
            </a:pPr>
            <a:r>
              <a:rPr lang="it-IT" dirty="0">
                <a:ea typeface="Times New Roman" panose="02020603050405020304" pitchFamily="18" charset="0"/>
              </a:rPr>
              <a:t>Il numero di richieste ricevute in un'ora in un centro di assistenza tecnica segue una distribuzione di Poisson con parametro 4. Determinare la probabilità che: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46990">
              <a:spcAft>
                <a:spcPts val="0"/>
              </a:spcAft>
            </a:pPr>
            <a:r>
              <a:rPr lang="it-IT" dirty="0">
                <a:ea typeface="Times New Roman" panose="02020603050405020304" pitchFamily="18" charset="0"/>
              </a:rPr>
              <a:t>b) in un’ora ci siano almeno 3 richieste;</a:t>
            </a:r>
            <a:endParaRPr lang="it-IT" sz="1600" dirty="0">
              <a:ea typeface="Times New Roman" panose="02020603050405020304" pitchFamily="18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A388F79-FB89-4A74-BD3C-F875F7E7D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8960"/>
            <a:ext cx="9144000" cy="170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32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71954865-742F-47F0-9537-7D1680DD27B3}"/>
              </a:ext>
            </a:extLst>
          </p:cNvPr>
          <p:cNvSpPr/>
          <p:nvPr/>
        </p:nvSpPr>
        <p:spPr>
          <a:xfrm>
            <a:off x="467544" y="836712"/>
            <a:ext cx="82089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SzPts val="1200"/>
              <a:buFont typeface="+mj-lt"/>
              <a:buAutoNum type="arabicParenR"/>
            </a:pPr>
            <a:r>
              <a:rPr lang="it-IT" dirty="0">
                <a:ea typeface="Times New Roman" panose="02020603050405020304" pitchFamily="18" charset="0"/>
              </a:rPr>
              <a:t>Il numero di richieste ricevute in un'ora in un centro di assistenza tecnica segue una distribuzione di Poisson con parametro 4. Determinare la probabilità che:</a:t>
            </a:r>
            <a:endParaRPr lang="it-IT" sz="1600" dirty="0">
              <a:ea typeface="Times New Roman" panose="02020603050405020304" pitchFamily="18" charset="0"/>
            </a:endParaRPr>
          </a:p>
          <a:p>
            <a:pPr marL="46990">
              <a:spcAft>
                <a:spcPts val="600"/>
              </a:spcAft>
            </a:pPr>
            <a:r>
              <a:rPr lang="it-IT" dirty="0">
                <a:ea typeface="Times New Roman" panose="02020603050405020304" pitchFamily="18" charset="0"/>
              </a:rPr>
              <a:t>c) in mezz'ora ci sia esattamente una richiesta.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5F37CB9-3A45-4B84-946B-2661F99E0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4" y="3068960"/>
            <a:ext cx="86010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1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63D4E74D-8754-48EE-B699-B875D2C4C902}"/>
              </a:ext>
            </a:extLst>
          </p:cNvPr>
          <p:cNvSpPr/>
          <p:nvPr/>
        </p:nvSpPr>
        <p:spPr>
          <a:xfrm>
            <a:off x="1592796" y="121856"/>
            <a:ext cx="5958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ctr">
              <a:spcBef>
                <a:spcPts val="300"/>
              </a:spcBef>
              <a:spcAft>
                <a:spcPts val="0"/>
              </a:spcAft>
            </a:pPr>
            <a:r>
              <a:rPr lang="it-IT" b="1" dirty="0">
                <a:ea typeface="Times New Roman" panose="02020603050405020304" pitchFamily="18" charset="0"/>
              </a:rPr>
              <a:t>Probabilità e Statistica – 3 luglio 2024</a:t>
            </a:r>
            <a:endParaRPr lang="it-IT" sz="1400" dirty="0">
              <a:ea typeface="Times New Roman" panose="020206030504050203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62145ED-5A4B-481F-A61D-76A9B5B0BCE1}"/>
              </a:ext>
            </a:extLst>
          </p:cNvPr>
          <p:cNvSpPr/>
          <p:nvPr/>
        </p:nvSpPr>
        <p:spPr>
          <a:xfrm>
            <a:off x="45840" y="4797152"/>
            <a:ext cx="84969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" algn="just">
              <a:spcAft>
                <a:spcPts val="0"/>
              </a:spcAft>
            </a:pPr>
            <a:r>
              <a:rPr lang="it-IT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&gt; </a:t>
            </a:r>
            <a:r>
              <a:rPr lang="it-IT" sz="20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dpois</a:t>
            </a:r>
            <a:r>
              <a:rPr lang="it-IT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(0,1.3)</a:t>
            </a:r>
            <a:endParaRPr lang="it-IT" sz="2000" b="1" dirty="0">
              <a:ea typeface="Times New Roman" panose="02020603050405020304" pitchFamily="18" charset="0"/>
            </a:endParaRPr>
          </a:p>
          <a:p>
            <a:pPr marL="46990" algn="just">
              <a:spcAft>
                <a:spcPts val="0"/>
              </a:spcAft>
            </a:pPr>
            <a:r>
              <a:rPr lang="it-IT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[1] 0.2725318</a:t>
            </a:r>
            <a:endParaRPr lang="it-IT" sz="2000" b="1" dirty="0">
              <a:ea typeface="Times New Roman" panose="02020603050405020304" pitchFamily="18" charset="0"/>
            </a:endParaRPr>
          </a:p>
          <a:p>
            <a:pPr marL="46990" algn="just">
              <a:spcAft>
                <a:spcPts val="0"/>
              </a:spcAft>
            </a:pPr>
            <a:r>
              <a:rPr lang="it-IT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&gt; </a:t>
            </a:r>
            <a:r>
              <a:rPr lang="it-IT" sz="20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dpois</a:t>
            </a:r>
            <a:r>
              <a:rPr lang="it-IT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(1,1.3)</a:t>
            </a:r>
            <a:endParaRPr lang="it-IT" sz="2000" b="1" dirty="0">
              <a:ea typeface="Times New Roman" panose="02020603050405020304" pitchFamily="18" charset="0"/>
            </a:endParaRPr>
          </a:p>
          <a:p>
            <a:pPr marL="46990" algn="just">
              <a:spcAft>
                <a:spcPts val="0"/>
              </a:spcAft>
            </a:pPr>
            <a:r>
              <a:rPr lang="it-IT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[1] 0.3542913</a:t>
            </a:r>
            <a:endParaRPr lang="it-IT" sz="2000" b="1" dirty="0">
              <a:ea typeface="Times New Roman" panose="02020603050405020304" pitchFamily="18" charset="0"/>
            </a:endParaRPr>
          </a:p>
          <a:p>
            <a:pPr marL="46990" algn="just">
              <a:spcAft>
                <a:spcPts val="0"/>
              </a:spcAft>
            </a:pPr>
            <a:r>
              <a:rPr lang="it-IT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&gt; </a:t>
            </a:r>
            <a:r>
              <a:rPr lang="it-IT" sz="20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dpois</a:t>
            </a:r>
            <a:r>
              <a:rPr lang="it-IT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(1,2.6)</a:t>
            </a:r>
            <a:endParaRPr lang="it-IT" sz="2000" b="1" dirty="0">
              <a:ea typeface="Times New Roman" panose="02020603050405020304" pitchFamily="18" charset="0"/>
            </a:endParaRPr>
          </a:p>
          <a:p>
            <a:pPr marL="46990" algn="just">
              <a:spcAft>
                <a:spcPts val="0"/>
              </a:spcAft>
            </a:pPr>
            <a:r>
              <a:rPr lang="it-IT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[1] 0.1931113</a:t>
            </a:r>
            <a:endParaRPr lang="it-IT" sz="2000" b="1" dirty="0">
              <a:ea typeface="Times New Roman" panose="02020603050405020304" pitchFamily="18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5553511-E9BF-4CE8-9D62-6ED953B8DDC8}"/>
              </a:ext>
            </a:extLst>
          </p:cNvPr>
          <p:cNvSpPr/>
          <p:nvPr/>
        </p:nvSpPr>
        <p:spPr>
          <a:xfrm>
            <a:off x="-1016" y="984725"/>
            <a:ext cx="914501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0"/>
              </a:spcAft>
              <a:buSzPts val="1200"/>
            </a:pPr>
            <a:r>
              <a:rPr lang="it-IT" sz="2200" dirty="0">
                <a:ea typeface="Times New Roman" panose="02020603050405020304" pitchFamily="18" charset="0"/>
              </a:rPr>
              <a:t>In un videogioco di tipo free-to-play basato su realtà aumentata geolocalizzata con GPS la probabilità che in un luogo specifico appaia una determinata creatura immaginaria rara segue la variabile casuale di Poisson con parametro λ =1.3 al mese.</a:t>
            </a:r>
          </a:p>
          <a:p>
            <a:pPr marL="407035" algn="just">
              <a:spcAft>
                <a:spcPts val="0"/>
              </a:spcAft>
            </a:pPr>
            <a:r>
              <a:rPr lang="it-IT" sz="2200" dirty="0">
                <a:ea typeface="Times New Roman" panose="02020603050405020304" pitchFamily="18" charset="0"/>
              </a:rPr>
              <a:t>a) Calcolare la probabilità che in un mese la creatura immaginaria rara appaia 0 volte.</a:t>
            </a:r>
          </a:p>
          <a:p>
            <a:pPr marL="407035" algn="just">
              <a:spcAft>
                <a:spcPts val="0"/>
              </a:spcAft>
            </a:pPr>
            <a:r>
              <a:rPr lang="it-IT" sz="2200" dirty="0">
                <a:ea typeface="Times New Roman" panose="02020603050405020304" pitchFamily="18" charset="0"/>
              </a:rPr>
              <a:t>b) Calcolare la probabilità che in un mese la creatura immaginaria rara appaia esattamente 1 volta.</a:t>
            </a:r>
          </a:p>
          <a:p>
            <a:pPr marL="407035" algn="just">
              <a:spcAft>
                <a:spcPts val="600"/>
              </a:spcAft>
            </a:pPr>
            <a:r>
              <a:rPr lang="it-IT" sz="2200" dirty="0">
                <a:ea typeface="Times New Roman" panose="02020603050405020304" pitchFamily="18" charset="0"/>
              </a:rPr>
              <a:t>c) Calcolare la probabilità che in 2 mesi la creatura immaginaria rara appaia esattamente 1 volta.</a:t>
            </a:r>
          </a:p>
        </p:txBody>
      </p:sp>
    </p:spTree>
    <p:extLst>
      <p:ext uri="{BB962C8B-B14F-4D97-AF65-F5344CB8AC3E}">
        <p14:creationId xmlns:p14="http://schemas.microsoft.com/office/powerpoint/2010/main" val="4250656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286500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6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6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truttura predefinita">
  <a:themeElements>
    <a:clrScheme name="1_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Struttura predefinita">
  <a:themeElements>
    <a:clrScheme name="4_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calc">
  <a:themeElements>
    <a:clrScheme name="cal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E45C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l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l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2538</TotalTime>
  <Words>1116</Words>
  <Application>Microsoft Office PowerPoint</Application>
  <PresentationFormat>Presentazione su schermo (4:3)</PresentationFormat>
  <Paragraphs>114</Paragraphs>
  <Slides>24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4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7" baseType="lpstr">
      <vt:lpstr>Arial</vt:lpstr>
      <vt:lpstr>Arial</vt:lpstr>
      <vt:lpstr>Cambria Math</vt:lpstr>
      <vt:lpstr>Courier New</vt:lpstr>
      <vt:lpstr>Symbol</vt:lpstr>
      <vt:lpstr>Tahoma</vt:lpstr>
      <vt:lpstr>Times New Roman</vt:lpstr>
      <vt:lpstr>Wingdings</vt:lpstr>
      <vt:lpstr>Struttura predefinita</vt:lpstr>
      <vt:lpstr>1_Struttura predefinita</vt:lpstr>
      <vt:lpstr>6_Struttura predefinita</vt:lpstr>
      <vt:lpstr>calc</vt:lpstr>
      <vt:lpstr>Equazione</vt:lpstr>
      <vt:lpstr>Presentazione standard di PowerPoint</vt:lpstr>
      <vt:lpstr>LA V.C. DI POISSON</vt:lpstr>
      <vt:lpstr>LA V.C. DI POISSON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VARIABILI CASUALI</dc:title>
  <dc:creator>Rocco Micciolo</dc:creator>
  <cp:lastModifiedBy>Canal, Luisa</cp:lastModifiedBy>
  <cp:revision>450</cp:revision>
  <dcterms:created xsi:type="dcterms:W3CDTF">2006-10-21T07:26:54Z</dcterms:created>
  <dcterms:modified xsi:type="dcterms:W3CDTF">2026-03-05T16:11:50Z</dcterms:modified>
</cp:coreProperties>
</file>