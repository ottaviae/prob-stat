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5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4" r:id="rId1"/>
    <p:sldMasterId id="2147483916" r:id="rId2"/>
    <p:sldMasterId id="2147483929" r:id="rId3"/>
    <p:sldMasterId id="2147486179" r:id="rId4"/>
    <p:sldMasterId id="2147486229" r:id="rId5"/>
    <p:sldMasterId id="2147487638" r:id="rId6"/>
  </p:sldMasterIdLst>
  <p:notesMasterIdLst>
    <p:notesMasterId r:id="rId47"/>
  </p:notesMasterIdLst>
  <p:sldIdLst>
    <p:sldId id="652" r:id="rId7"/>
    <p:sldId id="704" r:id="rId8"/>
    <p:sldId id="729" r:id="rId9"/>
    <p:sldId id="763" r:id="rId10"/>
    <p:sldId id="764" r:id="rId11"/>
    <p:sldId id="730" r:id="rId12"/>
    <p:sldId id="731" r:id="rId13"/>
    <p:sldId id="705" r:id="rId14"/>
    <p:sldId id="707" r:id="rId15"/>
    <p:sldId id="708" r:id="rId16"/>
    <p:sldId id="695" r:id="rId17"/>
    <p:sldId id="771" r:id="rId18"/>
    <p:sldId id="712" r:id="rId19"/>
    <p:sldId id="765" r:id="rId20"/>
    <p:sldId id="743" r:id="rId21"/>
    <p:sldId id="744" r:id="rId22"/>
    <p:sldId id="749" r:id="rId23"/>
    <p:sldId id="496" r:id="rId24"/>
    <p:sldId id="766" r:id="rId25"/>
    <p:sldId id="767" r:id="rId26"/>
    <p:sldId id="762" r:id="rId27"/>
    <p:sldId id="759" r:id="rId28"/>
    <p:sldId id="688" r:id="rId29"/>
    <p:sldId id="770" r:id="rId30"/>
    <p:sldId id="753" r:id="rId31"/>
    <p:sldId id="687" r:id="rId32"/>
    <p:sldId id="755" r:id="rId33"/>
    <p:sldId id="756" r:id="rId34"/>
    <p:sldId id="660" r:id="rId35"/>
    <p:sldId id="760" r:id="rId36"/>
    <p:sldId id="768" r:id="rId37"/>
    <p:sldId id="761" r:id="rId38"/>
    <p:sldId id="669" r:id="rId39"/>
    <p:sldId id="769" r:id="rId40"/>
    <p:sldId id="670" r:id="rId41"/>
    <p:sldId id="772" r:id="rId42"/>
    <p:sldId id="773" r:id="rId43"/>
    <p:sldId id="774" r:id="rId44"/>
    <p:sldId id="775" r:id="rId45"/>
    <p:sldId id="631" r:id="rId46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DDE1F7"/>
    <a:srgbClr val="EEF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230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59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3F232C2-4805-4C63-BE6F-C5592EC8195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84" tIns="47442" rIns="94884" bIns="47442" anchor="b"/>
          <a:lstStyle/>
          <a:p>
            <a:pPr algn="r" defTabSz="946150" eaLnBrk="1" hangingPunct="1"/>
            <a:fld id="{9775EDF2-8C50-4B91-87A8-2A75B2FF2A51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6150" eaLnBrk="1" hangingPunct="1"/>
              <a:t>26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62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29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30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86676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31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36700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32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2514217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82F8AA-CAE8-4889-BD2F-5488B0CFDA5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AAFD4-3AFA-44A8-927F-B14AAD5069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0B1B62-583E-4526-B83D-7B5F8C0ACC7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7145CC-C400-40BB-9C47-3444AB7A00A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95BA2E-336A-41DA-B00C-0BCF325CFE2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35BB3A-CAB1-4FBE-A351-B5097702D6D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B4361-A5EF-475F-8062-2A37C035BF2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0C2D93-860C-436A-AD57-D7C29AFB6CD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64C0D-6F81-457F-8FA9-AB7BC52D150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079EA4-4B61-45A8-A1ED-1144A62F5F4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B90319-1159-4CDE-BC22-E503E59EF3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2334177-A0E2-4BD5-A0B1-E51C6408BF2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70D4DC44-5CE1-476C-88E1-19A1716BE64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DC4930E-149C-44F9-9422-4C3C29F4EEF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DCC93009-B117-47E4-9CC9-526E380E15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583EF93-FC59-4DCD-97FB-ED2129732CC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4EC596D-141E-41C5-99E7-D988DB3BD1E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11949E86-A956-4CA7-B009-CD2D174834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8AC5303E-FCB2-4C48-A86A-ABDE3795681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FCF374B-1526-42F0-9D91-39789BF5B4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085A6DA-C952-489B-92D3-7D502AF4BC1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2183BACB-4560-47D7-BB85-77FDFE7171D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43CE68B-1626-40DD-9419-FB0DEFB2AFE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E687BD7-B643-4C16-AF4A-28C7858CE5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C0CF2CE-3719-4822-939C-A8DDEE8FAB7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5E0A877-E0DC-4D27-8086-1236EB2F21B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A0E1660-0860-465F-92CD-A90C0C79CF5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4E8F6CF-8CE7-4D01-9C68-703184F26C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629D129-A2AA-42CE-B15C-13952AB4A2D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FC8BB2C-413E-418B-8281-F281BA573C8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A908FFA-B919-4658-B8BA-B818A5B95C1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9C18CEE-0F1D-46B8-8C8C-E30F59F93E1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68D6B2F-CF29-45E8-A780-3A7EB189C2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E2416085-98C5-41B2-997B-16B107CC9D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C6432-6944-4695-BB54-C5ED695A47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01687-1408-4478-B46A-8EC90FE33BF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EE528-2A72-472A-B729-D7995FE396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CE7B0-3536-455B-A2F1-1099BA66481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3BD78-B299-4B0A-9F49-E21BFE2BEC3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3C002-594F-4240-B8BF-1515BAD332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CD8D4-8143-4F47-A9A9-B083268C628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7B916-835E-4356-ABAE-A5D7ADD7765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D1C3B-2F36-4E61-9669-1AC5B76D57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73D6D-6627-4A47-A351-59B3D79D59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9C3CE-3063-475D-AF8C-7D4D7555075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6D7D7DD-5D8E-4DFE-AE4A-C551912200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B647956-0755-4BC7-83F8-C3CB9BBB5BD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B9AEFA4-2CFD-4DFF-B808-08720E28B90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AE899B5-CEF3-4A8F-A109-3EADC3D25CB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22F36EC-42C8-4A3A-B4C8-69DE0DF011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417C31C-AB0F-4C6A-9372-FF3E5C0543A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D40633E-02A6-4425-9614-EC9657C4B35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D43688A-6DC4-4DC8-8176-F21D8488032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4EB5038-6CB2-436F-8955-22F6065926A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039440A-864A-4B1B-AB04-EB63F3244B6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>
                <a:cs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AA09E67-B807-45B4-8991-DF36EBEA795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B3BAA9EB-6BD5-446B-A53A-F15C42D1662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6703A890-4E91-4AF2-ABA1-7DCC6D8536D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437A0C6-4809-4EB6-B3C3-5FEDF084CE3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A38016E-6D6D-449A-9767-F9EFB524643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D71DC69-B3F9-43DA-A77E-199C79A1E42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4884FC8-C5D3-424C-BB50-421DBD941F4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89CCBE9-FA23-435C-8FFD-4A8636D4963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7CDC4C6-3EA5-4ACD-BA00-FB57E78C2E8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CCBCEE70-9DF0-435A-9F27-02A574F5371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82E525F5-817D-4F00-8C7B-F6E8424AFEC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3AB40BE-FD93-4E60-85FA-26B54823B0B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5A8CD38-D37D-4D74-848B-6005F6AA370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olo, diagramma o organi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SmartArt 2"/>
          <p:cNvSpPr>
            <a:spLocks noGrp="1"/>
          </p:cNvSpPr>
          <p:nvPr>
            <p:ph type="dgm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FE5CE4E-54F0-4589-A69E-822007216D4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8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6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70EF0459-D20B-4F13-AAA3-A8708354095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865" r:id="rId1"/>
    <p:sldLayoutId id="2147491866" r:id="rId2"/>
    <p:sldLayoutId id="2147491867" r:id="rId3"/>
    <p:sldLayoutId id="2147491868" r:id="rId4"/>
    <p:sldLayoutId id="2147491869" r:id="rId5"/>
    <p:sldLayoutId id="2147491870" r:id="rId6"/>
    <p:sldLayoutId id="2147491871" r:id="rId7"/>
    <p:sldLayoutId id="2147491872" r:id="rId8"/>
    <p:sldLayoutId id="2147491873" r:id="rId9"/>
    <p:sldLayoutId id="2147491874" r:id="rId10"/>
    <p:sldLayoutId id="21474918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1C297A5B-E464-4B73-B1AF-2328B2C5DD1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53" r:id="rId1"/>
    <p:sldLayoutId id="2147491954" r:id="rId2"/>
    <p:sldLayoutId id="2147491955" r:id="rId3"/>
    <p:sldLayoutId id="2147491956" r:id="rId4"/>
    <p:sldLayoutId id="2147491957" r:id="rId5"/>
    <p:sldLayoutId id="2147491958" r:id="rId6"/>
    <p:sldLayoutId id="2147491959" r:id="rId7"/>
    <p:sldLayoutId id="2147491960" r:id="rId8"/>
    <p:sldLayoutId id="2147491961" r:id="rId9"/>
    <p:sldLayoutId id="2147491962" r:id="rId10"/>
    <p:sldLayoutId id="2147491963" r:id="rId11"/>
    <p:sldLayoutId id="214749196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AC4C8F6-D92E-4661-81FE-10ACDF8CF89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65" r:id="rId1"/>
    <p:sldLayoutId id="2147491966" r:id="rId2"/>
    <p:sldLayoutId id="2147491967" r:id="rId3"/>
    <p:sldLayoutId id="2147491968" r:id="rId4"/>
    <p:sldLayoutId id="2147491969" r:id="rId5"/>
    <p:sldLayoutId id="2147491970" r:id="rId6"/>
    <p:sldLayoutId id="2147491971" r:id="rId7"/>
    <p:sldLayoutId id="2147491972" r:id="rId8"/>
    <p:sldLayoutId id="2147491973" r:id="rId9"/>
    <p:sldLayoutId id="2147491974" r:id="rId10"/>
    <p:sldLayoutId id="21474919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BD80F89-8E0C-4209-A04D-BC441EE4428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20" r:id="rId1"/>
    <p:sldLayoutId id="2147491921" r:id="rId2"/>
    <p:sldLayoutId id="2147491922" r:id="rId3"/>
    <p:sldLayoutId id="2147491923" r:id="rId4"/>
    <p:sldLayoutId id="2147491924" r:id="rId5"/>
    <p:sldLayoutId id="2147491925" r:id="rId6"/>
    <p:sldLayoutId id="2147491926" r:id="rId7"/>
    <p:sldLayoutId id="2147491927" r:id="rId8"/>
    <p:sldLayoutId id="2147491928" r:id="rId9"/>
    <p:sldLayoutId id="2147491929" r:id="rId10"/>
    <p:sldLayoutId id="21474919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+mn-lt"/>
                <a:cs typeface="Arial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BE1BEDD8-1EFE-4DBF-93A2-85A5C503BBD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47" r:id="rId1"/>
    <p:sldLayoutId id="2147492048" r:id="rId2"/>
    <p:sldLayoutId id="2147492049" r:id="rId3"/>
    <p:sldLayoutId id="2147492050" r:id="rId4"/>
    <p:sldLayoutId id="2147492051" r:id="rId5"/>
    <p:sldLayoutId id="2147492052" r:id="rId6"/>
    <p:sldLayoutId id="2147492053" r:id="rId7"/>
    <p:sldLayoutId id="2147492054" r:id="rId8"/>
    <p:sldLayoutId id="2147492055" r:id="rId9"/>
    <p:sldLayoutId id="2147492056" r:id="rId10"/>
    <p:sldLayoutId id="214749205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60A6DE00-8AE3-48AB-AD77-EA372848A7A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69" r:id="rId1"/>
    <p:sldLayoutId id="2147492070" r:id="rId2"/>
    <p:sldLayoutId id="2147492071" r:id="rId3"/>
    <p:sldLayoutId id="2147492072" r:id="rId4"/>
    <p:sldLayoutId id="2147492073" r:id="rId5"/>
    <p:sldLayoutId id="2147492074" r:id="rId6"/>
    <p:sldLayoutId id="2147492075" r:id="rId7"/>
    <p:sldLayoutId id="2147492076" r:id="rId8"/>
    <p:sldLayoutId id="2147492077" r:id="rId9"/>
    <p:sldLayoutId id="2147492078" r:id="rId10"/>
    <p:sldLayoutId id="2147492079" r:id="rId11"/>
    <p:sldLayoutId id="2147492080" r:id="rId12"/>
    <p:sldLayoutId id="2147492081" r:id="rId13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8.png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0.png"/><Relationship Id="rId5" Type="http://schemas.openxmlformats.org/officeDocument/2006/relationships/image" Target="../media/image9.png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2.xml"/><Relationship Id="rId1" Type="http://schemas.openxmlformats.org/officeDocument/2006/relationships/vmlDrawing" Target="../drawings/vmlDrawing3.vml"/><Relationship Id="rId5" Type="http://schemas.openxmlformats.org/officeDocument/2006/relationships/hyperlink" Target="https://it.wikipedia.org/wiki/Paradosso_del_compleanno" TargetMode="External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30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8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42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38.wmf"/><Relationship Id="rId12" Type="http://schemas.openxmlformats.org/officeDocument/2006/relationships/image" Target="../media/image41.png"/><Relationship Id="rId2" Type="http://schemas.openxmlformats.org/officeDocument/2006/relationships/slideLayout" Target="../slideLayouts/slideLayout68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39.wmf"/><Relationship Id="rId14" Type="http://schemas.openxmlformats.org/officeDocument/2006/relationships/image" Target="../media/image4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44.png"/><Relationship Id="rId7" Type="http://schemas.openxmlformats.org/officeDocument/2006/relationships/image" Target="../media/image42.wmf"/><Relationship Id="rId2" Type="http://schemas.openxmlformats.org/officeDocument/2006/relationships/slideLayout" Target="../slideLayouts/slideLayout4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11.bin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322513"/>
            <a:ext cx="7772400" cy="2209800"/>
          </a:xfrm>
        </p:spPr>
        <p:txBody>
          <a:bodyPr/>
          <a:lstStyle/>
          <a:p>
            <a:pPr eaLnBrk="1" hangingPunct="1"/>
            <a:r>
              <a:rPr lang="it-IT" altLang="it-IT" sz="6000" dirty="0">
                <a:latin typeface="Tahoma" pitchFamily="34" charset="0"/>
                <a:cs typeface="Tahoma" pitchFamily="34" charset="0"/>
              </a:rPr>
              <a:t>Introduzione alla probabilità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1519C294-804B-4445-9143-9A691527C5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73" y="845095"/>
            <a:ext cx="7334250" cy="2162175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7BE458B-B377-424F-B389-6B2E05DE9DC8}"/>
              </a:ext>
            </a:extLst>
          </p:cNvPr>
          <p:cNvSpPr txBox="1"/>
          <p:nvPr/>
        </p:nvSpPr>
        <p:spPr>
          <a:xfrm>
            <a:off x="1331640" y="4147146"/>
            <a:ext cx="52860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Pagina 3 del libro di testo «Probabilità e modelli»</a:t>
            </a:r>
          </a:p>
          <a:p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(Laplace, 1812)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0A929C9-C9D1-445A-969A-A161D1A539BF}"/>
              </a:ext>
            </a:extLst>
          </p:cNvPr>
          <p:cNvSpPr/>
          <p:nvPr/>
        </p:nvSpPr>
        <p:spPr>
          <a:xfrm>
            <a:off x="1115616" y="908720"/>
            <a:ext cx="2376264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3FF1AE0B-76E9-4106-BFA7-30DD051CC574}"/>
              </a:ext>
            </a:extLst>
          </p:cNvPr>
          <p:cNvSpPr/>
          <p:nvPr/>
        </p:nvSpPr>
        <p:spPr>
          <a:xfrm>
            <a:off x="6840252" y="917104"/>
            <a:ext cx="1476164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DA839A6E-2A83-4B85-9FF9-08A638A587BA}"/>
              </a:ext>
            </a:extLst>
          </p:cNvPr>
          <p:cNvSpPr/>
          <p:nvPr/>
        </p:nvSpPr>
        <p:spPr>
          <a:xfrm>
            <a:off x="1197465" y="1269495"/>
            <a:ext cx="924273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E7EDC757-FAA6-476E-996B-4D58844FE77F}"/>
              </a:ext>
            </a:extLst>
          </p:cNvPr>
          <p:cNvSpPr/>
          <p:nvPr/>
        </p:nvSpPr>
        <p:spPr>
          <a:xfrm>
            <a:off x="1120024" y="1917799"/>
            <a:ext cx="257459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007D6660-B5E5-4E7A-AFC9-CF8C43ADC187}"/>
              </a:ext>
            </a:extLst>
          </p:cNvPr>
          <p:cNvSpPr/>
          <p:nvPr/>
        </p:nvSpPr>
        <p:spPr>
          <a:xfrm>
            <a:off x="4081748" y="1629767"/>
            <a:ext cx="346235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D417964-CDCB-4302-89A8-A49AB7781294}"/>
              </a:ext>
            </a:extLst>
          </p:cNvPr>
          <p:cNvSpPr/>
          <p:nvPr/>
        </p:nvSpPr>
        <p:spPr>
          <a:xfrm>
            <a:off x="4079775" y="1273931"/>
            <a:ext cx="780258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7785201-BDFA-4D0E-99C8-238273829353}"/>
              </a:ext>
            </a:extLst>
          </p:cNvPr>
          <p:cNvSpPr/>
          <p:nvPr/>
        </p:nvSpPr>
        <p:spPr>
          <a:xfrm>
            <a:off x="4079775" y="2314318"/>
            <a:ext cx="1356322" cy="61062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1AA51C-52F6-46C0-9263-9F7A996D286E}"/>
              </a:ext>
            </a:extLst>
          </p:cNvPr>
          <p:cNvSpPr txBox="1"/>
          <p:nvPr/>
        </p:nvSpPr>
        <p:spPr>
          <a:xfrm>
            <a:off x="1187624" y="5363924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24 del libro di testo «Probabilità e modelli»</a:t>
            </a:r>
            <a:r>
              <a:rPr lang="it-IT" dirty="0"/>
              <a:t>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211D791D-6CA6-46BC-9028-641130A46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124744"/>
            <a:ext cx="7696200" cy="3057525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BEC3C6D-090F-43C5-9DAC-1AEB681AFBD7}"/>
              </a:ext>
            </a:extLst>
          </p:cNvPr>
          <p:cNvSpPr/>
          <p:nvPr/>
        </p:nvSpPr>
        <p:spPr>
          <a:xfrm>
            <a:off x="2411760" y="1412776"/>
            <a:ext cx="3348372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61394FC-7525-49D3-8DC7-5393CD322715}"/>
              </a:ext>
            </a:extLst>
          </p:cNvPr>
          <p:cNvSpPr/>
          <p:nvPr/>
        </p:nvSpPr>
        <p:spPr>
          <a:xfrm>
            <a:off x="6660232" y="1415974"/>
            <a:ext cx="1728192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344E1B5B-AD2B-40C9-A052-619EAD671D00}"/>
              </a:ext>
            </a:extLst>
          </p:cNvPr>
          <p:cNvSpPr/>
          <p:nvPr/>
        </p:nvSpPr>
        <p:spPr>
          <a:xfrm>
            <a:off x="7308304" y="2150817"/>
            <a:ext cx="648073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2FD16107-23A6-460C-BD91-81E835B9D69B}"/>
              </a:ext>
            </a:extLst>
          </p:cNvPr>
          <p:cNvSpPr/>
          <p:nvPr/>
        </p:nvSpPr>
        <p:spPr>
          <a:xfrm>
            <a:off x="6660232" y="3022527"/>
            <a:ext cx="720080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0EDC06A6-2679-472C-A2C9-D01F4DC23935}"/>
              </a:ext>
            </a:extLst>
          </p:cNvPr>
          <p:cNvSpPr/>
          <p:nvPr/>
        </p:nvSpPr>
        <p:spPr>
          <a:xfrm>
            <a:off x="3851920" y="3717032"/>
            <a:ext cx="504056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6F7B7CF1-B433-4443-9431-1738594DF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31" y="1113452"/>
            <a:ext cx="1085850" cy="34290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5D01700-EC37-4450-9FE6-EB8955985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2653506"/>
            <a:ext cx="1133475" cy="352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821262F0-93A6-495B-99EB-3DBD03353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268760"/>
            <a:ext cx="7620000" cy="866775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DDC2BCC4-3D99-4E3E-BB27-BDCA64865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196752"/>
            <a:ext cx="11239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54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9B1AA51C-52F6-46C0-9263-9F7A996D286E}"/>
              </a:ext>
            </a:extLst>
          </p:cNvPr>
          <p:cNvSpPr txBox="1"/>
          <p:nvPr/>
        </p:nvSpPr>
        <p:spPr>
          <a:xfrm>
            <a:off x="755576" y="4653136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24 del libro di testo «Probabilità e modelli»</a:t>
            </a:r>
            <a:r>
              <a:rPr lang="it-IT" dirty="0"/>
              <a:t> 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E4AA5B6-A436-4F93-8E49-56E02F59F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304925"/>
            <a:ext cx="7667625" cy="2124075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D2C1CAA8-8EC3-495A-9B94-ACAC9B449939}"/>
              </a:ext>
            </a:extLst>
          </p:cNvPr>
          <p:cNvSpPr/>
          <p:nvPr/>
        </p:nvSpPr>
        <p:spPr>
          <a:xfrm>
            <a:off x="6372200" y="1556792"/>
            <a:ext cx="1728192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C41CC5C6-1727-4A23-BB0F-B0CD5CA6F38F}"/>
              </a:ext>
            </a:extLst>
          </p:cNvPr>
          <p:cNvSpPr/>
          <p:nvPr/>
        </p:nvSpPr>
        <p:spPr>
          <a:xfrm>
            <a:off x="539552" y="1844824"/>
            <a:ext cx="936104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612EE5D-D673-4565-871E-14BE14C639F5}"/>
              </a:ext>
            </a:extLst>
          </p:cNvPr>
          <p:cNvSpPr/>
          <p:nvPr/>
        </p:nvSpPr>
        <p:spPr>
          <a:xfrm>
            <a:off x="728935" y="3089913"/>
            <a:ext cx="602705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C96085C-C757-411B-AB91-B74DE3931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848" y="1231975"/>
            <a:ext cx="112395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363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490" name="Object 2"/>
          <p:cNvGraphicFramePr>
            <a:graphicFrameLocks noChangeAspect="1"/>
          </p:cNvGraphicFramePr>
          <p:nvPr/>
        </p:nvGraphicFramePr>
        <p:xfrm>
          <a:off x="3232944" y="4687019"/>
          <a:ext cx="2678112" cy="183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537" name="Equation" r:id="rId3" imgW="1143000" imgH="914400" progId="">
                  <p:embed/>
                </p:oleObj>
              </mc:Choice>
              <mc:Fallback>
                <p:oleObj name="Equation" r:id="rId3" imgW="1143000" imgH="9144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944" y="4687019"/>
                        <a:ext cx="2678112" cy="183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149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966788" y="553169"/>
            <a:ext cx="7210425" cy="413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DD58A46C-9189-4A2D-AEEC-B5507AA13598}"/>
              </a:ext>
            </a:extLst>
          </p:cNvPr>
          <p:cNvSpPr/>
          <p:nvPr/>
        </p:nvSpPr>
        <p:spPr>
          <a:xfrm>
            <a:off x="966788" y="553169"/>
            <a:ext cx="940916" cy="3555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377D439-D63B-4EA5-ACA0-00AF96AD1A98}"/>
              </a:ext>
            </a:extLst>
          </p:cNvPr>
          <p:cNvSpPr txBox="1"/>
          <p:nvPr/>
        </p:nvSpPr>
        <p:spPr>
          <a:xfrm>
            <a:off x="611560" y="600943"/>
            <a:ext cx="13681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b="1" dirty="0"/>
              <a:t>Esempio 1.8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3FBB349A-688B-454D-AD9E-6E9EE9D91A0E}"/>
              </a:ext>
            </a:extLst>
          </p:cNvPr>
          <p:cNvSpPr/>
          <p:nvPr/>
        </p:nvSpPr>
        <p:spPr>
          <a:xfrm>
            <a:off x="3635896" y="3212976"/>
            <a:ext cx="28803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Ovale 6">
            <a:extLst>
              <a:ext uri="{FF2B5EF4-FFF2-40B4-BE49-F238E27FC236}">
                <a16:creationId xmlns:a16="http://schemas.microsoft.com/office/drawing/2014/main" id="{3D4A4E17-633E-4FAC-BD64-3F189BDC4337}"/>
              </a:ext>
            </a:extLst>
          </p:cNvPr>
          <p:cNvSpPr/>
          <p:nvPr/>
        </p:nvSpPr>
        <p:spPr>
          <a:xfrm>
            <a:off x="6084168" y="3212976"/>
            <a:ext cx="288032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1FDBE533-E1E8-4E85-AA38-7D5FF8CEEDC9}"/>
              </a:ext>
            </a:extLst>
          </p:cNvPr>
          <p:cNvSpPr/>
          <p:nvPr/>
        </p:nvSpPr>
        <p:spPr>
          <a:xfrm flipV="1">
            <a:off x="527581" y="1340768"/>
            <a:ext cx="261743" cy="1897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Freccia a destra 10">
            <a:extLst>
              <a:ext uri="{FF2B5EF4-FFF2-40B4-BE49-F238E27FC236}">
                <a16:creationId xmlns:a16="http://schemas.microsoft.com/office/drawing/2014/main" id="{8AF16041-CBC6-4320-8210-32E4013DEBEC}"/>
              </a:ext>
            </a:extLst>
          </p:cNvPr>
          <p:cNvSpPr/>
          <p:nvPr/>
        </p:nvSpPr>
        <p:spPr>
          <a:xfrm flipV="1">
            <a:off x="516413" y="2525226"/>
            <a:ext cx="261743" cy="1897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11267589-2155-4B87-A697-B8B39452AB14}"/>
              </a:ext>
            </a:extLst>
          </p:cNvPr>
          <p:cNvSpPr/>
          <p:nvPr/>
        </p:nvSpPr>
        <p:spPr>
          <a:xfrm>
            <a:off x="1437480" y="3212976"/>
            <a:ext cx="758256" cy="288032"/>
          </a:xfrm>
          <a:prstGeom prst="ellipse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6" name="Connettore 2 5"/>
          <p:cNvCxnSpPr/>
          <p:nvPr/>
        </p:nvCxnSpPr>
        <p:spPr>
          <a:xfrm>
            <a:off x="5911056" y="3441469"/>
            <a:ext cx="1829296" cy="20823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/>
              <p:cNvSpPr txBox="1"/>
              <p:nvPr/>
            </p:nvSpPr>
            <p:spPr>
              <a:xfrm>
                <a:off x="966787" y="5385279"/>
                <a:ext cx="769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52(51)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3" name="CasellaDiTesto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787" y="5385279"/>
                <a:ext cx="769441" cy="276999"/>
              </a:xfrm>
              <a:prstGeom prst="rect">
                <a:avLst/>
              </a:prstGeom>
              <a:blipFill>
                <a:blip r:embed="rId6"/>
                <a:stretch>
                  <a:fillRect l="-6349" r="-10317" b="-347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ttore 2 15"/>
          <p:cNvCxnSpPr/>
          <p:nvPr/>
        </p:nvCxnSpPr>
        <p:spPr>
          <a:xfrm flipH="1">
            <a:off x="1340024" y="3581400"/>
            <a:ext cx="2232248" cy="1872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/>
              <p:cNvSpPr txBox="1"/>
              <p:nvPr/>
            </p:nvSpPr>
            <p:spPr>
              <a:xfrm>
                <a:off x="7740352" y="5550027"/>
                <a:ext cx="7694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13(12)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352" y="5550027"/>
                <a:ext cx="769441" cy="276999"/>
              </a:xfrm>
              <a:prstGeom prst="rect">
                <a:avLst/>
              </a:prstGeom>
              <a:blipFill>
                <a:blip r:embed="rId7"/>
                <a:stretch>
                  <a:fillRect l="-6349" r="-10317" b="-3478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tangolo 17">
            <a:extLst>
              <a:ext uri="{FF2B5EF4-FFF2-40B4-BE49-F238E27FC236}">
                <a16:creationId xmlns:a16="http://schemas.microsoft.com/office/drawing/2014/main" id="{CF0F243A-16E3-429D-BB9F-4951EFB39F4B}"/>
              </a:ext>
            </a:extLst>
          </p:cNvPr>
          <p:cNvSpPr/>
          <p:nvPr/>
        </p:nvSpPr>
        <p:spPr>
          <a:xfrm>
            <a:off x="5292080" y="620688"/>
            <a:ext cx="1656184" cy="28803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4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390650"/>
            <a:ext cx="72390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CE30B6F-17A4-4670-BED5-A98BC61BD073}"/>
              </a:ext>
            </a:extLst>
          </p:cNvPr>
          <p:cNvSpPr txBox="1"/>
          <p:nvPr/>
        </p:nvSpPr>
        <p:spPr>
          <a:xfrm>
            <a:off x="815190" y="1129940"/>
            <a:ext cx="1229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b="1" dirty="0"/>
              <a:t>Esempio 1.9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2939BFF-487C-4922-ABCE-2673B23AC095}"/>
              </a:ext>
            </a:extLst>
          </p:cNvPr>
          <p:cNvSpPr/>
          <p:nvPr/>
        </p:nvSpPr>
        <p:spPr>
          <a:xfrm>
            <a:off x="952500" y="1484784"/>
            <a:ext cx="955204" cy="21364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Ovale 3"/>
          <p:cNvSpPr/>
          <p:nvPr/>
        </p:nvSpPr>
        <p:spPr>
          <a:xfrm>
            <a:off x="2339752" y="2564904"/>
            <a:ext cx="576064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155825"/>
            <a:ext cx="7772400" cy="1439863"/>
          </a:xfrm>
        </p:spPr>
        <p:txBody>
          <a:bodyPr/>
          <a:lstStyle/>
          <a:p>
            <a:pPr eaLnBrk="1" hangingPunct="1"/>
            <a:r>
              <a:rPr lang="it-IT" altLang="it-IT" dirty="0">
                <a:latin typeface="Tahoma" pitchFamily="34" charset="0"/>
                <a:cs typeface="Tahoma" pitchFamily="34" charset="0"/>
              </a:rPr>
              <a:t>Il “problema dei compleanni”</a:t>
            </a:r>
          </a:p>
        </p:txBody>
      </p:sp>
      <p:sp>
        <p:nvSpPr>
          <p:cNvPr id="215043" name="CasellaDiTesto 4"/>
          <p:cNvSpPr txBox="1">
            <a:spLocks noChangeArrowheads="1"/>
          </p:cNvSpPr>
          <p:nvPr/>
        </p:nvSpPr>
        <p:spPr bwMode="auto">
          <a:xfrm>
            <a:off x="539750" y="3751263"/>
            <a:ext cx="81359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Qual è la probabilità che in un gruppo di 30 persone, almeno due abbiano lo stesso compleanno?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2206D2C4-95A9-4421-99F5-AC5D456FC10C}"/>
              </a:ext>
            </a:extLst>
          </p:cNvPr>
          <p:cNvSpPr/>
          <p:nvPr/>
        </p:nvSpPr>
        <p:spPr>
          <a:xfrm>
            <a:off x="685800" y="5517232"/>
            <a:ext cx="76306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A pagina 24 del libro di testo «Probabilità e modelli» c’è la versione più generale con </a:t>
            </a:r>
            <a:r>
              <a:rPr lang="it-IT" i="1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persone</a:t>
            </a:r>
            <a:r>
              <a:rPr lang="it-IT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1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-26988"/>
            <a:ext cx="7772400" cy="1439863"/>
          </a:xfrm>
        </p:spPr>
        <p:txBody>
          <a:bodyPr/>
          <a:lstStyle/>
          <a:p>
            <a:pPr eaLnBrk="1" hangingPunct="1"/>
            <a:r>
              <a:rPr lang="it-IT" altLang="it-IT">
                <a:latin typeface="Tahoma" pitchFamily="34" charset="0"/>
                <a:cs typeface="Tahoma" pitchFamily="34" charset="0"/>
              </a:rPr>
              <a:t>Il “problema dei compleanni”</a:t>
            </a:r>
          </a:p>
        </p:txBody>
      </p:sp>
      <p:sp>
        <p:nvSpPr>
          <p:cNvPr id="9222" name="CasellaDiTesto 4"/>
          <p:cNvSpPr txBox="1">
            <a:spLocks noChangeArrowheads="1"/>
          </p:cNvSpPr>
          <p:nvPr/>
        </p:nvSpPr>
        <p:spPr bwMode="auto">
          <a:xfrm>
            <a:off x="539750" y="2144713"/>
            <a:ext cx="81359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Qual è la probabilità che in un gruppo di 30 persone, </a:t>
            </a:r>
            <a:r>
              <a:rPr lang="it-IT" altLang="it-IT" sz="240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nessuna</a:t>
            </a:r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 abbia lo stesso compleanno?</a:t>
            </a:r>
          </a:p>
        </p:txBody>
      </p:sp>
      <p:graphicFrame>
        <p:nvGraphicFramePr>
          <p:cNvPr id="9218" name="Object 1030"/>
          <p:cNvGraphicFramePr>
            <a:graphicFrameLocks noChangeAspect="1"/>
          </p:cNvGraphicFramePr>
          <p:nvPr/>
        </p:nvGraphicFramePr>
        <p:xfrm>
          <a:off x="1401763" y="4451350"/>
          <a:ext cx="6340475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68" name="Equazione" r:id="rId3" imgW="3009900" imgH="469900" progId="">
                  <p:embed/>
                </p:oleObj>
              </mc:Choice>
              <mc:Fallback>
                <p:oleObj name="Equazione" r:id="rId3" imgW="3009900" imgH="469900" progId="">
                  <p:embed/>
                  <p:pic>
                    <p:nvPicPr>
                      <p:cNvPr id="9218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4451350"/>
                        <a:ext cx="6340475" cy="993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1030"/>
          <p:cNvGraphicFramePr>
            <a:graphicFrameLocks noChangeAspect="1"/>
          </p:cNvGraphicFramePr>
          <p:nvPr/>
        </p:nvGraphicFramePr>
        <p:xfrm>
          <a:off x="2459038" y="3319463"/>
          <a:ext cx="42259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69" name="Equation" r:id="rId5" imgW="2005729" imgH="393529" progId="">
                  <p:embed/>
                </p:oleObj>
              </mc:Choice>
              <mc:Fallback>
                <p:oleObj name="Equation" r:id="rId5" imgW="2005729" imgH="393529" progId="">
                  <p:embed/>
                  <p:pic>
                    <p:nvPicPr>
                      <p:cNvPr id="9219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9038" y="3319463"/>
                        <a:ext cx="4225925" cy="830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-26988"/>
            <a:ext cx="7772400" cy="1439863"/>
          </a:xfrm>
        </p:spPr>
        <p:txBody>
          <a:bodyPr/>
          <a:lstStyle/>
          <a:p>
            <a:pPr eaLnBrk="1" hangingPunct="1"/>
            <a:r>
              <a:rPr lang="it-IT" altLang="it-IT">
                <a:latin typeface="Tahoma" pitchFamily="34" charset="0"/>
                <a:cs typeface="Tahoma" pitchFamily="34" charset="0"/>
              </a:rPr>
              <a:t>Il “problema dei compleanni”</a:t>
            </a:r>
          </a:p>
        </p:txBody>
      </p:sp>
      <p:sp>
        <p:nvSpPr>
          <p:cNvPr id="10244" name="CasellaDiTesto 4"/>
          <p:cNvSpPr txBox="1">
            <a:spLocks noChangeArrowheads="1"/>
          </p:cNvSpPr>
          <p:nvPr/>
        </p:nvSpPr>
        <p:spPr bwMode="auto">
          <a:xfrm>
            <a:off x="539750" y="2144713"/>
            <a:ext cx="8135938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Qual è la probabilità che in un gruppo di 30 persone, almeno due abbiano lo stesso compleanno?</a:t>
            </a:r>
          </a:p>
        </p:txBody>
      </p:sp>
      <p:graphicFrame>
        <p:nvGraphicFramePr>
          <p:cNvPr id="10242" name="Object 1030"/>
          <p:cNvGraphicFramePr>
            <a:graphicFrameLocks noChangeAspect="1"/>
          </p:cNvGraphicFramePr>
          <p:nvPr/>
        </p:nvGraphicFramePr>
        <p:xfrm>
          <a:off x="1763713" y="3789363"/>
          <a:ext cx="61007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6072" name="Equazione" r:id="rId3" imgW="2895600" imgH="431800" progId="">
                  <p:embed/>
                </p:oleObj>
              </mc:Choice>
              <mc:Fallback>
                <p:oleObj name="Equazione" r:id="rId3" imgW="2895600" imgH="431800" progId="">
                  <p:embed/>
                  <p:pic>
                    <p:nvPicPr>
                      <p:cNvPr id="10242" name="Object 10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3789363"/>
                        <a:ext cx="6100762" cy="911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>
            <a:extLst>
              <a:ext uri="{FF2B5EF4-FFF2-40B4-BE49-F238E27FC236}">
                <a16:creationId xmlns:a16="http://schemas.microsoft.com/office/drawing/2014/main" id="{DF50B949-5648-4C4F-9E84-556C3F0D5967}"/>
              </a:ext>
            </a:extLst>
          </p:cNvPr>
          <p:cNvSpPr/>
          <p:nvPr/>
        </p:nvSpPr>
        <p:spPr>
          <a:xfrm>
            <a:off x="899592" y="5514976"/>
            <a:ext cx="66967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accent6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https://it.wikipedia.org/wiki/Paradosso_del_compleanno</a:t>
            </a:r>
            <a:endParaRPr lang="it-IT" dirty="0">
              <a:solidFill>
                <a:schemeClr val="accent6"/>
              </a:solidFill>
            </a:endParaRPr>
          </a:p>
          <a:p>
            <a:endParaRPr lang="it-IT" dirty="0">
              <a:solidFill>
                <a:schemeClr val="accent6"/>
              </a:solidFill>
            </a:endParaRPr>
          </a:p>
          <a:p>
            <a:r>
              <a:rPr lang="it-IT" dirty="0"/>
              <a:t>Figura 1.1 libro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5362" y="1124744"/>
            <a:ext cx="7153275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76B247B8-A947-4B1E-9351-91442EFC07C5}"/>
              </a:ext>
            </a:extLst>
          </p:cNvPr>
          <p:cNvSpPr txBox="1"/>
          <p:nvPr/>
        </p:nvSpPr>
        <p:spPr>
          <a:xfrm>
            <a:off x="827584" y="5949280"/>
            <a:ext cx="532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21 del libro di testo «Probabilità e modelli» (anche con 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18C8142-790F-4B44-91FD-CB305B8FA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620688"/>
            <a:ext cx="86106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396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3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7263" y="1076325"/>
            <a:ext cx="722947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716F6339-B65A-4405-AC53-BB8FDE294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24744"/>
            <a:ext cx="8582025" cy="307657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426A93B-C512-4956-9D4E-4120D43C46FF}"/>
              </a:ext>
            </a:extLst>
          </p:cNvPr>
          <p:cNvSpPr txBox="1"/>
          <p:nvPr/>
        </p:nvSpPr>
        <p:spPr>
          <a:xfrm>
            <a:off x="611560" y="4725144"/>
            <a:ext cx="6891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Donne e uomini non sono equiprobabili (lo risolveremo più avanti)</a:t>
            </a:r>
          </a:p>
        </p:txBody>
      </p:sp>
    </p:spTree>
    <p:extLst>
      <p:ext uri="{BB962C8B-B14F-4D97-AF65-F5344CB8AC3E}">
        <p14:creationId xmlns:p14="http://schemas.microsoft.com/office/powerpoint/2010/main" val="307498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4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914" y="548680"/>
            <a:ext cx="8554550" cy="5627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6EE6AD8E-9795-4022-9D90-2A6678654D7F}"/>
              </a:ext>
            </a:extLst>
          </p:cNvPr>
          <p:cNvSpPr/>
          <p:nvPr/>
        </p:nvSpPr>
        <p:spPr>
          <a:xfrm>
            <a:off x="2699792" y="681326"/>
            <a:ext cx="1656184" cy="29940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D850B2D-EAA8-43FA-88D1-0C0A585B8184}"/>
              </a:ext>
            </a:extLst>
          </p:cNvPr>
          <p:cNvCxnSpPr>
            <a:cxnSpLocks/>
          </p:cNvCxnSpPr>
          <p:nvPr/>
        </p:nvCxnSpPr>
        <p:spPr>
          <a:xfrm>
            <a:off x="1403648" y="1556792"/>
            <a:ext cx="108012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3D433E33-ABDE-47F4-96A1-A333901B1C82}"/>
              </a:ext>
            </a:extLst>
          </p:cNvPr>
          <p:cNvCxnSpPr>
            <a:cxnSpLocks/>
          </p:cNvCxnSpPr>
          <p:nvPr/>
        </p:nvCxnSpPr>
        <p:spPr>
          <a:xfrm>
            <a:off x="5220072" y="1268760"/>
            <a:ext cx="65695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2E5DA655-8177-457F-BF1D-39B223B0363F}"/>
              </a:ext>
            </a:extLst>
          </p:cNvPr>
          <p:cNvCxnSpPr>
            <a:cxnSpLocks/>
          </p:cNvCxnSpPr>
          <p:nvPr/>
        </p:nvCxnSpPr>
        <p:spPr>
          <a:xfrm>
            <a:off x="2123728" y="3356992"/>
            <a:ext cx="187220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ccia a sinistra 15">
            <a:extLst>
              <a:ext uri="{FF2B5EF4-FFF2-40B4-BE49-F238E27FC236}">
                <a16:creationId xmlns:a16="http://schemas.microsoft.com/office/drawing/2014/main" id="{7A73E92A-8EB5-4F57-BE8E-D61EDA89E167}"/>
              </a:ext>
            </a:extLst>
          </p:cNvPr>
          <p:cNvSpPr/>
          <p:nvPr/>
        </p:nvSpPr>
        <p:spPr>
          <a:xfrm>
            <a:off x="8748464" y="3114676"/>
            <a:ext cx="395536" cy="484632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DAE91A80-B47A-4943-B2D5-35A143543215}"/>
              </a:ext>
            </a:extLst>
          </p:cNvPr>
          <p:cNvCxnSpPr>
            <a:cxnSpLocks/>
          </p:cNvCxnSpPr>
          <p:nvPr/>
        </p:nvCxnSpPr>
        <p:spPr>
          <a:xfrm>
            <a:off x="3707904" y="4869161"/>
            <a:ext cx="10801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8C1FA8E-3C4D-4C10-BC59-81A72E45E990}"/>
              </a:ext>
            </a:extLst>
          </p:cNvPr>
          <p:cNvSpPr txBox="1"/>
          <p:nvPr/>
        </p:nvSpPr>
        <p:spPr>
          <a:xfrm>
            <a:off x="7380312" y="638132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4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526" y="1556792"/>
            <a:ext cx="8062738" cy="3400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C0C2C83B-D6FB-47EE-8B27-20557D4B72BE}"/>
              </a:ext>
            </a:extLst>
          </p:cNvPr>
          <p:cNvCxnSpPr>
            <a:cxnSpLocks/>
          </p:cNvCxnSpPr>
          <p:nvPr/>
        </p:nvCxnSpPr>
        <p:spPr>
          <a:xfrm>
            <a:off x="2771800" y="2204864"/>
            <a:ext cx="37444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B0B902AE-009E-415B-A5E9-BF065EC00D07}"/>
              </a:ext>
            </a:extLst>
          </p:cNvPr>
          <p:cNvCxnSpPr>
            <a:cxnSpLocks/>
          </p:cNvCxnSpPr>
          <p:nvPr/>
        </p:nvCxnSpPr>
        <p:spPr>
          <a:xfrm>
            <a:off x="3923928" y="4509120"/>
            <a:ext cx="1080120" cy="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850" name="Picture 8" descr="Immagin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8640"/>
            <a:ext cx="7216165" cy="60486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350" y="692150"/>
            <a:ext cx="6335713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31F2781C-4C28-4CD5-BC98-1C3779400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24744"/>
            <a:ext cx="8258175" cy="1209675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CD78F1-1B06-4497-BB48-D918AD7D991B}"/>
              </a:ext>
            </a:extLst>
          </p:cNvPr>
          <p:cNvSpPr txBox="1"/>
          <p:nvPr/>
        </p:nvSpPr>
        <p:spPr>
          <a:xfrm>
            <a:off x="5845399" y="404664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37 del libro di testo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C9A7A95-674E-4830-ACEB-20A0C9B96CEA}"/>
              </a:ext>
            </a:extLst>
          </p:cNvPr>
          <p:cNvCxnSpPr>
            <a:cxnSpLocks/>
          </p:cNvCxnSpPr>
          <p:nvPr/>
        </p:nvCxnSpPr>
        <p:spPr>
          <a:xfrm>
            <a:off x="6732240" y="1412776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30C74529-ADC4-4F10-A5F4-C36B5C72B67B}"/>
              </a:ext>
            </a:extLst>
          </p:cNvPr>
          <p:cNvCxnSpPr>
            <a:cxnSpLocks/>
          </p:cNvCxnSpPr>
          <p:nvPr/>
        </p:nvCxnSpPr>
        <p:spPr>
          <a:xfrm>
            <a:off x="5521363" y="1729581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B7F671E2-FD25-4C25-80DA-D0C49CFAC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65" y="3068960"/>
            <a:ext cx="8172450" cy="2019300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EFB8DCD5-E088-4B60-AE4A-B3059B1F0590}"/>
              </a:ext>
            </a:extLst>
          </p:cNvPr>
          <p:cNvCxnSpPr>
            <a:cxnSpLocks/>
          </p:cNvCxnSpPr>
          <p:nvPr/>
        </p:nvCxnSpPr>
        <p:spPr>
          <a:xfrm>
            <a:off x="5521363" y="3284984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10E31141-2478-4751-81DD-B92ECC6772C5}"/>
              </a:ext>
            </a:extLst>
          </p:cNvPr>
          <p:cNvCxnSpPr>
            <a:cxnSpLocks/>
          </p:cNvCxnSpPr>
          <p:nvPr/>
        </p:nvCxnSpPr>
        <p:spPr>
          <a:xfrm>
            <a:off x="5521363" y="3933056"/>
            <a:ext cx="2939069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57E8B95-24B0-49D7-BF1D-51FE814845E9}"/>
              </a:ext>
            </a:extLst>
          </p:cNvPr>
          <p:cNvCxnSpPr>
            <a:cxnSpLocks/>
          </p:cNvCxnSpPr>
          <p:nvPr/>
        </p:nvCxnSpPr>
        <p:spPr>
          <a:xfrm>
            <a:off x="3203848" y="3645024"/>
            <a:ext cx="1872208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diritto 13">
            <a:extLst>
              <a:ext uri="{FF2B5EF4-FFF2-40B4-BE49-F238E27FC236}">
                <a16:creationId xmlns:a16="http://schemas.microsoft.com/office/drawing/2014/main" id="{4843FCF9-68B1-4F30-8E6F-357C331A161B}"/>
              </a:ext>
            </a:extLst>
          </p:cNvPr>
          <p:cNvCxnSpPr>
            <a:cxnSpLocks/>
          </p:cNvCxnSpPr>
          <p:nvPr/>
        </p:nvCxnSpPr>
        <p:spPr>
          <a:xfrm>
            <a:off x="2645487" y="4221088"/>
            <a:ext cx="172819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3E5DAAFE-B066-452A-BEA2-C7EE50473986}"/>
              </a:ext>
            </a:extLst>
          </p:cNvPr>
          <p:cNvCxnSpPr>
            <a:cxnSpLocks/>
          </p:cNvCxnSpPr>
          <p:nvPr/>
        </p:nvCxnSpPr>
        <p:spPr>
          <a:xfrm>
            <a:off x="3707904" y="4797152"/>
            <a:ext cx="1008112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e 16">
            <a:extLst>
              <a:ext uri="{FF2B5EF4-FFF2-40B4-BE49-F238E27FC236}">
                <a16:creationId xmlns:a16="http://schemas.microsoft.com/office/drawing/2014/main" id="{473C3E31-0333-47ED-A840-5AF9407E36DF}"/>
              </a:ext>
            </a:extLst>
          </p:cNvPr>
          <p:cNvSpPr/>
          <p:nvPr/>
        </p:nvSpPr>
        <p:spPr>
          <a:xfrm>
            <a:off x="979466" y="4187549"/>
            <a:ext cx="360040" cy="360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F68EF96F-1388-4CB6-BFB1-703A1E37613B}"/>
              </a:ext>
            </a:extLst>
          </p:cNvPr>
          <p:cNvSpPr/>
          <p:nvPr/>
        </p:nvSpPr>
        <p:spPr>
          <a:xfrm>
            <a:off x="7416316" y="4187548"/>
            <a:ext cx="360040" cy="3600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9" name="Connettore diritto 18">
            <a:extLst>
              <a:ext uri="{FF2B5EF4-FFF2-40B4-BE49-F238E27FC236}">
                <a16:creationId xmlns:a16="http://schemas.microsoft.com/office/drawing/2014/main" id="{123B51F1-7B88-4C68-84FD-F41C436C8905}"/>
              </a:ext>
            </a:extLst>
          </p:cNvPr>
          <p:cNvCxnSpPr>
            <a:cxnSpLocks/>
          </p:cNvCxnSpPr>
          <p:nvPr/>
        </p:nvCxnSpPr>
        <p:spPr>
          <a:xfrm>
            <a:off x="393565" y="5081110"/>
            <a:ext cx="3458355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diritto 22">
            <a:extLst>
              <a:ext uri="{FF2B5EF4-FFF2-40B4-BE49-F238E27FC236}">
                <a16:creationId xmlns:a16="http://schemas.microsoft.com/office/drawing/2014/main" id="{6DFFE442-E80A-457B-A655-4F31473CA8DD}"/>
              </a:ext>
            </a:extLst>
          </p:cNvPr>
          <p:cNvCxnSpPr>
            <a:cxnSpLocks/>
          </p:cNvCxnSpPr>
          <p:nvPr/>
        </p:nvCxnSpPr>
        <p:spPr>
          <a:xfrm>
            <a:off x="7776356" y="4797152"/>
            <a:ext cx="684076" cy="0"/>
          </a:xfrm>
          <a:prstGeom prst="line">
            <a:avLst/>
          </a:prstGeom>
          <a:ln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011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D5057DAD-38D1-44D4-8D06-146C5FE2A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60" y="908720"/>
            <a:ext cx="8229600" cy="2352675"/>
          </a:xfrm>
          <a:prstGeom prst="rect">
            <a:avLst/>
          </a:prstGeom>
        </p:spPr>
      </p:pic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D4A9981D-195E-4F5C-8FF7-E436D7F95AA0}"/>
              </a:ext>
            </a:extLst>
          </p:cNvPr>
          <p:cNvCxnSpPr/>
          <p:nvPr/>
        </p:nvCxnSpPr>
        <p:spPr>
          <a:xfrm>
            <a:off x="2123728" y="1603647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10DEA0AA-ECEC-4A8C-A1A1-63EE696534A7}"/>
              </a:ext>
            </a:extLst>
          </p:cNvPr>
          <p:cNvCxnSpPr>
            <a:cxnSpLocks/>
          </p:cNvCxnSpPr>
          <p:nvPr/>
        </p:nvCxnSpPr>
        <p:spPr>
          <a:xfrm>
            <a:off x="2195736" y="1772816"/>
            <a:ext cx="1512168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diritto 12">
            <a:extLst>
              <a:ext uri="{FF2B5EF4-FFF2-40B4-BE49-F238E27FC236}">
                <a16:creationId xmlns:a16="http://schemas.microsoft.com/office/drawing/2014/main" id="{1D5AD4A2-CFCB-449C-9097-105083C34E3B}"/>
              </a:ext>
            </a:extLst>
          </p:cNvPr>
          <p:cNvCxnSpPr>
            <a:cxnSpLocks/>
          </p:cNvCxnSpPr>
          <p:nvPr/>
        </p:nvCxnSpPr>
        <p:spPr>
          <a:xfrm>
            <a:off x="2411760" y="2636912"/>
            <a:ext cx="1296144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13BC78F4-4FA4-47C7-BF42-122EB3F322E9}"/>
              </a:ext>
            </a:extLst>
          </p:cNvPr>
          <p:cNvCxnSpPr>
            <a:cxnSpLocks/>
          </p:cNvCxnSpPr>
          <p:nvPr/>
        </p:nvCxnSpPr>
        <p:spPr>
          <a:xfrm>
            <a:off x="3419872" y="2924944"/>
            <a:ext cx="1728192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ttore diritto 16">
            <a:extLst>
              <a:ext uri="{FF2B5EF4-FFF2-40B4-BE49-F238E27FC236}">
                <a16:creationId xmlns:a16="http://schemas.microsoft.com/office/drawing/2014/main" id="{31067CAB-C7A3-4BE5-A12B-870DB827F7B9}"/>
              </a:ext>
            </a:extLst>
          </p:cNvPr>
          <p:cNvCxnSpPr>
            <a:cxnSpLocks/>
          </p:cNvCxnSpPr>
          <p:nvPr/>
        </p:nvCxnSpPr>
        <p:spPr>
          <a:xfrm>
            <a:off x="3851920" y="3212976"/>
            <a:ext cx="1296144" cy="0"/>
          </a:xfrm>
          <a:prstGeom prst="line">
            <a:avLst/>
          </a:prstGeom>
          <a:ln>
            <a:solidFill>
              <a:srgbClr val="FF0000"/>
            </a:solidFill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14655300-2862-4DB4-83B6-454B27B63447}"/>
              </a:ext>
            </a:extLst>
          </p:cNvPr>
          <p:cNvSpPr txBox="1"/>
          <p:nvPr/>
        </p:nvSpPr>
        <p:spPr>
          <a:xfrm>
            <a:off x="611560" y="5092953"/>
            <a:ext cx="2808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Pagina 37 del libro di testo</a:t>
            </a:r>
          </a:p>
        </p:txBody>
      </p:sp>
    </p:spTree>
    <p:extLst>
      <p:ext uri="{BB962C8B-B14F-4D97-AF65-F5344CB8AC3E}">
        <p14:creationId xmlns:p14="http://schemas.microsoft.com/office/powerpoint/2010/main" val="8773093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0E8A9A2A-DB0E-471A-A9F5-64260B931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7" y="985837"/>
            <a:ext cx="8543925" cy="488632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64E5C19C-9B6F-4C86-BFC7-84C3798B6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681037"/>
            <a:ext cx="5657850" cy="3048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AB7BFE8B-3E7C-4D7B-BE5B-A2CC03DC5684}"/>
              </a:ext>
            </a:extLst>
          </p:cNvPr>
          <p:cNvSpPr txBox="1"/>
          <p:nvPr/>
        </p:nvSpPr>
        <p:spPr>
          <a:xfrm>
            <a:off x="7588010" y="11663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38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3E4BDC1-3BA4-474F-A4FB-FBD81955EED4}"/>
              </a:ext>
            </a:extLst>
          </p:cNvPr>
          <p:cNvSpPr txBox="1"/>
          <p:nvPr/>
        </p:nvSpPr>
        <p:spPr>
          <a:xfrm>
            <a:off x="582276" y="315395"/>
            <a:ext cx="4248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latin typeface="+mj-lt"/>
              </a:rPr>
              <a:t>Indichiamo con     lo spazio degli eventi, </a:t>
            </a:r>
            <a:endParaRPr lang="it-IT" i="1" dirty="0">
              <a:latin typeface="+mj-lt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F5F1F454-6BEB-456E-A269-C3758E04A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3728" y="416606"/>
            <a:ext cx="253938" cy="22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3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59E9E56-5A9F-48D9-88DA-D8B203A61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8514451" cy="6432001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FA6FAE03-55A0-4C83-91E8-E2597043A41F}"/>
              </a:ext>
            </a:extLst>
          </p:cNvPr>
          <p:cNvSpPr/>
          <p:nvPr/>
        </p:nvSpPr>
        <p:spPr bwMode="auto">
          <a:xfrm>
            <a:off x="8172400" y="6093296"/>
            <a:ext cx="216024" cy="2160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E076253-A026-4540-91ED-7B38F0BC1007}"/>
              </a:ext>
            </a:extLst>
          </p:cNvPr>
          <p:cNvSpPr/>
          <p:nvPr/>
        </p:nvSpPr>
        <p:spPr bwMode="auto">
          <a:xfrm flipV="1">
            <a:off x="8172400" y="6021288"/>
            <a:ext cx="216024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1771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68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" y="2324100"/>
            <a:ext cx="88201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952C9A7-3409-4DE9-A38D-A6C856157B02}"/>
              </a:ext>
            </a:extLst>
          </p:cNvPr>
          <p:cNvSpPr/>
          <p:nvPr/>
        </p:nvSpPr>
        <p:spPr>
          <a:xfrm>
            <a:off x="161925" y="2324100"/>
            <a:ext cx="1385739" cy="3128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98FFFC3-24EE-4E8E-8281-01505C0D26E1}"/>
              </a:ext>
            </a:extLst>
          </p:cNvPr>
          <p:cNvSpPr txBox="1"/>
          <p:nvPr/>
        </p:nvSpPr>
        <p:spPr>
          <a:xfrm>
            <a:off x="461469" y="1628800"/>
            <a:ext cx="2172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Esempio </a:t>
            </a:r>
            <a:r>
              <a:rPr lang="it-IT" dirty="0" err="1"/>
              <a:t>a.a</a:t>
            </a:r>
            <a:r>
              <a:rPr lang="it-IT" dirty="0"/>
              <a:t>. 23/24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41BD232A-5E54-4FE3-8FBD-5E06307DF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116632"/>
            <a:ext cx="8639175" cy="3886200"/>
          </a:xfrm>
          <a:prstGeom prst="rect">
            <a:avLst/>
          </a:prstGeom>
        </p:spPr>
      </p:pic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C77712B1-F1FF-4FA8-BDD3-41C66CDB124A}"/>
              </a:ext>
            </a:extLst>
          </p:cNvPr>
          <p:cNvCxnSpPr/>
          <p:nvPr/>
        </p:nvCxnSpPr>
        <p:spPr>
          <a:xfrm>
            <a:off x="611560" y="3501008"/>
            <a:ext cx="24482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magine 7">
            <a:extLst>
              <a:ext uri="{FF2B5EF4-FFF2-40B4-BE49-F238E27FC236}">
                <a16:creationId xmlns:a16="http://schemas.microsoft.com/office/drawing/2014/main" id="{5EB5FB22-0A85-4AD4-A7B2-22D19E1DD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4437112"/>
            <a:ext cx="72104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642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BF6B0B-C5A4-44DD-8107-A794E01722A4}"/>
              </a:ext>
            </a:extLst>
          </p:cNvPr>
          <p:cNvSpPr txBox="1"/>
          <p:nvPr/>
        </p:nvSpPr>
        <p:spPr>
          <a:xfrm>
            <a:off x="759633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73AAA4B-3151-4105-8CD3-497FD0C20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5152"/>
            <a:ext cx="9144000" cy="28276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ChangeArrowheads="1"/>
          </p:cNvSpPr>
          <p:nvPr/>
        </p:nvSpPr>
        <p:spPr bwMode="auto">
          <a:xfrm>
            <a:off x="0" y="5492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1" name="Rectangle 5"/>
          <p:cNvSpPr>
            <a:spLocks noChangeArrowheads="1"/>
          </p:cNvSpPr>
          <p:nvPr/>
        </p:nvSpPr>
        <p:spPr bwMode="auto">
          <a:xfrm>
            <a:off x="0" y="344487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4102" name="Rectangle 7"/>
          <p:cNvSpPr>
            <a:spLocks noChangeArrowheads="1"/>
          </p:cNvSpPr>
          <p:nvPr/>
        </p:nvSpPr>
        <p:spPr bwMode="auto">
          <a:xfrm>
            <a:off x="375506" y="986166"/>
            <a:ext cx="83929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 eaLnBrk="1" hangingPunct="1"/>
            <a:r>
              <a:rPr lang="it-IT" altLang="it-IT" sz="2800" b="1" dirty="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Principio della somma</a:t>
            </a:r>
          </a:p>
        </p:txBody>
      </p:sp>
      <p:sp>
        <p:nvSpPr>
          <p:cNvPr id="4103" name="Rectangle 9"/>
          <p:cNvSpPr>
            <a:spLocks noChangeArrowheads="1"/>
          </p:cNvSpPr>
          <p:nvPr/>
        </p:nvSpPr>
        <p:spPr bwMode="auto">
          <a:xfrm>
            <a:off x="0" y="3630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09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3662303"/>
              </p:ext>
            </p:extLst>
          </p:nvPr>
        </p:nvGraphicFramePr>
        <p:xfrm>
          <a:off x="971600" y="3001368"/>
          <a:ext cx="6192688" cy="49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Equazione" r:id="rId4" imgW="4419600" imgH="355600" progId="">
                  <p:embed/>
                </p:oleObj>
              </mc:Choice>
              <mc:Fallback>
                <p:oleObj name="Equazione" r:id="rId4" imgW="4419600" imgH="3556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3001368"/>
                        <a:ext cx="6192688" cy="4941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Rectangle 10"/>
          <p:cNvSpPr>
            <a:spLocks noChangeArrowheads="1"/>
          </p:cNvSpPr>
          <p:nvPr/>
        </p:nvSpPr>
        <p:spPr bwMode="auto">
          <a:xfrm>
            <a:off x="1331640" y="4516537"/>
            <a:ext cx="32781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it-IT" altLang="it-IT" sz="2400" dirty="0">
                <a:solidFill>
                  <a:srgbClr val="000000"/>
                </a:solidFill>
                <a:latin typeface="Times New Roman" pitchFamily="18" charset="0"/>
              </a:rPr>
              <a:t>per eventi </a:t>
            </a:r>
            <a:r>
              <a:rPr lang="it-IT" altLang="it-IT" sz="2400" b="1" u="sng" dirty="0">
                <a:solidFill>
                  <a:srgbClr val="000000"/>
                </a:solidFill>
                <a:latin typeface="Times New Roman" pitchFamily="18" charset="0"/>
              </a:rPr>
              <a:t>incompatibili</a:t>
            </a:r>
            <a:r>
              <a:rPr lang="it-IT" altLang="it-IT" sz="2400" dirty="0">
                <a:solidFill>
                  <a:srgbClr val="00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4105" name="Rectangle 12"/>
          <p:cNvSpPr>
            <a:spLocks noChangeArrowheads="1"/>
          </p:cNvSpPr>
          <p:nvPr/>
        </p:nvSpPr>
        <p:spPr bwMode="auto">
          <a:xfrm>
            <a:off x="0" y="36306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099" name="Object 11"/>
          <p:cNvGraphicFramePr>
            <a:graphicFrameLocks noChangeAspect="1"/>
          </p:cNvGraphicFramePr>
          <p:nvPr/>
        </p:nvGraphicFramePr>
        <p:xfrm>
          <a:off x="4615011" y="4581128"/>
          <a:ext cx="29813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zione" r:id="rId6" imgW="2984500" imgH="355600" progId="">
                  <p:embed/>
                </p:oleObj>
              </mc:Choice>
              <mc:Fallback>
                <p:oleObj name="Equazione" r:id="rId6" imgW="2984500" imgH="355600" progId="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5011" y="4581128"/>
                        <a:ext cx="2981325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11DB1C3-C967-444C-8A12-817F8FD2F7EC}"/>
              </a:ext>
            </a:extLst>
          </p:cNvPr>
          <p:cNvSpPr txBox="1"/>
          <p:nvPr/>
        </p:nvSpPr>
        <p:spPr>
          <a:xfrm>
            <a:off x="759633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2025" y="1847850"/>
            <a:ext cx="721995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036E931A-9DF2-4238-98CD-502A878225DC}"/>
              </a:ext>
            </a:extLst>
          </p:cNvPr>
          <p:cNvSpPr txBox="1"/>
          <p:nvPr/>
        </p:nvSpPr>
        <p:spPr>
          <a:xfrm>
            <a:off x="723629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6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3450" y="2290763"/>
            <a:ext cx="7277100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80EADE7-43E7-40F6-B9AE-377E76B71C5B}"/>
              </a:ext>
            </a:extLst>
          </p:cNvPr>
          <p:cNvSpPr txBox="1"/>
          <p:nvPr/>
        </p:nvSpPr>
        <p:spPr>
          <a:xfrm>
            <a:off x="7596336" y="260648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907704" y="332656"/>
            <a:ext cx="792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1772816"/>
            <a:ext cx="78488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 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Determinare la probabilità che: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907704" y="332656"/>
            <a:ext cx="792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340914281"/>
              </p:ext>
            </p:extLst>
          </p:nvPr>
        </p:nvGraphicFramePr>
        <p:xfrm>
          <a:off x="1115616" y="2778724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863193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 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5FFE205-924F-4661-AD74-C901ED62579C}"/>
              </a:ext>
            </a:extLst>
          </p:cNvPr>
          <p:cNvSpPr/>
          <p:nvPr/>
        </p:nvSpPr>
        <p:spPr>
          <a:xfrm>
            <a:off x="971600" y="6165304"/>
            <a:ext cx="3049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Completiamo la tabella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7644450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907704" y="332656"/>
            <a:ext cx="792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/>
          </p:nvPr>
        </p:nvGraphicFramePr>
        <p:xfrm>
          <a:off x="1115616" y="2778724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863193"/>
            <a:ext cx="784887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 </a:t>
            </a:r>
          </a:p>
        </p:txBody>
      </p:sp>
    </p:spTree>
    <p:extLst>
      <p:ext uri="{BB962C8B-B14F-4D97-AF65-F5344CB8AC3E}">
        <p14:creationId xmlns:p14="http://schemas.microsoft.com/office/powerpoint/2010/main" val="22440442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97588200"/>
              </p:ext>
            </p:extLst>
          </p:nvPr>
        </p:nvGraphicFramePr>
        <p:xfrm>
          <a:off x="1511300" y="692696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Object 2">
            <a:extLst>
              <a:ext uri="{FF2B5EF4-FFF2-40B4-BE49-F238E27FC236}">
                <a16:creationId xmlns:a16="http://schemas.microsoft.com/office/drawing/2014/main" id="{5B0306DF-0E4F-4F95-9444-7A17E6DC8C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78339"/>
              </p:ext>
            </p:extLst>
          </p:nvPr>
        </p:nvGraphicFramePr>
        <p:xfrm>
          <a:off x="971600" y="1969839"/>
          <a:ext cx="366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83" name="Equazione" r:id="rId4" imgW="152268" imgH="164957" progId="">
                  <p:embed/>
                </p:oleObj>
              </mc:Choice>
              <mc:Fallback>
                <p:oleObj name="Equazione" r:id="rId4" imgW="152268" imgH="164957" progId="">
                  <p:embed/>
                  <p:pic>
                    <p:nvPicPr>
                      <p:cNvPr id="512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969839"/>
                        <a:ext cx="36671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7">
            <a:extLst>
              <a:ext uri="{FF2B5EF4-FFF2-40B4-BE49-F238E27FC236}">
                <a16:creationId xmlns:a16="http://schemas.microsoft.com/office/drawing/2014/main" id="{033520B9-54EC-4AA2-9708-6C6414215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781797"/>
              </p:ext>
            </p:extLst>
          </p:nvPr>
        </p:nvGraphicFramePr>
        <p:xfrm>
          <a:off x="971600" y="2564904"/>
          <a:ext cx="3984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84" name="Equazione" r:id="rId6" imgW="164957" imgH="190335" progId="">
                  <p:embed/>
                </p:oleObj>
              </mc:Choice>
              <mc:Fallback>
                <p:oleObj name="Equazione" r:id="rId6" imgW="164957" imgH="190335" progId="">
                  <p:embed/>
                  <p:pic>
                    <p:nvPicPr>
                      <p:cNvPr id="5123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2564904"/>
                        <a:ext cx="398462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8">
            <a:extLst>
              <a:ext uri="{FF2B5EF4-FFF2-40B4-BE49-F238E27FC236}">
                <a16:creationId xmlns:a16="http://schemas.microsoft.com/office/drawing/2014/main" id="{644806B6-8645-496A-A4CE-CFE1F8771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674319"/>
              </p:ext>
            </p:extLst>
          </p:nvPr>
        </p:nvGraphicFramePr>
        <p:xfrm>
          <a:off x="3923928" y="171450"/>
          <a:ext cx="36671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85" name="Equazione" r:id="rId8" imgW="152268" imgH="164957" progId="">
                  <p:embed/>
                </p:oleObj>
              </mc:Choice>
              <mc:Fallback>
                <p:oleObj name="Equazione" r:id="rId8" imgW="152268" imgH="164957" progId="">
                  <p:embed/>
                  <p:pic>
                    <p:nvPicPr>
                      <p:cNvPr id="5124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3928" y="171450"/>
                        <a:ext cx="366712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9">
            <a:extLst>
              <a:ext uri="{FF2B5EF4-FFF2-40B4-BE49-F238E27FC236}">
                <a16:creationId xmlns:a16="http://schemas.microsoft.com/office/drawing/2014/main" id="{0F7237C7-F6E6-4A55-ABC8-58157B4590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786054"/>
              </p:ext>
            </p:extLst>
          </p:nvPr>
        </p:nvGraphicFramePr>
        <p:xfrm>
          <a:off x="5508104" y="141287"/>
          <a:ext cx="39846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4186" name="Equazione" r:id="rId10" imgW="164957" imgH="190335" progId="">
                  <p:embed/>
                </p:oleObj>
              </mc:Choice>
              <mc:Fallback>
                <p:oleObj name="Equazione" r:id="rId10" imgW="164957" imgH="190335" progId="">
                  <p:embed/>
                  <p:pic>
                    <p:nvPicPr>
                      <p:cNvPr id="5125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141287"/>
                        <a:ext cx="398462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>
            <a:extLst>
              <a:ext uri="{FF2B5EF4-FFF2-40B4-BE49-F238E27FC236}">
                <a16:creationId xmlns:a16="http://schemas.microsoft.com/office/drawing/2014/main" id="{F03FB6A1-0020-4B22-8E4A-95F84554AE66}"/>
              </a:ext>
            </a:extLst>
          </p:cNvPr>
          <p:cNvSpPr/>
          <p:nvPr/>
        </p:nvSpPr>
        <p:spPr>
          <a:xfrm>
            <a:off x="3131840" y="5218113"/>
            <a:ext cx="3424535" cy="508000"/>
          </a:xfrm>
          <a:prstGeom prst="rect">
            <a:avLst/>
          </a:prstGeom>
          <a:solidFill>
            <a:srgbClr val="DDE1F7"/>
          </a:solidFill>
          <a:ln>
            <a:solidFill>
              <a:srgbClr val="DDE1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9F6A0FD-272D-490F-B31D-8E6ED5D2FB3E}"/>
                  </a:ext>
                </a:extLst>
              </p:cNvPr>
              <p:cNvSpPr txBox="1"/>
              <p:nvPr/>
            </p:nvSpPr>
            <p:spPr>
              <a:xfrm>
                <a:off x="1487656" y="3951790"/>
                <a:ext cx="2619628" cy="7013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85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=0.85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B9F6A0FD-272D-490F-B31D-8E6ED5D2F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656" y="3951790"/>
                <a:ext cx="2619628" cy="70134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8C492F8-BFB3-4398-AD45-A5FF8CE6F0C1}"/>
                  </a:ext>
                </a:extLst>
              </p:cNvPr>
              <p:cNvSpPr txBox="1"/>
              <p:nvPr/>
            </p:nvSpPr>
            <p:spPr>
              <a:xfrm>
                <a:off x="1487656" y="4935298"/>
                <a:ext cx="2631298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90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=0.90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B8C492F8-BFB3-4398-AD45-A5FF8CE6F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656" y="4935298"/>
                <a:ext cx="2631298" cy="69384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B1B304DD-F536-4A77-BB6C-A26B395F2200}"/>
                  </a:ext>
                </a:extLst>
              </p:cNvPr>
              <p:cNvSpPr txBox="1"/>
              <p:nvPr/>
            </p:nvSpPr>
            <p:spPr>
              <a:xfrm>
                <a:off x="1487656" y="5814631"/>
                <a:ext cx="3176703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=0.80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B1B304DD-F536-4A77-BB6C-A26B395F2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7656" y="5814631"/>
                <a:ext cx="3176703" cy="69384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66579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468313" y="1351508"/>
            <a:ext cx="8064500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4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      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 particolare componente meccanico in lega leggera può presentare difetti nella forma e/o nella composizione della lega. Il 6% dei componenti prodotti da una azienda presenta esclusivamente difetti di forma, l’8% esclusivamente nella lega ed il 2% entrambi i tipi di difetti. Estraendo a caso un pezzo dalla produzione dell’azienda, si determini la probabilità che esso:</a:t>
            </a:r>
          </a:p>
          <a:p>
            <a:pPr marL="609600" indent="-6096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609600" indent="-609600" algn="just" eaLnBrk="1" hangingPunct="1">
              <a:buFontTx/>
              <a:buAutoNum type="romanLcPeriod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non presenti alcun tipo di difetto;</a:t>
            </a:r>
          </a:p>
          <a:p>
            <a:pPr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ii.    sia difettoso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267">
            <a:extLst>
              <a:ext uri="{FF2B5EF4-FFF2-40B4-BE49-F238E27FC236}">
                <a16:creationId xmlns:a16="http://schemas.microsoft.com/office/drawing/2014/main" id="{89A6EAA1-7F0E-4C99-BD54-BC9572CE4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1227096"/>
              </p:ext>
            </p:extLst>
          </p:nvPr>
        </p:nvGraphicFramePr>
        <p:xfrm>
          <a:off x="1331640" y="1484784"/>
          <a:ext cx="6121400" cy="3664268"/>
        </p:xfrm>
        <a:graphic>
          <a:graphicData uri="http://schemas.openxmlformats.org/drawingml/2006/table">
            <a:tbl>
              <a:tblPr/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5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NDF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ND</a:t>
                      </a:r>
                      <a:r>
                        <a:rPr kumimoji="0" lang="it-IT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L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983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ChangeArrowheads="1"/>
          </p:cNvSpPr>
          <p:nvPr/>
        </p:nvSpPr>
        <p:spPr bwMode="auto">
          <a:xfrm>
            <a:off x="179512" y="3385721"/>
            <a:ext cx="80645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algn="just" eaLnBrk="1" hangingPunct="1">
              <a:buFontTx/>
              <a:buAutoNum type="romanLcPeriod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non presenti alcun tipo di difetto</a:t>
            </a:r>
          </a:p>
          <a:p>
            <a:pPr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609600" indent="-6096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ii.    sia difettoso</a:t>
            </a:r>
          </a:p>
        </p:txBody>
      </p:sp>
      <p:pic>
        <p:nvPicPr>
          <p:cNvPr id="7174" name="Immagine 4" descr="Immag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73250" y="476250"/>
            <a:ext cx="539750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17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302321"/>
              </p:ext>
            </p:extLst>
          </p:nvPr>
        </p:nvGraphicFramePr>
        <p:xfrm>
          <a:off x="900113" y="3860800"/>
          <a:ext cx="2679700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9" name="Equazione" r:id="rId4" imgW="1574117" imgH="215806" progId="">
                  <p:embed/>
                </p:oleObj>
              </mc:Choice>
              <mc:Fallback>
                <p:oleObj name="Equazione" r:id="rId4" imgW="1574117" imgH="215806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3860800"/>
                        <a:ext cx="2679700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5470341"/>
              </p:ext>
            </p:extLst>
          </p:nvPr>
        </p:nvGraphicFramePr>
        <p:xfrm>
          <a:off x="611560" y="5136628"/>
          <a:ext cx="810101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" name="Equazione" r:id="rId6" imgW="4762500" imgH="215900" progId="">
                  <p:embed/>
                </p:oleObj>
              </mc:Choice>
              <mc:Fallback>
                <p:oleObj name="Equazione" r:id="rId6" imgW="4762500" imgH="2159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5136628"/>
                        <a:ext cx="8101013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>
            <a:extLst>
              <a:ext uri="{FF2B5EF4-FFF2-40B4-BE49-F238E27FC236}">
                <a16:creationId xmlns:a16="http://schemas.microsoft.com/office/drawing/2014/main" id="{828B5FF0-3C19-45CB-AABD-F5E2CF0AFCA6}"/>
              </a:ext>
            </a:extLst>
          </p:cNvPr>
          <p:cNvSpPr/>
          <p:nvPr/>
        </p:nvSpPr>
        <p:spPr>
          <a:xfrm>
            <a:off x="899988" y="5733256"/>
            <a:ext cx="11337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oppure</a:t>
            </a:r>
            <a:endParaRPr lang="it-IT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496EDD-2AE2-48B2-9F56-B2AFDE1ED6F5}"/>
                  </a:ext>
                </a:extLst>
              </p:cNvPr>
              <p:cNvSpPr txBox="1"/>
              <p:nvPr/>
            </p:nvSpPr>
            <p:spPr>
              <a:xfrm>
                <a:off x="2206430" y="5861351"/>
                <a:ext cx="295991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84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E4496EDD-2AE2-48B2-9F56-B2AFDE1ED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430" y="5861351"/>
                <a:ext cx="2959913" cy="5203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6F434CD-D42A-4F34-A5B1-1D8A0BF9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404664"/>
            <a:ext cx="8582025" cy="2619375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7AFFA4A9-7BCD-4798-90ED-AC382D2D57FD}"/>
              </a:ext>
            </a:extLst>
          </p:cNvPr>
          <p:cNvSpPr/>
          <p:nvPr/>
        </p:nvSpPr>
        <p:spPr>
          <a:xfrm>
            <a:off x="304660" y="3501008"/>
            <a:ext cx="79928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buSzPts val="1200"/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Un test per valutare se un dispositivo elettronico è difettoso viene applicato a 60 dispositivi, dei quali 48 sono funzionanti e 12 non sono funzionanti. Il test classifica correttamente come funzionanti (test positivo) il 85% di coloro che effettivamente funzionano; purtroppo classifica come funzionanti (test positivo) il 12% di coloro che non funzionano. Considerando a caso un dispositivo, calcolare: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 algn="just">
              <a:spcAft>
                <a:spcPts val="0"/>
              </a:spcAft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a) la probabilità che il test sia positivo;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 algn="just">
              <a:spcAft>
                <a:spcPts val="0"/>
              </a:spcAft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b) la probabilità che un dispositivo con test positivo non sia funzionante;</a:t>
            </a:r>
            <a:endParaRPr lang="it-IT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0170" algn="just">
              <a:spcAft>
                <a:spcPts val="600"/>
              </a:spcAft>
            </a:pPr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c) la probabilità che un dispositivo con test negativo sia funzionante.</a:t>
            </a:r>
            <a:endParaRPr lang="it-IT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9373BC78-44A7-4C2A-9204-9FF019E46E4B}"/>
              </a:ext>
            </a:extLst>
          </p:cNvPr>
          <p:cNvCxnSpPr>
            <a:cxnSpLocks/>
          </p:cNvCxnSpPr>
          <p:nvPr/>
        </p:nvCxnSpPr>
        <p:spPr>
          <a:xfrm>
            <a:off x="467544" y="5373216"/>
            <a:ext cx="669674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38065B6-F5D3-4433-B8EE-2A4DC66D6FE4}"/>
              </a:ext>
            </a:extLst>
          </p:cNvPr>
          <p:cNvCxnSpPr>
            <a:cxnSpLocks/>
          </p:cNvCxnSpPr>
          <p:nvPr/>
        </p:nvCxnSpPr>
        <p:spPr>
          <a:xfrm>
            <a:off x="611560" y="5661248"/>
            <a:ext cx="619268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5354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267">
            <a:extLst>
              <a:ext uri="{FF2B5EF4-FFF2-40B4-BE49-F238E27FC236}">
                <a16:creationId xmlns:a16="http://schemas.microsoft.com/office/drawing/2014/main" id="{B8AA8EB9-0763-4842-910B-E3F9952009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7730595"/>
              </p:ext>
            </p:extLst>
          </p:nvPr>
        </p:nvGraphicFramePr>
        <p:xfrm>
          <a:off x="1691680" y="2896671"/>
          <a:ext cx="6121400" cy="3870643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2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Dispositivo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NF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it-IT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0.85*48=40.8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0.12*12=1.44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086F1C11-442C-4490-AE77-728F04DD923A}"/>
              </a:ext>
            </a:extLst>
          </p:cNvPr>
          <p:cNvSpPr/>
          <p:nvPr/>
        </p:nvSpPr>
        <p:spPr>
          <a:xfrm>
            <a:off x="971600" y="548680"/>
            <a:ext cx="73448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Un test per valutare se un dispositivo elettronico è difettoso viene applicato a 60 dispositivi, dei quali 48 sono funzionanti e 12 non sono funzionanti. Il test classifica correttamente come funzionanti (test positivo) il 85% di coloro che effettivamente funzionano; purtroppo classifica come funzionanti (test positivo) il 12% di coloro che non funzionano.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13566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267">
            <a:extLst>
              <a:ext uri="{FF2B5EF4-FFF2-40B4-BE49-F238E27FC236}">
                <a16:creationId xmlns:a16="http://schemas.microsoft.com/office/drawing/2014/main" id="{B8AA8EB9-0763-4842-910B-E3F9952009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7053108"/>
              </p:ext>
            </p:extLst>
          </p:nvPr>
        </p:nvGraphicFramePr>
        <p:xfrm>
          <a:off x="1403648" y="2852936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Dispositivo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NF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it-IT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42.24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ttangolo 2">
            <a:extLst>
              <a:ext uri="{FF2B5EF4-FFF2-40B4-BE49-F238E27FC236}">
                <a16:creationId xmlns:a16="http://schemas.microsoft.com/office/drawing/2014/main" id="{086F1C11-442C-4490-AE77-728F04DD923A}"/>
              </a:ext>
            </a:extLst>
          </p:cNvPr>
          <p:cNvSpPr/>
          <p:nvPr/>
        </p:nvSpPr>
        <p:spPr>
          <a:xfrm>
            <a:off x="971600" y="548680"/>
            <a:ext cx="734481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latin typeface="Times New Roman" panose="02020603050405020304" pitchFamily="18" charset="0"/>
                <a:ea typeface="Times New Roman" panose="02020603050405020304" pitchFamily="18" charset="0"/>
              </a:rPr>
              <a:t>2. Un test per valutare se un dispositivo elettronico è difettoso viene applicato a 60 dispositivi, dei quali 48 sono funzionanti e 12 non sono funzionanti. Il test classifica correttamente come funzionanti (test positivo) il 85% di coloro che effettivamente funzionano; purtroppo classifica come funzionanti (test positivo) il 12% di coloro che non funzionano.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3008286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E89D460-A793-449F-B91D-B8F7714C6F93}"/>
                  </a:ext>
                </a:extLst>
              </p:cNvPr>
              <p:cNvSpPr txBox="1"/>
              <p:nvPr/>
            </p:nvSpPr>
            <p:spPr>
              <a:xfrm>
                <a:off x="1475656" y="5445224"/>
                <a:ext cx="3052631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d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42.24</m:t>
                          </m:r>
                        </m:num>
                        <m:den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60</m:t>
                          </m:r>
                        </m:den>
                      </m:f>
                      <m:r>
                        <a:rPr lang="it-IT" sz="2400" i="1">
                          <a:latin typeface="Cambria Math" panose="02040503050406030204" pitchFamily="18" charset="0"/>
                        </a:rPr>
                        <m:t>=0.704</m:t>
                      </m:r>
                    </m:oMath>
                  </m:oMathPara>
                </a14:m>
                <a:endParaRPr lang="it-IT" sz="2400" dirty="0"/>
              </a:p>
            </p:txBody>
          </p:sp>
        </mc:Choice>
        <mc:Fallback xmlns="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CE89D460-A793-449F-B91D-B8F7714C6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656" y="5445224"/>
                <a:ext cx="3052631" cy="69384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Group 267">
            <a:extLst>
              <a:ext uri="{FF2B5EF4-FFF2-40B4-BE49-F238E27FC236}">
                <a16:creationId xmlns:a16="http://schemas.microsoft.com/office/drawing/2014/main" id="{EB78EEC7-0DF5-42D3-B4D4-B6A4C683F0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4670"/>
              </p:ext>
            </p:extLst>
          </p:nvPr>
        </p:nvGraphicFramePr>
        <p:xfrm>
          <a:off x="1187624" y="1484784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49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Dispositivo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Test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F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NF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+</a:t>
                      </a:r>
                      <a:endParaRPr kumimoji="0" lang="it-IT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40.8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1.44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42.24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-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7.2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10.56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17.76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60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7052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01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38" y="471488"/>
            <a:ext cx="9001125" cy="59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ttangolo 3"/>
          <p:cNvSpPr/>
          <p:nvPr/>
        </p:nvSpPr>
        <p:spPr>
          <a:xfrm>
            <a:off x="0" y="4149725"/>
            <a:ext cx="9144000" cy="215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2400" b="1">
              <a:solidFill>
                <a:srgbClr val="FFFFFF"/>
              </a:solidFill>
            </a:endParaRPr>
          </a:p>
        </p:txBody>
      </p:sp>
      <p:sp>
        <p:nvSpPr>
          <p:cNvPr id="5" name="Ovale 4"/>
          <p:cNvSpPr/>
          <p:nvPr/>
        </p:nvSpPr>
        <p:spPr>
          <a:xfrm>
            <a:off x="2916238" y="3213100"/>
            <a:ext cx="1584325" cy="720725"/>
          </a:xfrm>
          <a:prstGeom prst="ellipse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9_Struttura predefinita">
  <a:themeElements>
    <a:clrScheme name="59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59_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9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9_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9_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Struttura predefinita">
  <a:themeElements>
    <a:clrScheme name="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0_Struttura predefinita">
  <a:themeElements>
    <a:clrScheme name="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1_Struttura predefinita">
  <a:themeElements>
    <a:clrScheme name="58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58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8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8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8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12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2324</TotalTime>
  <Words>881</Words>
  <Application>Microsoft Office PowerPoint</Application>
  <PresentationFormat>Presentazione su schermo (4:3)</PresentationFormat>
  <Paragraphs>166</Paragraphs>
  <Slides>40</Slides>
  <Notes>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6</vt:i4>
      </vt:variant>
      <vt:variant>
        <vt:lpstr>Server OLE incorporati</vt:lpstr>
      </vt:variant>
      <vt:variant>
        <vt:i4>2</vt:i4>
      </vt:variant>
      <vt:variant>
        <vt:lpstr>Titoli diapositive</vt:lpstr>
      </vt:variant>
      <vt:variant>
        <vt:i4>40</vt:i4>
      </vt:variant>
    </vt:vector>
  </HeadingPairs>
  <TitlesOfParts>
    <vt:vector size="53" baseType="lpstr">
      <vt:lpstr>Arial</vt:lpstr>
      <vt:lpstr>Calibri</vt:lpstr>
      <vt:lpstr>Cambria Math</vt:lpstr>
      <vt:lpstr>Tahoma</vt:lpstr>
      <vt:lpstr>Times New Roman</vt:lpstr>
      <vt:lpstr>59_Struttura predefinita</vt:lpstr>
      <vt:lpstr>2_Struttura predefinita</vt:lpstr>
      <vt:lpstr>3_Struttura predefinita</vt:lpstr>
      <vt:lpstr>10_Struttura predefinita</vt:lpstr>
      <vt:lpstr>61_Struttura predefinita</vt:lpstr>
      <vt:lpstr>12_Struttura predefinita</vt:lpstr>
      <vt:lpstr>Equation</vt:lpstr>
      <vt:lpstr>Equazione</vt:lpstr>
      <vt:lpstr>Introduzione alla probabilità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Il “problema dei compleanni”</vt:lpstr>
      <vt:lpstr>Il “problema dei compleanni”</vt:lpstr>
      <vt:lpstr>Il “problema dei compleanni”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Utente UNITN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rocco.micciolo</dc:creator>
  <cp:lastModifiedBy>docentepi</cp:lastModifiedBy>
  <cp:revision>313</cp:revision>
  <cp:lastPrinted>2018-12-13T07:16:45Z</cp:lastPrinted>
  <dcterms:created xsi:type="dcterms:W3CDTF">2010-02-03T14:41:20Z</dcterms:created>
  <dcterms:modified xsi:type="dcterms:W3CDTF">2025-02-27T13:56:33Z</dcterms:modified>
</cp:coreProperties>
</file>