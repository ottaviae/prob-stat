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710" r:id="rId3"/>
    <p:sldMasterId id="2147483938" r:id="rId4"/>
  </p:sldMasterIdLst>
  <p:notesMasterIdLst>
    <p:notesMasterId r:id="rId33"/>
  </p:notesMasterIdLst>
  <p:handoutMasterIdLst>
    <p:handoutMasterId r:id="rId34"/>
  </p:handoutMasterIdLst>
  <p:sldIdLst>
    <p:sldId id="509" r:id="rId5"/>
    <p:sldId id="448" r:id="rId6"/>
    <p:sldId id="270" r:id="rId7"/>
    <p:sldId id="271" r:id="rId8"/>
    <p:sldId id="274" r:id="rId9"/>
    <p:sldId id="273" r:id="rId10"/>
    <p:sldId id="566" r:id="rId11"/>
    <p:sldId id="567" r:id="rId12"/>
    <p:sldId id="568" r:id="rId13"/>
    <p:sldId id="517" r:id="rId14"/>
    <p:sldId id="580" r:id="rId15"/>
    <p:sldId id="581" r:id="rId16"/>
    <p:sldId id="582" r:id="rId17"/>
    <p:sldId id="569" r:id="rId18"/>
    <p:sldId id="570" r:id="rId19"/>
    <p:sldId id="583" r:id="rId20"/>
    <p:sldId id="584" r:id="rId21"/>
    <p:sldId id="585" r:id="rId22"/>
    <p:sldId id="586" r:id="rId23"/>
    <p:sldId id="588" r:id="rId24"/>
    <p:sldId id="589" r:id="rId25"/>
    <p:sldId id="590" r:id="rId26"/>
    <p:sldId id="591" r:id="rId27"/>
    <p:sldId id="592" r:id="rId28"/>
    <p:sldId id="593" r:id="rId29"/>
    <p:sldId id="594" r:id="rId30"/>
    <p:sldId id="595" r:id="rId31"/>
    <p:sldId id="596" r:id="rId32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22" autoAdjust="0"/>
    <p:restoredTop sz="94651" autoAdjust="0"/>
  </p:normalViewPr>
  <p:slideViewPr>
    <p:cSldViewPr>
      <p:cViewPr varScale="1">
        <p:scale>
          <a:sx n="82" d="100"/>
          <a:sy n="82" d="100"/>
        </p:scale>
        <p:origin x="190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30585122-6441-4912-8666-8E321B27CC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A6D915AF-C7DF-406B-8672-A8180DC5E58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D915AF-C7DF-406B-8672-A8180DC5E58C}" type="slidenum">
              <a:rPr lang="it-IT" altLang="it-IT" smtClean="0"/>
              <a:pPr>
                <a:defRPr/>
              </a:pPr>
              <a:t>25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1293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7AE1F-56EF-4A02-8B70-C2CB1603E9A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302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E1426-7AD7-4364-9B73-3127501D0DC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6613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074CF-3E9D-4624-9840-A6DF5905DC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6675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C8E00-AE0D-43D0-9196-E0AD461A10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2821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99368-A8D3-4BF5-AE54-5262C4334CD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909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EE816-DE1E-445C-AFF6-F99529185C5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7834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2A3FB-D98C-4F90-B543-99A1706D898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0097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976EE-6556-41CE-A518-32B0432C6C5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4633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AB7DD-0AF0-4A7E-8652-E68AB63870C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24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37048-9CBE-46F8-8B3E-185A73F851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9394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B94A7-35DD-42DF-BA90-F21E8124A2B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6939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9BA65-72E9-4830-B564-E9F2EDAF8F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7534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529A0-4CAD-40AB-A244-2541FACE914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82570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0CF4F-28E8-41B9-99D6-E0583409E9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1728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F31F37-C823-44DD-89F9-BC3F1293E75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584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CF6A3-3B4B-406F-8E40-F003F4429C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58690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68E17-8599-4BCA-BA9C-E0134D1B406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12722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991E0-D02B-4DB6-9E23-21276D47FDD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2165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CF324-AEFD-4F66-AA5E-0988C570E17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85022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149A4-76A5-483A-8B0E-321B9DB403F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45269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2EAB3-D481-4FC9-B8C1-1F5797D321A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45124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BCC62-10FB-4813-ADF2-C297852B989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03475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EEA82-0C10-4F06-BB79-324014B787D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10135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E2175-118F-4471-8334-1A0A3FCDE37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51705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A5958-077D-4655-A0D7-A780DB61FDE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640574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54ED6-517F-41DC-9871-D92E44DB8F9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432049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FF6F8-3095-4682-A3B4-DEF61E6E3D9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43112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35B61-3B81-48B4-8C47-ABD19CDD1B6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672624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CDB9E-5E10-4795-AE35-7B5D89CD9B2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221340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4F7E6-7358-4113-B35A-95EF4977C5B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598454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CCB56-B153-4ECB-9ACB-4F3B7D39ACB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81779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545DD-7158-472C-9EF3-45E02E8F53C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063709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FCFC6-DECC-4F08-960F-12A71FFF248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010903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0875" y="371475"/>
            <a:ext cx="2143125" cy="636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71475"/>
            <a:ext cx="6276975" cy="6369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71500" y="371475"/>
            <a:ext cx="8572500" cy="6369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CE1EAAE-211F-474C-B520-03415F4173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E1F7F0C-4821-4BB5-BC60-4D5702716D1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07B5E9CA-6E3B-45D4-A154-9036BF4C435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al1a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71475"/>
            <a:ext cx="5334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STYLE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874713"/>
            <a:ext cx="8572500" cy="5865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stylesnnnnnnnnnnnnnnnnnnnnnnn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9pPr>
    </p:titleStyle>
    <p:bodyStyle>
      <a:lvl1pPr marL="342900" indent="-339725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3200">
          <a:solidFill>
            <a:srgbClr val="80000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rgbClr val="AC4600"/>
          </a:solidFill>
          <a:latin typeface="+mn-lt"/>
        </a:defRPr>
      </a:lvl2pPr>
      <a:lvl3pPr marL="1431925" indent="-228600" algn="l" rtl="0" eaLnBrk="0" fontAlgn="base" hangingPunct="0">
        <a:spcBef>
          <a:spcPct val="20000"/>
        </a:spcBef>
        <a:spcAft>
          <a:spcPct val="0"/>
        </a:spcAft>
        <a:defRPr sz="2800">
          <a:solidFill>
            <a:srgbClr val="AC4600"/>
          </a:solidFill>
          <a:latin typeface="+mn-lt"/>
        </a:defRPr>
      </a:lvl3pPr>
      <a:lvl4pPr marL="177482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mescalitobiopicfest.com/video/adventures-of-a-mathematician/" TargetMode="Externa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647700" y="2560638"/>
            <a:ext cx="78486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3600" dirty="0">
                <a:latin typeface="Tahoma" pitchFamily="34" charset="0"/>
                <a:cs typeface="Tahoma" pitchFamily="34" charset="0"/>
              </a:rPr>
              <a:t>La </a:t>
            </a:r>
            <a:r>
              <a:rPr lang="it-IT" sz="3600">
                <a:latin typeface="Tahoma" pitchFamily="34" charset="0"/>
                <a:cs typeface="Tahoma" pitchFamily="34" charset="0"/>
              </a:rPr>
              <a:t>variabile casuale</a:t>
            </a:r>
          </a:p>
          <a:p>
            <a:pPr algn="ctr">
              <a:spcBef>
                <a:spcPct val="50000"/>
              </a:spcBef>
              <a:defRPr/>
            </a:pPr>
            <a:r>
              <a:rPr lang="it-IT" sz="3600">
                <a:latin typeface="Tahoma" pitchFamily="34" charset="0"/>
                <a:cs typeface="Tahoma" pitchFamily="34" charset="0"/>
              </a:rPr>
              <a:t>BINOMIALE</a:t>
            </a:r>
            <a:endParaRPr lang="it-IT" sz="3600" dirty="0"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558670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Ovale 2"/>
          <p:cNvSpPr>
            <a:spLocks noChangeArrowheads="1"/>
          </p:cNvSpPr>
          <p:nvPr/>
        </p:nvSpPr>
        <p:spPr bwMode="auto">
          <a:xfrm>
            <a:off x="4211960" y="1268359"/>
            <a:ext cx="1512168" cy="576262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it-IT" altLang="it-IT" sz="2400"/>
          </a:p>
        </p:txBody>
      </p:sp>
      <p:sp>
        <p:nvSpPr>
          <p:cNvPr id="53252" name="Ovale 3"/>
          <p:cNvSpPr>
            <a:spLocks noChangeArrowheads="1"/>
          </p:cNvSpPr>
          <p:nvPr/>
        </p:nvSpPr>
        <p:spPr bwMode="auto">
          <a:xfrm>
            <a:off x="539552" y="1700808"/>
            <a:ext cx="1008063" cy="576262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it-IT" altLang="it-IT" sz="240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81CBE12-558E-4D7B-9AAF-F4CDA89C0429}"/>
              </a:ext>
            </a:extLst>
          </p:cNvPr>
          <p:cNvSpPr/>
          <p:nvPr/>
        </p:nvSpPr>
        <p:spPr bwMode="auto">
          <a:xfrm>
            <a:off x="251520" y="1412776"/>
            <a:ext cx="1944216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MODELLO BINOMIALE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981200"/>
            <a:ext cx="8568952" cy="3175992"/>
          </a:xfrm>
        </p:spPr>
        <p:txBody>
          <a:bodyPr/>
          <a:lstStyle/>
          <a:p>
            <a:pPr algn="just"/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Abbiamo un </a:t>
            </a:r>
            <a:r>
              <a:rPr lang="it-IT" altLang="it-IT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numero </a:t>
            </a:r>
            <a:r>
              <a:rPr lang="it-IT" altLang="it-IT" sz="2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it-IT" altLang="it-IT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fissato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 osservazioni</a:t>
            </a:r>
          </a:p>
          <a:p>
            <a:pPr algn="just"/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osservazioni sono fra loro </a:t>
            </a:r>
            <a:r>
              <a:rPr lang="it-IT" altLang="it-IT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indipendenti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Ciascuna osservazione può assumere </a:t>
            </a:r>
            <a:r>
              <a:rPr lang="it-IT" altLang="it-IT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due 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risultati possibili (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successo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insuccesso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just"/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</a:t>
            </a:r>
            <a:r>
              <a:rPr lang="it-IT" altLang="it-IT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probabilità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altLang="it-IT" sz="2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 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 un successo è </a:t>
            </a:r>
            <a:r>
              <a:rPr lang="it-IT" altLang="it-IT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stessa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 ciascuna osservazione</a:t>
            </a:r>
            <a:r>
              <a:rPr lang="it-IT" altLang="it-IT" dirty="0"/>
              <a:t>.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15221CC-CB0D-4950-95B4-0EEDD82CBC9E}"/>
              </a:ext>
            </a:extLst>
          </p:cNvPr>
          <p:cNvSpPr/>
          <p:nvPr/>
        </p:nvSpPr>
        <p:spPr bwMode="auto">
          <a:xfrm>
            <a:off x="4608206" y="1844824"/>
            <a:ext cx="1259937" cy="79208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it-IT" altLang="it-IT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V.C. BINOMIALE</a:t>
            </a:r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571500" y="1369278"/>
            <a:ext cx="80010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un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esperimento binomiale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la distribuzione del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numero di successi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è la distribuzione binomiale con </a:t>
            </a:r>
            <a:r>
              <a:rPr lang="it-IT" altLang="it-IT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parametri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p,  x=0,1,2,3,…,n</a:t>
            </a:r>
            <a:endParaRPr lang="it-IT" altLang="it-IT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7348" name="Object 5"/>
          <p:cNvGraphicFramePr>
            <a:graphicFrameLocks noChangeAspect="1"/>
          </p:cNvGraphicFramePr>
          <p:nvPr/>
        </p:nvGraphicFramePr>
        <p:xfrm>
          <a:off x="2195513" y="3141663"/>
          <a:ext cx="4759325" cy="128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96" name="Equazione" r:id="rId3" imgW="1689100" imgH="457200" progId="">
                  <p:embed/>
                </p:oleObj>
              </mc:Choice>
              <mc:Fallback>
                <p:oleObj name="Equazione" r:id="rId3" imgW="1689100" imgH="457200" progId="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141663"/>
                        <a:ext cx="4759325" cy="1287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219562"/>
              </p:ext>
            </p:extLst>
          </p:nvPr>
        </p:nvGraphicFramePr>
        <p:xfrm>
          <a:off x="1531938" y="4797425"/>
          <a:ext cx="6080125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97" name="Equazione" r:id="rId5" imgW="2159000" imgH="419100" progId="">
                  <p:embed/>
                </p:oleObj>
              </mc:Choice>
              <mc:Fallback>
                <p:oleObj name="Equazione" r:id="rId5" imgW="2159000" imgH="419100" progId="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4797425"/>
                        <a:ext cx="6080125" cy="1179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447800"/>
          </a:xfrm>
        </p:spPr>
        <p:txBody>
          <a:bodyPr/>
          <a:lstStyle/>
          <a:p>
            <a:r>
              <a:rPr lang="it-IT" altLang="it-IT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MEDIA E VARIANZA</a:t>
            </a:r>
          </a:p>
        </p:txBody>
      </p:sp>
      <p:graphicFrame>
        <p:nvGraphicFramePr>
          <p:cNvPr id="614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762128"/>
              </p:ext>
            </p:extLst>
          </p:nvPr>
        </p:nvGraphicFramePr>
        <p:xfrm>
          <a:off x="3419872" y="2464945"/>
          <a:ext cx="17176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3" name="Equazione" r:id="rId3" imgW="609336" imgH="165028" progId="">
                  <p:embed/>
                </p:oleObj>
              </mc:Choice>
              <mc:Fallback>
                <p:oleObj name="Equazione" r:id="rId3" imgW="609336" imgH="165028" progId="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464945"/>
                        <a:ext cx="171767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67873"/>
              </p:ext>
            </p:extLst>
          </p:nvPr>
        </p:nvGraphicFramePr>
        <p:xfrm>
          <a:off x="2771800" y="3332865"/>
          <a:ext cx="336391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4" name="Equazione" r:id="rId5" imgW="1193800" imgH="228600" progId="">
                  <p:embed/>
                </p:oleObj>
              </mc:Choice>
              <mc:Fallback>
                <p:oleObj name="Equazione" r:id="rId5" imgW="1193800" imgH="228600" progId="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332865"/>
                        <a:ext cx="3363913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041EB3B-6C79-4AF3-8626-51C8D19D05AF}"/>
                  </a:ext>
                </a:extLst>
              </p:cNvPr>
              <p:cNvSpPr txBox="1"/>
              <p:nvPr/>
            </p:nvSpPr>
            <p:spPr>
              <a:xfrm>
                <a:off x="4596137" y="4431269"/>
                <a:ext cx="159261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041EB3B-6C79-4AF3-8626-51C8D19D0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137" y="4431269"/>
                <a:ext cx="159261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DDA941E-73B4-4C5E-8060-412AEEA295E1}"/>
                  </a:ext>
                </a:extLst>
              </p:cNvPr>
              <p:cNvSpPr txBox="1"/>
              <p:nvPr/>
            </p:nvSpPr>
            <p:spPr>
              <a:xfrm>
                <a:off x="2834963" y="5157192"/>
                <a:ext cx="178997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it-IT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𝑛𝑝𝑞</m:t>
                      </m:r>
                    </m:oMath>
                  </m:oMathPara>
                </a14:m>
                <a:endParaRPr lang="it-IT" sz="32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DDA941E-73B4-4C5E-8060-412AEEA29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963" y="5157192"/>
                <a:ext cx="178997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93124" y="188640"/>
            <a:ext cx="7772400" cy="1143000"/>
          </a:xfrm>
        </p:spPr>
        <p:txBody>
          <a:bodyPr/>
          <a:lstStyle/>
          <a:p>
            <a:r>
              <a:rPr lang="it-IT" altLang="it-IT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V.C. BINOMIALE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331640"/>
            <a:ext cx="7772400" cy="2673424"/>
          </a:xfrm>
        </p:spPr>
        <p:txBody>
          <a:bodyPr/>
          <a:lstStyle/>
          <a:p>
            <a:pPr algn="just"/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distribuzione binomiale è simmetrica solo quando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 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=0.5</a:t>
            </a:r>
          </a:p>
          <a:p>
            <a:pPr algn="just"/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Quanto più il parametro </a:t>
            </a:r>
            <a:r>
              <a:rPr lang="it-IT" altLang="it-IT" sz="2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 allontana da 0.5 (in più o in meno) tanto più la distribuzione binomiale diventa asimmetrica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484A8B0-4397-4E40-B400-38BA7A94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181" y="404664"/>
            <a:ext cx="4919059" cy="537332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91AE1DB-4C91-4E68-A20C-F69AEE1B6DAA}"/>
              </a:ext>
            </a:extLst>
          </p:cNvPr>
          <p:cNvSpPr txBox="1"/>
          <p:nvPr/>
        </p:nvSpPr>
        <p:spPr>
          <a:xfrm>
            <a:off x="1797562" y="5991671"/>
            <a:ext cx="1406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93</a:t>
            </a:r>
          </a:p>
        </p:txBody>
      </p:sp>
    </p:spTree>
    <p:extLst>
      <p:ext uri="{BB962C8B-B14F-4D97-AF65-F5344CB8AC3E}">
        <p14:creationId xmlns:p14="http://schemas.microsoft.com/office/powerpoint/2010/main" val="21751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960478A-60F3-41B5-AAFF-529CA56A9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687172"/>
            <a:ext cx="5112568" cy="52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4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91D7BB3-D727-40AB-9724-D79CDED6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573432"/>
            <a:ext cx="5184576" cy="571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10" y="908720"/>
            <a:ext cx="81915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E25BA3B-D2C5-4F18-81C5-533F7AAD50F5}"/>
              </a:ext>
            </a:extLst>
          </p:cNvPr>
          <p:cNvSpPr/>
          <p:nvPr/>
        </p:nvSpPr>
        <p:spPr bwMode="auto">
          <a:xfrm>
            <a:off x="535090" y="1052736"/>
            <a:ext cx="1296144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343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217"/>
            <a:ext cx="81915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B0315332-702F-4C8A-A0D8-30953BDB35C9}"/>
              </a:ext>
            </a:extLst>
          </p:cNvPr>
          <p:cNvSpPr/>
          <p:nvPr/>
        </p:nvSpPr>
        <p:spPr>
          <a:xfrm>
            <a:off x="1259632" y="4869160"/>
            <a:ext cx="48965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dbinom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(0,10,0.2)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0.1073742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D39E02-A23B-4154-99B1-0878C8526711}"/>
              </a:ext>
            </a:extLst>
          </p:cNvPr>
          <p:cNvSpPr txBox="1"/>
          <p:nvPr/>
        </p:nvSpPr>
        <p:spPr>
          <a:xfrm>
            <a:off x="971600" y="2289909"/>
            <a:ext cx="2082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 p=0.2,  n=10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6183BF4-8D01-4F08-B02A-76205998B31B}"/>
              </a:ext>
            </a:extLst>
          </p:cNvPr>
          <p:cNvSpPr txBox="1"/>
          <p:nvPr/>
        </p:nvSpPr>
        <p:spPr>
          <a:xfrm>
            <a:off x="1187624" y="3348701"/>
            <a:ext cx="3365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i) P(X=0)=0.8</a:t>
            </a:r>
            <a:r>
              <a:rPr lang="it-IT" baseline="30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=0.1074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E25BA3B-D2C5-4F18-81C5-533F7AAD50F5}"/>
              </a:ext>
            </a:extLst>
          </p:cNvPr>
          <p:cNvSpPr/>
          <p:nvPr/>
        </p:nvSpPr>
        <p:spPr bwMode="auto">
          <a:xfrm>
            <a:off x="539552" y="116632"/>
            <a:ext cx="1296144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88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217"/>
            <a:ext cx="81915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B0315332-702F-4C8A-A0D8-30953BDB35C9}"/>
              </a:ext>
            </a:extLst>
          </p:cNvPr>
          <p:cNvSpPr/>
          <p:nvPr/>
        </p:nvSpPr>
        <p:spPr>
          <a:xfrm>
            <a:off x="450894" y="4381883"/>
            <a:ext cx="35450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dbinom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(0,10,0.2)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0.1073742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438572E-8E4D-436F-B0DB-6DD6A02BDFD6}"/>
              </a:ext>
            </a:extLst>
          </p:cNvPr>
          <p:cNvSpPr/>
          <p:nvPr/>
        </p:nvSpPr>
        <p:spPr>
          <a:xfrm>
            <a:off x="4716015" y="4350386"/>
            <a:ext cx="36724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dbinom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(1,10,0.2)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0.2684355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16A5B95-5B62-4B84-9123-E5CE2C713991}"/>
              </a:ext>
            </a:extLst>
          </p:cNvPr>
          <p:cNvSpPr/>
          <p:nvPr/>
        </p:nvSpPr>
        <p:spPr>
          <a:xfrm>
            <a:off x="554359" y="5661248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1-0.1074-0.2684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0.6242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D39E02-A23B-4154-99B1-0878C8526711}"/>
              </a:ext>
            </a:extLst>
          </p:cNvPr>
          <p:cNvSpPr txBox="1"/>
          <p:nvPr/>
        </p:nvSpPr>
        <p:spPr>
          <a:xfrm>
            <a:off x="971600" y="2289909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p=0.2, n=10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A8929A4-0041-4000-B31C-579831FDB166}"/>
              </a:ext>
            </a:extLst>
          </p:cNvPr>
          <p:cNvSpPr/>
          <p:nvPr/>
        </p:nvSpPr>
        <p:spPr>
          <a:xfrm>
            <a:off x="370916" y="3322511"/>
            <a:ext cx="869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ii) P(X=2 o più di 2)= 1-p(0)-p(1) = 1- 0.8</a:t>
            </a:r>
            <a:r>
              <a:rPr lang="it-IT" baseline="30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-10(0.2)(0.8</a:t>
            </a:r>
            <a:r>
              <a:rPr lang="it-IT" baseline="30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)=0.624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E25BA3B-D2C5-4F18-81C5-533F7AAD50F5}"/>
              </a:ext>
            </a:extLst>
          </p:cNvPr>
          <p:cNvSpPr/>
          <p:nvPr/>
        </p:nvSpPr>
        <p:spPr bwMode="auto">
          <a:xfrm>
            <a:off x="539552" y="116632"/>
            <a:ext cx="1296144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74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217"/>
            <a:ext cx="81915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D39E02-A23B-4154-99B1-0878C8526711}"/>
              </a:ext>
            </a:extLst>
          </p:cNvPr>
          <p:cNvSpPr txBox="1"/>
          <p:nvPr/>
        </p:nvSpPr>
        <p:spPr>
          <a:xfrm>
            <a:off x="971600" y="2418605"/>
            <a:ext cx="1685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p=0.2, n=10</a:t>
            </a: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11B14E12-EAE2-4159-92D3-AF7A93660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389518"/>
              </p:ext>
            </p:extLst>
          </p:nvPr>
        </p:nvGraphicFramePr>
        <p:xfrm>
          <a:off x="1443106" y="3877807"/>
          <a:ext cx="1386847" cy="371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4" name="Equazione" r:id="rId4" imgW="609336" imgH="165028" progId="">
                  <p:embed/>
                </p:oleObj>
              </mc:Choice>
              <mc:Fallback>
                <p:oleObj name="Equazione" r:id="rId4" imgW="609336" imgH="165028" progId="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11B14E12-EAE2-4159-92D3-AF7A936603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106" y="3877807"/>
                        <a:ext cx="1386847" cy="3717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E0256CB-EC91-45DB-8201-6BEC0F523269}"/>
              </a:ext>
            </a:extLst>
          </p:cNvPr>
          <p:cNvSpPr txBox="1"/>
          <p:nvPr/>
        </p:nvSpPr>
        <p:spPr>
          <a:xfrm>
            <a:off x="971600" y="3742240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iii)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510BC68-29A1-428A-9EF7-E60A37CBC1B9}"/>
              </a:ext>
            </a:extLst>
          </p:cNvPr>
          <p:cNvSpPr txBox="1"/>
          <p:nvPr/>
        </p:nvSpPr>
        <p:spPr>
          <a:xfrm>
            <a:off x="2819252" y="3787848"/>
            <a:ext cx="1582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=10(0.2)=2</a:t>
            </a: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05101A03-BBCC-426E-9C5C-3C68F523AC7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43499" y="4249124"/>
          <a:ext cx="2552438" cy="48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5" name="Equazione" r:id="rId6" imgW="1193800" imgH="228600" progId="">
                  <p:embed/>
                </p:oleObj>
              </mc:Choice>
              <mc:Fallback>
                <p:oleObj name="Equazione" r:id="rId6" imgW="1193800" imgH="228600" progId="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05101A03-BBCC-426E-9C5C-3C68F523AC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499" y="4249124"/>
                        <a:ext cx="2552438" cy="48784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A3B6519-3EB9-4AFD-BAF1-FC98D156FC83}"/>
              </a:ext>
            </a:extLst>
          </p:cNvPr>
          <p:cNvSpPr txBox="1"/>
          <p:nvPr/>
        </p:nvSpPr>
        <p:spPr>
          <a:xfrm>
            <a:off x="3995937" y="4249124"/>
            <a:ext cx="2403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=10(0.2)(0.8)=1.6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E25BA3B-D2C5-4F18-81C5-533F7AAD50F5}"/>
              </a:ext>
            </a:extLst>
          </p:cNvPr>
          <p:cNvSpPr/>
          <p:nvPr/>
        </p:nvSpPr>
        <p:spPr bwMode="auto">
          <a:xfrm>
            <a:off x="539552" y="116632"/>
            <a:ext cx="1296144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023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CBDBF5CB-1FC3-46D1-8A41-6ED610D2CED9}"/>
              </a:ext>
            </a:extLst>
          </p:cNvPr>
          <p:cNvSpPr/>
          <p:nvPr/>
        </p:nvSpPr>
        <p:spPr>
          <a:xfrm>
            <a:off x="1187624" y="335845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rmf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Binomiale(10,0.2)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Distribuzione Binomiale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Numero delle prove      : 10 </a:t>
            </a:r>
          </a:p>
          <a:p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 successo: 0.2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Valore atteso (media)   : 2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Varianza                : 1.6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Somma delle 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1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x         f(x)      F(x)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[1,]  0 0.1073741824 0.1073742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[2,]  1 0.2684354560 0.3758096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[3,]  2 0.3019898880 0.6777995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[4,]  3 0.2013265920 0.8791261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[5,]  4 0.0880803840 0.9672065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[6,]  5 0.0264241152 0.9936306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[7,]  6 0.0055050240 0.9991356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[8,]  7 0.0007864320 0.9999221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[9,]  8 0.0000737280 0.9999958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[10,]  9 0.0000040960 0.9999999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[11,] 10 0.0000001024 1.0000000</a:t>
            </a:r>
          </a:p>
        </p:txBody>
      </p:sp>
    </p:spTree>
    <p:extLst>
      <p:ext uri="{BB962C8B-B14F-4D97-AF65-F5344CB8AC3E}">
        <p14:creationId xmlns:p14="http://schemas.microsoft.com/office/powerpoint/2010/main" val="2875391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D2080C3-A80A-43E7-B477-FF63DF2F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36" y="190836"/>
            <a:ext cx="6484928" cy="647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49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7C5F8AF-81CE-4049-A5AA-319074373869}"/>
              </a:ext>
            </a:extLst>
          </p:cNvPr>
          <p:cNvSpPr/>
          <p:nvPr/>
        </p:nvSpPr>
        <p:spPr>
          <a:xfrm>
            <a:off x="395536" y="1124744"/>
            <a:ext cx="8496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E(X)=0*0.1073741824+1*0.2684354560+2*0.3019898880+3*0.2013265920+4*0.0880803840+5*0.0264241152+6*0.0055050240+7*0.0007864320+8*0.0000737280+9*0.0000040960+10*0.0000001024 = 2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A4F522D-365C-4136-8FCE-1CC53B53957D}"/>
              </a:ext>
            </a:extLst>
          </p:cNvPr>
          <p:cNvSpPr/>
          <p:nvPr/>
        </p:nvSpPr>
        <p:spPr>
          <a:xfrm>
            <a:off x="395536" y="3140968"/>
            <a:ext cx="8496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&gt;0*0.1073741824+1*0.2684354560+2*0.3019898880+3*0.2013265920+4*0.0880803840+5*0.0264241152+6*0.0055050240+7*0.0007864320+8*0.0000737280+9*0.0000040960+10*0.0000001024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2</a:t>
            </a:r>
          </a:p>
        </p:txBody>
      </p:sp>
    </p:spTree>
    <p:extLst>
      <p:ext uri="{BB962C8B-B14F-4D97-AF65-F5344CB8AC3E}">
        <p14:creationId xmlns:p14="http://schemas.microsoft.com/office/powerpoint/2010/main" val="3372909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74A8A48A-8CAB-42AF-92EB-9D1C113D2795}"/>
              </a:ext>
            </a:extLst>
          </p:cNvPr>
          <p:cNvSpPr/>
          <p:nvPr/>
        </p:nvSpPr>
        <p:spPr>
          <a:xfrm>
            <a:off x="395536" y="692696"/>
            <a:ext cx="8496944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600"/>
              </a:spcBef>
              <a:spcAft>
                <a:spcPts val="0"/>
              </a:spcAft>
            </a:pPr>
            <a:r>
              <a:rPr lang="it-IT" sz="2800" b="1" dirty="0">
                <a:ea typeface="Times New Roman" panose="02020603050405020304" pitchFamily="18" charset="0"/>
              </a:rPr>
              <a:t>Probabilità e Statistica – 11 giugno 2019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1200" b="1" dirty="0">
                <a:ea typeface="Times New Roman" panose="02020603050405020304" pitchFamily="18" charset="0"/>
              </a:rPr>
              <a:t> 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800" b="1" dirty="0">
                <a:ea typeface="Times New Roman" panose="02020603050405020304" pitchFamily="18" charset="0"/>
              </a:rPr>
              <a:t> 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1200" dirty="0">
                <a:ea typeface="Times New Roman" panose="02020603050405020304" pitchFamily="18" charset="0"/>
              </a:rPr>
              <a:t> 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it-IT" dirty="0">
                <a:ea typeface="Times New Roman" panose="02020603050405020304" pitchFamily="18" charset="0"/>
              </a:rPr>
              <a:t>Una moneta bilanciata viene lanciata 3 volte. Si indichi con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 il numero di croci.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Scrivere la distribuzione di probabilità della variabile casuale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 indicando tutti i possibili valori di </a:t>
            </a:r>
            <a:r>
              <a:rPr lang="it-IT" i="1" dirty="0">
                <a:ea typeface="Times New Roman" panose="02020603050405020304" pitchFamily="18" charset="0"/>
              </a:rPr>
              <a:t>X </a:t>
            </a:r>
            <a:r>
              <a:rPr lang="it-IT" dirty="0">
                <a:ea typeface="Times New Roman" panose="02020603050405020304" pitchFamily="18" charset="0"/>
              </a:rPr>
              <a:t>e le probabilità corrispondenti.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Verificare che la somma delle probabilità è uguale a 1.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Utilizzando le proprietà della distribuzione binomiale, indicare il valore atteso e la varianza di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.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Calcolare il valore atteso di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 utilizzando la distribuzione di probabilità trovata al punto a).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60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43D9485-064B-440D-B262-8D133D570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40" y="260649"/>
            <a:ext cx="8648149" cy="6408712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6C25248-01AD-4E51-A209-F4E7A60A380B}"/>
              </a:ext>
            </a:extLst>
          </p:cNvPr>
          <p:cNvSpPr/>
          <p:nvPr/>
        </p:nvSpPr>
        <p:spPr bwMode="auto">
          <a:xfrm>
            <a:off x="3923928" y="3284984"/>
            <a:ext cx="36004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2A0FD04-4581-4D04-A3C4-564EBCC9C978}"/>
              </a:ext>
            </a:extLst>
          </p:cNvPr>
          <p:cNvSpPr/>
          <p:nvPr/>
        </p:nvSpPr>
        <p:spPr bwMode="auto">
          <a:xfrm>
            <a:off x="2771800" y="4293096"/>
            <a:ext cx="36004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3E9F6D9-200D-47D8-854D-F5E270D7F623}"/>
              </a:ext>
            </a:extLst>
          </p:cNvPr>
          <p:cNvSpPr/>
          <p:nvPr/>
        </p:nvSpPr>
        <p:spPr bwMode="auto">
          <a:xfrm>
            <a:off x="3635896" y="5157192"/>
            <a:ext cx="36004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DA050A5-14DB-4E7D-9FD7-D09EC588CBA0}"/>
              </a:ext>
            </a:extLst>
          </p:cNvPr>
          <p:cNvSpPr/>
          <p:nvPr/>
        </p:nvSpPr>
        <p:spPr bwMode="auto">
          <a:xfrm>
            <a:off x="8316416" y="6309319"/>
            <a:ext cx="36004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798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DB9AEE6-1842-4D33-91B6-47147A46B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8010525" cy="190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6C25106-0BE7-423B-B2E4-B1565BDB13BF}"/>
                  </a:ext>
                </a:extLst>
              </p:cNvPr>
              <p:cNvSpPr txBox="1"/>
              <p:nvPr/>
            </p:nvSpPr>
            <p:spPr>
              <a:xfrm>
                <a:off x="755576" y="3933056"/>
                <a:ext cx="4976299" cy="1063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=0∗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+1∗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6C25106-0BE7-423B-B2E4-B1565BDB1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933056"/>
                <a:ext cx="4976299" cy="1063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tangolo 3">
            <a:extLst>
              <a:ext uri="{FF2B5EF4-FFF2-40B4-BE49-F238E27FC236}">
                <a16:creationId xmlns:a16="http://schemas.microsoft.com/office/drawing/2014/main" id="{7B47F5BD-749C-4CCB-B26B-A23652C1B0E0}"/>
              </a:ext>
            </a:extLst>
          </p:cNvPr>
          <p:cNvSpPr/>
          <p:nvPr/>
        </p:nvSpPr>
        <p:spPr>
          <a:xfrm>
            <a:off x="899592" y="5157192"/>
            <a:ext cx="60486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0*1/2+1*1/6+2*1/4+4*1/12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1</a:t>
            </a:r>
          </a:p>
        </p:txBody>
      </p:sp>
    </p:spTree>
    <p:extLst>
      <p:ext uri="{BB962C8B-B14F-4D97-AF65-F5344CB8AC3E}">
        <p14:creationId xmlns:p14="http://schemas.microsoft.com/office/powerpoint/2010/main" val="165385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DB9AEE6-1842-4D33-91B6-47147A46B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848"/>
            <a:ext cx="8010525" cy="190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6C25106-0BE7-423B-B2E4-B1565BDB13BF}"/>
                  </a:ext>
                </a:extLst>
              </p:cNvPr>
              <p:cNvSpPr txBox="1"/>
              <p:nvPr/>
            </p:nvSpPr>
            <p:spPr>
              <a:xfrm>
                <a:off x="538472" y="2221808"/>
                <a:ext cx="6613542" cy="1063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=0^2∗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+1^2∗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+2^2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4^2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6C25106-0BE7-423B-B2E4-B1565BDB1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72" y="2221808"/>
                <a:ext cx="6613542" cy="1063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tangolo 4">
            <a:extLst>
              <a:ext uri="{FF2B5EF4-FFF2-40B4-BE49-F238E27FC236}">
                <a16:creationId xmlns:a16="http://schemas.microsoft.com/office/drawing/2014/main" id="{89EACF0E-9F70-40F9-B10E-3CE540715B5F}"/>
              </a:ext>
            </a:extLst>
          </p:cNvPr>
          <p:cNvSpPr/>
          <p:nvPr/>
        </p:nvSpPr>
        <p:spPr>
          <a:xfrm>
            <a:off x="538472" y="3237125"/>
            <a:ext cx="71287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&gt; 0^2*1/2+1^2*1/6+2^2*1/4+4^2*1/12</a:t>
            </a:r>
          </a:p>
          <a:p>
            <a:r>
              <a:rPr lang="it-IT" dirty="0"/>
              <a:t>[1] 2.5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7DE21DA-D2C8-4C4B-907F-C672008CB22E}"/>
                  </a:ext>
                </a:extLst>
              </p:cNvPr>
              <p:cNvSpPr txBox="1"/>
              <p:nvPr/>
            </p:nvSpPr>
            <p:spPr>
              <a:xfrm>
                <a:off x="611560" y="4612487"/>
                <a:ext cx="712879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^2</m:t>
                    </m:r>
                  </m:oMath>
                </a14:m>
                <a:r>
                  <a:rPr lang="it-IT" dirty="0"/>
                  <a:t> =2.5-1=1.5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7DE21DA-D2C8-4C4B-907F-C672008C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612487"/>
                <a:ext cx="7128792" cy="369332"/>
              </a:xfrm>
              <a:prstGeom prst="rect">
                <a:avLst/>
              </a:prstGeom>
              <a:blipFill>
                <a:blip r:embed="rId4"/>
                <a:stretch>
                  <a:fillRect l="-1453" t="-26667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32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DB9AEE6-1842-4D33-91B6-47147A46B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848"/>
            <a:ext cx="8010525" cy="190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7DE21DA-D2C8-4C4B-907F-C672008CB22E}"/>
                  </a:ext>
                </a:extLst>
              </p:cNvPr>
              <p:cNvSpPr txBox="1"/>
              <p:nvPr/>
            </p:nvSpPr>
            <p:spPr>
              <a:xfrm>
                <a:off x="574171" y="2852936"/>
                <a:ext cx="712879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^2</m:t>
                    </m:r>
                  </m:oMath>
                </a14:m>
                <a:r>
                  <a:rPr lang="it-IT" dirty="0"/>
                  <a:t> =2.5-1=1.5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7DE21DA-D2C8-4C4B-907F-C672008C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1" y="2852936"/>
                <a:ext cx="7128792" cy="369332"/>
              </a:xfrm>
              <a:prstGeom prst="rect">
                <a:avLst/>
              </a:prstGeom>
              <a:blipFill>
                <a:blip r:embed="rId3"/>
                <a:stretch>
                  <a:fillRect l="-1453" t="-24590" b="-491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A095889-CF2A-4ABD-8450-95D697C65668}"/>
                  </a:ext>
                </a:extLst>
              </p:cNvPr>
              <p:cNvSpPr txBox="1"/>
              <p:nvPr/>
            </p:nvSpPr>
            <p:spPr>
              <a:xfrm>
                <a:off x="574171" y="3635733"/>
                <a:ext cx="7796173" cy="111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0−1</m:t>
                            </m:r>
                          </m:e>
                        </m:d>
                      </m:e>
                      <m:sup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1−1</m:t>
                            </m:r>
                          </m:e>
                        </m:d>
                      </m:e>
                      <m:sup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+(2−1)^2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it-IT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(4−1)^2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it-IT" sz="2000" dirty="0"/>
                  <a:t>=</a:t>
                </a:r>
              </a:p>
              <a:p>
                <a:r>
                  <a:rPr lang="it-IT" sz="2000" dirty="0"/>
                  <a:t>                 = 1.5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A095889-CF2A-4ABD-8450-95D697C6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1" y="3635733"/>
                <a:ext cx="7796173" cy="1113638"/>
              </a:xfrm>
              <a:prstGeom prst="rect">
                <a:avLst/>
              </a:prstGeom>
              <a:blipFill>
                <a:blip r:embed="rId4"/>
                <a:stretch>
                  <a:fillRect l="-1095" t="-1639" r="-10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tangolo 3">
            <a:extLst>
              <a:ext uri="{FF2B5EF4-FFF2-40B4-BE49-F238E27FC236}">
                <a16:creationId xmlns:a16="http://schemas.microsoft.com/office/drawing/2014/main" id="{61DA0BB1-7F4B-4D57-AF38-BF12C4B4DCBC}"/>
              </a:ext>
            </a:extLst>
          </p:cNvPr>
          <p:cNvSpPr/>
          <p:nvPr/>
        </p:nvSpPr>
        <p:spPr>
          <a:xfrm>
            <a:off x="395536" y="5123927"/>
            <a:ext cx="792088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https://www.mescalitobiopicfest.com/video/adventures-of-a-mathematician/</a:t>
            </a:r>
            <a:endParaRPr lang="it-IT" dirty="0"/>
          </a:p>
          <a:p>
            <a:r>
              <a:rPr lang="it-IT" sz="1800" dirty="0"/>
              <a:t>(primi 5 secondi) </a:t>
            </a:r>
          </a:p>
        </p:txBody>
      </p:sp>
    </p:spTree>
    <p:extLst>
      <p:ext uri="{BB962C8B-B14F-4D97-AF65-F5344CB8AC3E}">
        <p14:creationId xmlns:p14="http://schemas.microsoft.com/office/powerpoint/2010/main" val="86805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437B5E4-DECF-4426-9CA9-153D278B3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196752"/>
            <a:ext cx="5905500" cy="6096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D1A1E78-B3E8-4415-BEBF-8C4563FBA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3777"/>
            <a:ext cx="9144000" cy="131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77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DC3C7370-9F5A-48E0-B0B8-DAF581C69736}"/>
              </a:ext>
            </a:extLst>
          </p:cNvPr>
          <p:cNvSpPr/>
          <p:nvPr/>
        </p:nvSpPr>
        <p:spPr>
          <a:xfrm>
            <a:off x="611560" y="243513"/>
            <a:ext cx="79928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Binomiale(4,1/3)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------------------------------------------Distribuzione Binomiale 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------------------------------------------Numero delle prove      : 4 </a:t>
            </a:r>
          </a:p>
          <a:p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di successo: 0.3333333 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Valore atteso (media)   : 1.333333 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Varianza                : 0.8888889 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Somma delle 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: 1 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x       f(x)      F(x)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[1,] 0 0.19753086 0.1975309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[2,] 1 0.39506173 0.5925926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[3,] 2 0.29629630 0.8888889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[4,] 3 0.09876543 0.9876543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[5,] 4 0.01234568 1.0000000</a:t>
            </a:r>
          </a:p>
        </p:txBody>
      </p:sp>
    </p:spTree>
    <p:extLst>
      <p:ext uri="{BB962C8B-B14F-4D97-AF65-F5344CB8AC3E}">
        <p14:creationId xmlns:p14="http://schemas.microsoft.com/office/powerpoint/2010/main" val="2889986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F8DA2E1-21F4-406B-8335-139AA3E90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881" y="0"/>
            <a:ext cx="6894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78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CFBA969-6A38-48D3-BDA6-DFBC80A4D5A6}"/>
              </a:ext>
            </a:extLst>
          </p:cNvPr>
          <p:cNvSpPr/>
          <p:nvPr/>
        </p:nvSpPr>
        <p:spPr>
          <a:xfrm>
            <a:off x="755576" y="260648"/>
            <a:ext cx="68945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Binomiale(10,1/3)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-------------------------------------------------Distribuzione Binomiale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Numero delle prove      : 10 </a:t>
            </a:r>
          </a:p>
          <a:p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 successo: 0.3333333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Valore atteso (media)   : 3.333333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Varianza                : 2.222222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Somma delle 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1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x         f(x)       F(x)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[1,]  0 1.734153e-02 0.01734153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[2,]  1 8.670765e-02 0.10404918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[3,]  2 1.950922e-01 0.29914139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[4,]  3 2.601229e-01 0.55926434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[5,]  4 2.276076e-01 0.78687192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[6,]  5 1.365645e-01 0.92343647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[7,]  6 5.690190e-02 0.98033836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[8,]  7 1.625768e-02 0.99659605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[9,]  8 3.048316e-03 0.99964436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[10,]  9 3.387018e-04 0.99998306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[11,] 10 1.693509e-05 1.00000000</a:t>
            </a:r>
          </a:p>
        </p:txBody>
      </p:sp>
    </p:spTree>
    <p:extLst>
      <p:ext uri="{BB962C8B-B14F-4D97-AF65-F5344CB8AC3E}">
        <p14:creationId xmlns:p14="http://schemas.microsoft.com/office/powerpoint/2010/main" val="2081542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155577D-37FF-4B1A-9E42-3554D311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919" y="0"/>
            <a:ext cx="7154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E69A4C5-3C20-4822-9299-B907E689548F}"/>
              </a:ext>
            </a:extLst>
          </p:cNvPr>
          <p:cNvSpPr/>
          <p:nvPr/>
        </p:nvSpPr>
        <p:spPr>
          <a:xfrm>
            <a:off x="412777" y="764704"/>
            <a:ext cx="813690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Binomiale(10,1/4)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------------------------------------------------------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Distribuzione Binomiale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Numero delle prove      : 10 </a:t>
            </a:r>
          </a:p>
          <a:p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 successo: 0.25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Valore atteso (media)   : 2.5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Varianza                : 1.875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Somma delle 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1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x         f(x)       F(x)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[1,]  0 5.631351e-02 0.05631351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[2,]  1 1.877117e-01 0.24402523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[3,]  2 2.815676e-01 0.52559280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[4,]  3 2.502823e-01 0.77587509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[5,]  4 1.459980e-01 0.92187309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[6,]  5 5.839920e-02 0.98027229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[7,]  6 1.622200e-02 0.99649429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[8,]  7 3.089905e-03 0.99958420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[9,]  8 3.862381e-04 0.99997044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[10,]  9 2.861023e-05 0.99999905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[11,] 10 9.536743e-07 1.00000000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B1C442-E9B0-437B-A36B-250F65FF0B77}"/>
              </a:ext>
            </a:extLst>
          </p:cNvPr>
          <p:cNvSpPr txBox="1"/>
          <p:nvPr/>
        </p:nvSpPr>
        <p:spPr>
          <a:xfrm>
            <a:off x="412777" y="188640"/>
            <a:ext cx="2816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rgbClr val="FF0000"/>
                </a:solidFill>
              </a:rPr>
              <a:t>Se le domande fossero 10</a:t>
            </a:r>
          </a:p>
        </p:txBody>
      </p:sp>
    </p:spTree>
    <p:extLst>
      <p:ext uri="{BB962C8B-B14F-4D97-AF65-F5344CB8AC3E}">
        <p14:creationId xmlns:p14="http://schemas.microsoft.com/office/powerpoint/2010/main" val="2022847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4215C3C-3294-47F6-9E7D-7FA493013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894" y="0"/>
            <a:ext cx="7230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46573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ruttura predefinita">
  <a:themeElements>
    <a:clrScheme name="1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calc">
  <a:themeElements>
    <a:clrScheme name="cal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l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2608</TotalTime>
  <Words>903</Words>
  <Application>Microsoft Office PowerPoint</Application>
  <PresentationFormat>Presentazione su schermo (4:3)</PresentationFormat>
  <Paragraphs>134</Paragraphs>
  <Slides>28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4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9" baseType="lpstr">
      <vt:lpstr>Arial</vt:lpstr>
      <vt:lpstr>Cambria Math</vt:lpstr>
      <vt:lpstr>Courier New</vt:lpstr>
      <vt:lpstr>Tahoma</vt:lpstr>
      <vt:lpstr>Times New Roman</vt:lpstr>
      <vt:lpstr>Wingdings</vt:lpstr>
      <vt:lpstr>Struttura predefinita</vt:lpstr>
      <vt:lpstr>1_Struttura predefinita</vt:lpstr>
      <vt:lpstr>5_Struttura predefinita</vt:lpstr>
      <vt:lpstr>calc</vt:lpstr>
      <vt:lpstr>Equazione</vt:lpstr>
      <vt:lpstr>Presentazione standard di PowerPoint</vt:lpstr>
      <vt:lpstr>Presentazione standard di PowerPoint</vt:lpstr>
      <vt:lpstr>MODELLO BINOMIALE</vt:lpstr>
      <vt:lpstr>LA V.C. BINOMIALE</vt:lpstr>
      <vt:lpstr>MEDIA E VARIANZA</vt:lpstr>
      <vt:lpstr>LA V.C. BINOMIALE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VARIABILI CASUALI</dc:title>
  <dc:creator>Rocco Micciolo</dc:creator>
  <cp:lastModifiedBy>Canal Luisa</cp:lastModifiedBy>
  <cp:revision>453</cp:revision>
  <dcterms:created xsi:type="dcterms:W3CDTF">2006-10-21T07:26:54Z</dcterms:created>
  <dcterms:modified xsi:type="dcterms:W3CDTF">2026-03-05T09:53:41Z</dcterms:modified>
</cp:coreProperties>
</file>